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8288000" cy="10287000"/>
  <p:notesSz cx="10287000" cy="18288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The deck you're about to see is a framework v0.1 — a greenfield evaluation of fourteen languages against the demands of AI-assisted and AI-agentic software development. Snapshot date is April 30, 2026. Every score traces to a primary source. I'll walk you through the question, the framework, the matrix, five findings, the verdicts, and the recommendations. About fifteen minutes, then I'll leave time for pushback.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the question I want you to hold for the next fifteen minutes. If you started a new project today — green field, no legacy estate to defend — which language would you pick? And how would you defend that choice, knowing that AI agents are doing more and more of the writing? The reason this matters now: the moment a team commits to greenfield, installed base stops being load-bearing. The argument 'we use Java because we have ten million lines of Java' just doesn't apply. So we have to score languages on their forward properties, not their incumbent gravity. That's what this deck does.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the framework. Five weighted dimensions. Human cognition — how readable is it for the humans still reviewing the diffs. Machine cognition — how much can the compiler verify on behalf of an agent. AI-agent operability — can an agent actually drive the toolchain. Runtime and ecosystem. And strategic viability. The weights aren't dogma but they reflect a bet: machine cognition and agent operability matter most in the AI era, so they get the heaviest weights. We then look at four cross-cutting lenses — verification, agentic operability, safety pressure, and abstraction compression. The credit and no-credit list at the bottom is the important part. We give credit for forward properties: governance, future fit, training-data representation, ecosystem velocity. We give no credit for legacy code volume or incumbent gravity. That's the lever that lets us see things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the matrix. Fourteen languages, five dimensions, weighted total on the right. Top tier is everything at four point oh and above — Go, TypeScript, Rust, Kotlin, dot NET. Middle tier from three to four — Python, Swift, Java, Zig, Elixir, Haskell. Lower tier — Julia, Mojo, C plus plus. Two things to notice. First: the spread at the top is narrow. Go leads at four point four five but TypeScript and Rust are within a few tenths. The lead reflects breadth, not domination. Second: C plus plus and Mojo tie at the bottom for very different reasons — one is being pushed out by safety pressure, the other is too early to score well on ecosystem. The dimension columns will make those stories visible as we go.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Finding one. Of the five dimensions, AI-agent operability is the most discriminating. Go and TypeScript score five. Haskell and C plus plus score two. That's a three-point spread on a five-point scale — wider than any other axis. And the pattern doesn't track type-system depth — if it did, Haskell would be at the top. It tracks toolchain unification and L S P-exposed semantic models. Go ships one canonical command for build, test, format, vet, deps, docs, and gopls is the official L S P. TypeScript reaches the same surface from a dynamic substrate via strict mode and the language service Microsoft itself originated. Haskell and C plus plus, by contrast, lack a single canonical build surface. The takeaway: if you want agents to drive your codebase, optimize for tooling unification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Finding two. AI raises the value of cheap verification. The reasoning is simple. Agents write more code than humans can read. The bottleneck shifts from generation to validation. Languages whose compilers can falsify a candidate change without execution gain proportional value. The strongest verification clusters are listed here — Rust ownership, Haskell Hindley-Milner with Liquid refinements, Kotlin sealed types, dot NET nullable-reference flow analysis, Swift optionals. But verification velocity matters too — TypeScript's satisfies operator, Python's typing-PEP cadence, Elixir's set-theoretic type research. The languages making rapid progress on type-level expression are the ones agents will operate in best three years from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Finding three. Safety pressure has crossed into regulatory territory. This is no longer a preference. Microsoft Security Response Center says about seventy percent of their CVEs are memory-safety issues. Chromium says about seventy percent of high-severity bugs are memory-safety bugs. The N S A's Software Memory Safety document names C and C plus plus explicitly. The White House Office of the National Cyber Director's twenty-twenty-four Building Blocks paper repeats it. Four independent institutions, all treating memory safety as a structural language property they actively select for. Memory-safe languages — Rust, Kotlin on the J V M, Swift, Elixir on the BEAM, dot NET — align with this pressure. C plus plus is alone in the exposed tier. That's a real strategic-viability hit.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Finding four. Incumbent gravity does not insulate. This is what greenfield framing exposes. C plus plus retains forward credit for accelerator host code and I S O standardization — but loses zero point four points because safety pressure dominates strategic viability. Java retains credit for virtual threads, structured concurrency, Maven Central — but its biggest competitor, Kotlin's null-safety and sealed types, sits inside Java's own ecosystem now. Python keeps a perfect runtime-ecosystem score because of M L library velocity — but unenforced type hints and fragmented stub coverage stay load-bearing. None of these languages collapses. Their forward case becomes domain-specific rather than default. That's a meaningful change.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Finding five. The static-versus-dynamic binary has narrowed into a spectrum. Look at the per-class means. Static-mature languages average three point eight eight. Dynamic-plus-gradual languages average three point eight seven. They're effectively tied. TypeScript at four point two five sits ahead of Kotlin and dot NET. Typed Python in CI gives agents enough signal to operate. The predictive feature for AI-era fitness is gradual typing, not the language's original origin. If you've been making decisions on the assumption that static beats dynamic by default — that assumption no longer holds. What matters is whether the language has a credible gradual-typing trajectory.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Top-tier verdicts. Five languages cleared four point oh. Go leads at four point four five — default for backend services where deliberate minimalism is acceptable, wins on operability breadth, but type-system minimalism is a real cost. TypeScript at four point two five — default for application work in the JavaScript-shaped world, strict mode is the asset, but the type system is intentionally not sound. Rust at four point one five — default for systems and security-sensitive work, ownership rules plus regulatory alignment, but the learning curve and compile times are real. Kotlin at four point oh — default for J V M application work and increasingly cross-platform, with JetBrains governance dependence as the risk. Dot NET at four point oh — default for Microsoft-shop work, Roslyn as a public compiler-platform A P I is genuinely good, but N R T is opt-in and there's MSBuild ceremony to absorb.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more verdicts worth calling out. Python at three point nine five — default for data, A I, M L, and scripting; second-best for general application work. The story here is M L ecosystem velocity plus typing trajectory versus unenforced hints and runtime-only type errors. Typed Python in C I is the only sustainable production posture; if you're doing ML in production without pyright you're carrying technical debt. Mojo at two point six five — a forward bet on AI-native compute kernels, with M L I R-based compilation and compile-time parameters, but single-vendor governance under Modular and pre-one-point-oh status keep it speculative. C plus plus at two point six five — default only for accelerator host code where the safety penalty is knowingly accepted. The dominant signal pushing new projects away is safety pressure, not the language itself.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Recommendations by domain. Greenfield application work — TypeScript first, Kotlin and dot NET as alternatives. Systems and infrastructure — Rust first, Zig and Go as alternatives. Data, A I, M L — typed Python from day one. Fault-tolerant distributed systems — Elixir, with Go and Rust as alternatives. AI-native compute kernels — Mojo as a forward bet, Rust where it can reach, C plus plus only where unavoidable. Apple-platform application work — Swift, with Kotlin Multiplatform as the cross-platform escape hatch. Accelerator host code where C plus plus is forced — C plus plus, with Rust where accelerator support exists. The headline from this slide: no single language is a default for everything. AI-era language choice becomes more domain-sensitive, not less. Most organizations will run two or three of these in parallel; the polyglot interaction surface is part of the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Honest caveats. The weights are working assumptions, not a calibrated multi-rater output — small perturbations are absorbed, large ones are not. The snapshot is end of April twenty-twenty-six; Mojo, Zig, Julia, and Elixir's set-theoretic types could move scores within twelve months. Greenfield framing is a deliberate choice — maintenance-estate teams should re-weight. And this is single-rater judgment, grounded in two hundred fifty-five atomic claims with primary-source citations. Every cell traces through Insight, Evaluation, Claim, Source. It's intended to be falsifiable. If you disagree with a score, you can pull the citations and tell me which one is wrong.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Closing thesis. AI raises the price of three things — cheap verification, ergonomic agentic operability, and structural safety. The languages that pay all three taxes will win the next decade. None of them will win it by default. That's the question this framework exists to keep open. Thank you. Happy to take pushback.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3EFE6"/>
        </a:solidFill>
      </p:bgPr>
    </p:bg>
    <p:spTree>
      <p:nvGrpSpPr>
        <p:cNvPr id="1" name=""/>
        <p:cNvGrpSpPr/>
        <p:nvPr/>
      </p:nvGrpSpPr>
      <p:grpSpPr>
        <a:xfrm>
          <a:off x="0" y="0"/>
          <a:ext cx="0" cy="0"/>
          <a:chOff x="0" y="0"/>
          <a:chExt cx="0" cy="0"/>
        </a:xfrm>
      </p:grpSpPr>
      <p:sp>
        <p:nvSpPr>
          <p:cNvPr id="2" name="Text 0"/>
          <p:cNvSpPr/>
          <p:nvPr/>
        </p:nvSpPr>
        <p:spPr>
          <a:xfrm>
            <a:off x="952500" y="952500"/>
            <a:ext cx="5557626" cy="297180"/>
          </a:xfrm>
          <a:prstGeom prst="rect">
            <a:avLst/>
          </a:prstGeom>
          <a:noFill/>
          <a:ln/>
        </p:spPr>
        <p:txBody>
          <a:bodyPr wrap="square" lIns="25400" tIns="25400" rIns="25400" bIns="25400" rtlCol="0" anchor="t">
            <a:normAutofit/>
          </a:bodyPr>
          <a:lstStyle/>
          <a:p>
            <a:pPr algn="l" indent="0" marL="0">
              <a:buNone/>
            </a:pPr>
            <a:r>
              <a:rPr lang="en-US" sz="1800" spc="144" kern="0" dirty="0">
                <a:solidFill>
                  <a:srgbClr val="6B6457"/>
                </a:solidFill>
                <a:latin typeface="Arial" pitchFamily="34" charset="0"/>
                <a:ea typeface="Arial" pitchFamily="34" charset="-122"/>
                <a:cs typeface="Arial" pitchFamily="34" charset="-120"/>
              </a:rPr>
              <a:t>FRAMEWORK V0.1 · SNAPSHOT 2026-04-30</a:t>
            </a:r>
            <a:endParaRPr lang="en-US" sz="1800" dirty="0"/>
          </a:p>
        </p:txBody>
      </p:sp>
      <p:sp>
        <p:nvSpPr>
          <p:cNvPr id="3" name="Text 1"/>
          <p:cNvSpPr/>
          <p:nvPr/>
        </p:nvSpPr>
        <p:spPr>
          <a:xfrm>
            <a:off x="16508571" y="952500"/>
            <a:ext cx="903129" cy="297180"/>
          </a:xfrm>
          <a:prstGeom prst="rect">
            <a:avLst/>
          </a:prstGeom>
          <a:noFill/>
          <a:ln/>
        </p:spPr>
        <p:txBody>
          <a:bodyPr wrap="square" lIns="25400" tIns="25400" rIns="25400" bIns="25400" rtlCol="0" anchor="t">
            <a:normAutofit/>
          </a:bodyPr>
          <a:lstStyle/>
          <a:p>
            <a:pPr algn="l" indent="0" marL="0">
              <a:buNone/>
            </a:pPr>
            <a:r>
              <a:rPr lang="en-US" sz="1800" spc="144" kern="0" dirty="0">
                <a:solidFill>
                  <a:srgbClr val="6B6457"/>
                </a:solidFill>
                <a:latin typeface="Arial" pitchFamily="34" charset="0"/>
                <a:ea typeface="Arial" pitchFamily="34" charset="-122"/>
                <a:cs typeface="Arial" pitchFamily="34" charset="-120"/>
              </a:rPr>
              <a:t>01/14</a:t>
            </a:r>
            <a:endParaRPr lang="en-US" sz="1800" dirty="0"/>
          </a:p>
        </p:txBody>
      </p:sp>
      <p:sp>
        <p:nvSpPr>
          <p:cNvPr id="4" name="Text 2"/>
          <p:cNvSpPr/>
          <p:nvPr/>
        </p:nvSpPr>
        <p:spPr>
          <a:xfrm>
            <a:off x="952500" y="2766060"/>
            <a:ext cx="16874490" cy="350520"/>
          </a:xfrm>
          <a:prstGeom prst="rect">
            <a:avLst/>
          </a:prstGeom>
          <a:noFill/>
          <a:ln/>
        </p:spPr>
        <p:txBody>
          <a:bodyPr wrap="square" lIns="25400" tIns="25400" rIns="25400" bIns="25400" rtlCol="0" anchor="t">
            <a:normAutofit/>
          </a:bodyPr>
          <a:lstStyle/>
          <a:p>
            <a:pPr algn="l" indent="0" marL="0">
              <a:buNone/>
            </a:pPr>
            <a:r>
              <a:rPr lang="en-US" sz="2100" spc="84" kern="0" dirty="0">
                <a:solidFill>
                  <a:srgbClr val="C2410C"/>
                </a:solidFill>
                <a:latin typeface="Arial" pitchFamily="34" charset="0"/>
                <a:ea typeface="Arial" pitchFamily="34" charset="-122"/>
                <a:cs typeface="Arial" pitchFamily="34" charset="-120"/>
              </a:rPr>
              <a:t>// a greenfield evaluation</a:t>
            </a:r>
            <a:endParaRPr lang="en-US" sz="2100" dirty="0"/>
          </a:p>
        </p:txBody>
      </p:sp>
      <p:sp>
        <p:nvSpPr>
          <p:cNvPr id="5" name="Text 3"/>
          <p:cNvSpPr/>
          <p:nvPr/>
        </p:nvSpPr>
        <p:spPr>
          <a:xfrm>
            <a:off x="952500" y="3383280"/>
            <a:ext cx="16874490" cy="3977640"/>
          </a:xfrm>
          <a:prstGeom prst="rect">
            <a:avLst/>
          </a:prstGeom>
          <a:noFill/>
          <a:ln/>
        </p:spPr>
        <p:txBody>
          <a:bodyPr wrap="square" lIns="25400" tIns="25400" rIns="25400" bIns="25400" rtlCol="0" anchor="t">
            <a:normAutofit/>
          </a:bodyPr>
          <a:lstStyle/>
          <a:p>
            <a:pPr algn="l" indent="0" marL="0">
              <a:lnSpc>
                <a:spcPct val="98000"/>
              </a:lnSpc>
              <a:buNone/>
            </a:pPr>
            <a:r>
              <a:rPr lang="en-US" sz="10500" spc="-367" kern="0" dirty="0">
                <a:solidFill>
                  <a:srgbClr val="16140F"/>
                </a:solidFill>
                <a:latin typeface="Arial" pitchFamily="34" charset="0"/>
                <a:ea typeface="Arial" pitchFamily="34" charset="-122"/>
                <a:cs typeface="Arial" pitchFamily="34" charset="-120"/>
              </a:rPr>
              <a:t>Programming Languages </a:t>
            </a:r>
            <a:pPr algn="l" indent="0" marL="0">
              <a:lnSpc>
                <a:spcPct val="98000"/>
              </a:lnSpc>
              <a:buNone/>
            </a:pPr>
            <a:r>
              <a:rPr lang="en-US" sz="10500" i="1" spc="-367" kern="0" dirty="0">
                <a:solidFill>
                  <a:srgbClr val="C2410C"/>
                </a:solidFill>
                <a:latin typeface="Arial" pitchFamily="34" charset="0"/>
                <a:ea typeface="Arial" pitchFamily="34" charset="-122"/>
                <a:cs typeface="Arial" pitchFamily="34" charset="-120"/>
              </a:rPr>
              <a:t>in the AI era.</a:t>
            </a:r>
            <a:endParaRPr lang="en-US" sz="10500" dirty="0"/>
          </a:p>
        </p:txBody>
      </p:sp>
      <p:sp>
        <p:nvSpPr>
          <p:cNvPr id="6" name="Text 4"/>
          <p:cNvSpPr/>
          <p:nvPr/>
        </p:nvSpPr>
        <p:spPr>
          <a:xfrm>
            <a:off x="952500" y="8877300"/>
            <a:ext cx="1943100" cy="297180"/>
          </a:xfrm>
          <a:prstGeom prst="rect">
            <a:avLst/>
          </a:prstGeom>
          <a:noFill/>
          <a:ln/>
        </p:spPr>
        <p:txBody>
          <a:bodyPr wrap="square" lIns="25400" tIns="25400" rIns="25400" bIns="25400" rtlCol="0" anchor="t">
            <a:normAutofit/>
          </a:bodyPr>
          <a:lstStyle/>
          <a:p>
            <a:pPr algn="l" indent="0" marL="0">
              <a:buNone/>
            </a:pPr>
            <a:r>
              <a:rPr lang="en-US" sz="1800" dirty="0">
                <a:solidFill>
                  <a:srgbClr val="6B6457"/>
                </a:solidFill>
                <a:latin typeface="Arial" pitchFamily="34" charset="0"/>
                <a:ea typeface="Arial" pitchFamily="34" charset="-122"/>
                <a:cs typeface="Arial" pitchFamily="34" charset="-120"/>
              </a:rPr>
              <a:t>AUTHOR</a:t>
            </a:r>
            <a:endParaRPr lang="en-US" sz="1800" dirty="0"/>
          </a:p>
        </p:txBody>
      </p:sp>
      <p:sp>
        <p:nvSpPr>
          <p:cNvPr id="7" name="Text 5"/>
          <p:cNvSpPr/>
          <p:nvPr/>
        </p:nvSpPr>
        <p:spPr>
          <a:xfrm>
            <a:off x="952500" y="9212580"/>
            <a:ext cx="1943100" cy="350520"/>
          </a:xfrm>
          <a:prstGeom prst="rect">
            <a:avLst/>
          </a:prstGeom>
          <a:noFill/>
          <a:ln/>
        </p:spPr>
        <p:txBody>
          <a:bodyPr wrap="square" lIns="25400" tIns="25400" rIns="25400" bIns="25400" rtlCol="0" anchor="t">
            <a:normAutofit/>
          </a:bodyPr>
          <a:lstStyle/>
          <a:p>
            <a:pPr algn="l" indent="0" marL="0">
              <a:buNone/>
            </a:pPr>
            <a:r>
              <a:rPr lang="en-US" sz="2100" dirty="0">
                <a:solidFill>
                  <a:srgbClr val="16140F"/>
                </a:solidFill>
                <a:latin typeface="Arial" pitchFamily="34" charset="0"/>
                <a:ea typeface="Arial" pitchFamily="34" charset="-122"/>
                <a:cs typeface="Arial" pitchFamily="34" charset="-120"/>
              </a:rPr>
              <a:t>Rutger Hemrika</a:t>
            </a:r>
            <a:endParaRPr lang="en-US" sz="2100" dirty="0"/>
          </a:p>
        </p:txBody>
      </p:sp>
      <p:sp>
        <p:nvSpPr>
          <p:cNvPr id="8" name="Text 6"/>
          <p:cNvSpPr/>
          <p:nvPr/>
        </p:nvSpPr>
        <p:spPr>
          <a:xfrm>
            <a:off x="12101792" y="8877300"/>
            <a:ext cx="5233708" cy="297180"/>
          </a:xfrm>
          <a:prstGeom prst="rect">
            <a:avLst/>
          </a:prstGeom>
          <a:noFill/>
          <a:ln/>
        </p:spPr>
        <p:txBody>
          <a:bodyPr wrap="square" lIns="25400" tIns="25400" rIns="25400" bIns="25400" rtlCol="0" anchor="t">
            <a:normAutofit/>
          </a:bodyPr>
          <a:lstStyle/>
          <a:p>
            <a:pPr algn="r" indent="0" marL="0">
              <a:buNone/>
            </a:pPr>
            <a:r>
              <a:rPr lang="en-US" sz="1800" dirty="0">
                <a:solidFill>
                  <a:srgbClr val="6B6457"/>
                </a:solidFill>
                <a:latin typeface="Arial" pitchFamily="34" charset="0"/>
                <a:ea typeface="Arial" pitchFamily="34" charset="-122"/>
                <a:cs typeface="Arial" pitchFamily="34" charset="-120"/>
              </a:rPr>
              <a:t>14 LANGUAGES · 5 DIMENSIONS · 255 CLAIMS</a:t>
            </a:r>
            <a:endParaRPr lang="en-US" sz="1800" dirty="0"/>
          </a:p>
        </p:txBody>
      </p:sp>
      <p:sp>
        <p:nvSpPr>
          <p:cNvPr id="9" name="Text 7"/>
          <p:cNvSpPr/>
          <p:nvPr/>
        </p:nvSpPr>
        <p:spPr>
          <a:xfrm>
            <a:off x="12101792" y="9212580"/>
            <a:ext cx="5233708" cy="350520"/>
          </a:xfrm>
          <a:prstGeom prst="rect">
            <a:avLst/>
          </a:prstGeom>
          <a:noFill/>
          <a:ln/>
        </p:spPr>
        <p:txBody>
          <a:bodyPr wrap="square" lIns="25400" tIns="25400" rIns="25400" bIns="25400" rtlCol="0" anchor="t">
            <a:normAutofit/>
          </a:bodyPr>
          <a:lstStyle/>
          <a:p>
            <a:pPr algn="r" indent="0" marL="0">
              <a:buNone/>
            </a:pPr>
            <a:r>
              <a:rPr lang="en-US" sz="2100" dirty="0">
                <a:solidFill>
                  <a:srgbClr val="16140F"/>
                </a:solidFill>
                <a:latin typeface="Arial" pitchFamily="34" charset="0"/>
                <a:ea typeface="Arial" pitchFamily="34" charset="-122"/>
                <a:cs typeface="Arial" pitchFamily="34" charset="-120"/>
              </a:rPr>
              <a:t>Anchored in primary sources.</a:t>
            </a:r>
            <a:endParaRPr lang="en-US" sz="2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3EFE6"/>
        </a:solidFill>
      </p:bgPr>
    </p:bg>
    <p:spTree>
      <p:nvGrpSpPr>
        <p:cNvPr id="1" name=""/>
        <p:cNvGrpSpPr/>
        <p:nvPr/>
      </p:nvGrpSpPr>
      <p:grpSpPr>
        <a:xfrm>
          <a:off x="0" y="0"/>
          <a:ext cx="0" cy="0"/>
          <a:chOff x="0" y="0"/>
          <a:chExt cx="0" cy="0"/>
        </a:xfrm>
      </p:grpSpPr>
      <p:sp>
        <p:nvSpPr>
          <p:cNvPr id="2" name="Text 0"/>
          <p:cNvSpPr/>
          <p:nvPr/>
        </p:nvSpPr>
        <p:spPr>
          <a:xfrm>
            <a:off x="952500" y="952500"/>
            <a:ext cx="1781493" cy="297180"/>
          </a:xfrm>
          <a:prstGeom prst="rect">
            <a:avLst/>
          </a:prstGeom>
          <a:noFill/>
          <a:ln/>
        </p:spPr>
        <p:txBody>
          <a:bodyPr wrap="square" lIns="25400" tIns="25400" rIns="25400" bIns="25400" rtlCol="0" anchor="t">
            <a:normAutofit/>
          </a:bodyPr>
          <a:lstStyle/>
          <a:p>
            <a:pPr algn="l" indent="0" marL="0">
              <a:buNone/>
            </a:pPr>
            <a:r>
              <a:rPr lang="en-US" sz="1800" spc="144" kern="0" dirty="0">
                <a:solidFill>
                  <a:srgbClr val="6B6457"/>
                </a:solidFill>
                <a:latin typeface="Arial" pitchFamily="34" charset="0"/>
                <a:ea typeface="Arial" pitchFamily="34" charset="-122"/>
                <a:cs typeface="Arial" pitchFamily="34" charset="-120"/>
              </a:rPr>
              <a:t>01 · PREMISE</a:t>
            </a:r>
            <a:endParaRPr lang="en-US" sz="1800" dirty="0"/>
          </a:p>
        </p:txBody>
      </p:sp>
      <p:sp>
        <p:nvSpPr>
          <p:cNvPr id="3" name="Text 1"/>
          <p:cNvSpPr/>
          <p:nvPr/>
        </p:nvSpPr>
        <p:spPr>
          <a:xfrm>
            <a:off x="16508571" y="952500"/>
            <a:ext cx="903129" cy="297180"/>
          </a:xfrm>
          <a:prstGeom prst="rect">
            <a:avLst/>
          </a:prstGeom>
          <a:noFill/>
          <a:ln/>
        </p:spPr>
        <p:txBody>
          <a:bodyPr wrap="square" lIns="25400" tIns="25400" rIns="25400" bIns="25400" rtlCol="0" anchor="t">
            <a:normAutofit/>
          </a:bodyPr>
          <a:lstStyle/>
          <a:p>
            <a:pPr algn="l" indent="0" marL="0">
              <a:buNone/>
            </a:pPr>
            <a:r>
              <a:rPr lang="en-US" sz="1800" spc="144" kern="0" dirty="0">
                <a:solidFill>
                  <a:srgbClr val="6B6457"/>
                </a:solidFill>
                <a:latin typeface="Arial" pitchFamily="34" charset="0"/>
                <a:ea typeface="Arial" pitchFamily="34" charset="-122"/>
                <a:cs typeface="Arial" pitchFamily="34" charset="-120"/>
              </a:rPr>
              <a:t>02/14</a:t>
            </a:r>
            <a:endParaRPr lang="en-US" sz="1800" dirty="0"/>
          </a:p>
        </p:txBody>
      </p:sp>
      <p:sp>
        <p:nvSpPr>
          <p:cNvPr id="4" name="Text 2"/>
          <p:cNvSpPr/>
          <p:nvPr/>
        </p:nvSpPr>
        <p:spPr>
          <a:xfrm>
            <a:off x="952500" y="2367915"/>
            <a:ext cx="8641308" cy="6221730"/>
          </a:xfrm>
          <a:prstGeom prst="rect">
            <a:avLst/>
          </a:prstGeom>
          <a:noFill/>
          <a:ln/>
        </p:spPr>
        <p:txBody>
          <a:bodyPr wrap="square" lIns="25400" tIns="25400" rIns="25400" bIns="25400" rtlCol="0" anchor="t">
            <a:normAutofit/>
          </a:bodyPr>
          <a:lstStyle/>
          <a:p>
            <a:pPr algn="l" indent="0" marL="0">
              <a:lnSpc>
                <a:spcPct val="105000"/>
              </a:lnSpc>
              <a:buNone/>
            </a:pPr>
            <a:r>
              <a:rPr lang="en-US" sz="6600" spc="-132" kern="0" dirty="0">
                <a:solidFill>
                  <a:srgbClr val="16140F"/>
                </a:solidFill>
                <a:latin typeface="Arial" pitchFamily="34" charset="0"/>
                <a:ea typeface="Arial" pitchFamily="34" charset="-122"/>
                <a:cs typeface="Arial" pitchFamily="34" charset="-120"/>
              </a:rPr>
              <a:t>If you started a new project today, </a:t>
            </a:r>
            <a:pPr algn="l" indent="0" marL="0">
              <a:lnSpc>
                <a:spcPct val="105000"/>
              </a:lnSpc>
              <a:buNone/>
            </a:pPr>
            <a:r>
              <a:rPr lang="en-US" sz="6600" i="1" spc="-132" kern="0" dirty="0">
                <a:solidFill>
                  <a:srgbClr val="C2410C"/>
                </a:solidFill>
                <a:latin typeface="Arial" pitchFamily="34" charset="0"/>
                <a:ea typeface="Arial" pitchFamily="34" charset="-122"/>
                <a:cs typeface="Arial" pitchFamily="34" charset="-120"/>
              </a:rPr>
              <a:t>which language would you pick </a:t>
            </a:r>
            <a:pPr algn="l" indent="0" marL="0">
              <a:lnSpc>
                <a:spcPct val="105000"/>
              </a:lnSpc>
              <a:buNone/>
            </a:pPr>
            <a:r>
              <a:rPr lang="en-US" sz="6600" spc="-132" kern="0" dirty="0">
                <a:solidFill>
                  <a:srgbClr val="16140F"/>
                </a:solidFill>
                <a:latin typeface="Arial" pitchFamily="34" charset="0"/>
                <a:ea typeface="Arial" pitchFamily="34" charset="-122"/>
                <a:cs typeface="Arial" pitchFamily="34" charset="-120"/>
              </a:rPr>
              <a:t>— and how would you defend it when agents are doing more of the writing?</a:t>
            </a:r>
            <a:endParaRPr lang="en-US" sz="6600" dirty="0"/>
          </a:p>
        </p:txBody>
      </p:sp>
      <p:sp>
        <p:nvSpPr>
          <p:cNvPr id="5" name="Text 3"/>
          <p:cNvSpPr/>
          <p:nvPr/>
        </p:nvSpPr>
        <p:spPr>
          <a:xfrm>
            <a:off x="952500" y="9212580"/>
            <a:ext cx="9163240" cy="350520"/>
          </a:xfrm>
          <a:prstGeom prst="rect">
            <a:avLst/>
          </a:prstGeom>
          <a:noFill/>
          <a:ln/>
        </p:spPr>
        <p:txBody>
          <a:bodyPr wrap="square" lIns="25400" tIns="25400" rIns="25400" bIns="25400" rtlCol="0" anchor="t">
            <a:normAutofit/>
          </a:bodyPr>
          <a:lstStyle/>
          <a:p>
            <a:pPr algn="l" indent="0" marL="0">
              <a:buNone/>
            </a:pPr>
            <a:r>
              <a:rPr lang="en-US" sz="2100" dirty="0">
                <a:solidFill>
                  <a:srgbClr val="6B6457"/>
                </a:solidFill>
                <a:latin typeface="Arial" pitchFamily="34" charset="0"/>
                <a:ea typeface="Arial" pitchFamily="34" charset="-122"/>
                <a:cs typeface="Arial" pitchFamily="34" charset="-120"/>
              </a:rPr>
              <a:t>Installed base stops being load-bearing once a team commits to greenfield.</a:t>
            </a:r>
            <a:endParaRPr lang="en-US" sz="2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3EFE6"/>
        </a:solidFill>
      </p:bgPr>
    </p:bg>
    <p:spTree>
      <p:nvGrpSpPr>
        <p:cNvPr id="1" name=""/>
        <p:cNvGrpSpPr/>
        <p:nvPr/>
      </p:nvGrpSpPr>
      <p:grpSpPr>
        <a:xfrm>
          <a:off x="0" y="0"/>
          <a:ext cx="0" cy="0"/>
          <a:chOff x="0" y="0"/>
          <a:chExt cx="0" cy="0"/>
        </a:xfrm>
      </p:grpSpPr>
      <p:sp>
        <p:nvSpPr>
          <p:cNvPr id="2" name="Text 0"/>
          <p:cNvSpPr/>
          <p:nvPr/>
        </p:nvSpPr>
        <p:spPr>
          <a:xfrm>
            <a:off x="952500" y="952500"/>
            <a:ext cx="2300446" cy="297180"/>
          </a:xfrm>
          <a:prstGeom prst="rect">
            <a:avLst/>
          </a:prstGeom>
          <a:noFill/>
          <a:ln/>
        </p:spPr>
        <p:txBody>
          <a:bodyPr wrap="square" lIns="25400" tIns="25400" rIns="25400" bIns="25400" rtlCol="0" anchor="t">
            <a:normAutofit/>
          </a:bodyPr>
          <a:lstStyle/>
          <a:p>
            <a:pPr algn="l" indent="0" marL="0">
              <a:buNone/>
            </a:pPr>
            <a:r>
              <a:rPr lang="en-US" sz="1800" spc="144" kern="0" dirty="0">
                <a:solidFill>
                  <a:srgbClr val="6B6457"/>
                </a:solidFill>
                <a:latin typeface="Arial" pitchFamily="34" charset="0"/>
                <a:ea typeface="Arial" pitchFamily="34" charset="-122"/>
                <a:cs typeface="Arial" pitchFamily="34" charset="-120"/>
              </a:rPr>
              <a:t>02 · FRAMEWORK</a:t>
            </a:r>
            <a:endParaRPr lang="en-US" sz="1800" dirty="0"/>
          </a:p>
        </p:txBody>
      </p:sp>
      <p:sp>
        <p:nvSpPr>
          <p:cNvPr id="3" name="Text 1"/>
          <p:cNvSpPr/>
          <p:nvPr/>
        </p:nvSpPr>
        <p:spPr>
          <a:xfrm>
            <a:off x="16508571" y="952500"/>
            <a:ext cx="903129" cy="297180"/>
          </a:xfrm>
          <a:prstGeom prst="rect">
            <a:avLst/>
          </a:prstGeom>
          <a:noFill/>
          <a:ln/>
        </p:spPr>
        <p:txBody>
          <a:bodyPr wrap="square" lIns="25400" tIns="25400" rIns="25400" bIns="25400" rtlCol="0" anchor="t">
            <a:normAutofit/>
          </a:bodyPr>
          <a:lstStyle/>
          <a:p>
            <a:pPr algn="l" indent="0" marL="0">
              <a:buNone/>
            </a:pPr>
            <a:r>
              <a:rPr lang="en-US" sz="1800" spc="144" kern="0" dirty="0">
                <a:solidFill>
                  <a:srgbClr val="6B6457"/>
                </a:solidFill>
                <a:latin typeface="Arial" pitchFamily="34" charset="0"/>
                <a:ea typeface="Arial" pitchFamily="34" charset="-122"/>
                <a:cs typeface="Arial" pitchFamily="34" charset="-120"/>
              </a:rPr>
              <a:t>03/14</a:t>
            </a:r>
            <a:endParaRPr lang="en-US" sz="1800" dirty="0"/>
          </a:p>
        </p:txBody>
      </p:sp>
      <p:sp>
        <p:nvSpPr>
          <p:cNvPr id="4" name="Text 2"/>
          <p:cNvSpPr/>
          <p:nvPr/>
        </p:nvSpPr>
        <p:spPr>
          <a:xfrm>
            <a:off x="952500" y="1706880"/>
            <a:ext cx="16874490" cy="678180"/>
          </a:xfrm>
          <a:prstGeom prst="rect">
            <a:avLst/>
          </a:prstGeom>
          <a:noFill/>
          <a:ln/>
        </p:spPr>
        <p:txBody>
          <a:bodyPr wrap="square" lIns="25400" tIns="25400" rIns="25400" bIns="25400" rtlCol="0" anchor="t">
            <a:normAutofit/>
          </a:bodyPr>
          <a:lstStyle/>
          <a:p>
            <a:pPr algn="l" indent="0" marL="0">
              <a:lnSpc>
                <a:spcPct val="105000"/>
              </a:lnSpc>
              <a:buNone/>
            </a:pPr>
            <a:r>
              <a:rPr lang="en-US" sz="4800" spc="-96" kern="0" dirty="0">
                <a:solidFill>
                  <a:srgbClr val="16140F"/>
                </a:solidFill>
                <a:latin typeface="Arial" pitchFamily="34" charset="0"/>
                <a:ea typeface="Arial" pitchFamily="34" charset="-122"/>
                <a:cs typeface="Arial" pitchFamily="34" charset="-120"/>
              </a:rPr>
              <a:t>The framework</a:t>
            </a:r>
            <a:endParaRPr lang="en-US" sz="4800" dirty="0"/>
          </a:p>
        </p:txBody>
      </p:sp>
      <p:sp>
        <p:nvSpPr>
          <p:cNvPr id="5" name="Text 3"/>
          <p:cNvSpPr/>
          <p:nvPr/>
        </p:nvSpPr>
        <p:spPr>
          <a:xfrm>
            <a:off x="952500" y="2842260"/>
            <a:ext cx="8044815" cy="297180"/>
          </a:xfrm>
          <a:prstGeom prst="rect">
            <a:avLst/>
          </a:prstGeom>
          <a:noFill/>
          <a:ln/>
        </p:spPr>
        <p:txBody>
          <a:bodyPr wrap="square" lIns="25400" tIns="25400" rIns="25400" bIns="25400" rtlCol="0" anchor="t">
            <a:normAutofit/>
          </a:bodyPr>
          <a:lstStyle/>
          <a:p>
            <a:pPr algn="l" indent="0" marL="0">
              <a:buNone/>
            </a:pPr>
            <a:r>
              <a:rPr lang="en-US" sz="1800" spc="144" kern="0" dirty="0">
                <a:solidFill>
                  <a:srgbClr val="6B6457"/>
                </a:solidFill>
                <a:latin typeface="Arial" pitchFamily="34" charset="0"/>
                <a:ea typeface="Arial" pitchFamily="34" charset="-122"/>
                <a:cs typeface="Arial" pitchFamily="34" charset="-120"/>
              </a:rPr>
              <a:t>FIVE WEIGHTED DIMENSIONS</a:t>
            </a:r>
            <a:endParaRPr lang="en-US" sz="1800" dirty="0"/>
          </a:p>
        </p:txBody>
      </p:sp>
      <p:sp>
        <p:nvSpPr>
          <p:cNvPr id="6" name="Shape 4"/>
          <p:cNvSpPr/>
          <p:nvPr/>
        </p:nvSpPr>
        <p:spPr>
          <a:xfrm>
            <a:off x="952500" y="4183380"/>
            <a:ext cx="7810500" cy="9525"/>
          </a:xfrm>
          <a:prstGeom prst="rect">
            <a:avLst/>
          </a:prstGeom>
          <a:solidFill>
            <a:srgbClr val="CDC6B6"/>
          </a:solidFill>
          <a:ln/>
        </p:spPr>
      </p:sp>
      <p:sp>
        <p:nvSpPr>
          <p:cNvPr id="7" name="Shape 5"/>
          <p:cNvSpPr/>
          <p:nvPr/>
        </p:nvSpPr>
        <p:spPr>
          <a:xfrm>
            <a:off x="952500" y="3368040"/>
            <a:ext cx="7810500" cy="9525"/>
          </a:xfrm>
          <a:prstGeom prst="rect">
            <a:avLst/>
          </a:prstGeom>
          <a:solidFill>
            <a:srgbClr val="CDC6B6"/>
          </a:solidFill>
          <a:ln/>
        </p:spPr>
      </p:sp>
      <p:sp>
        <p:nvSpPr>
          <p:cNvPr id="8" name="Text 6"/>
          <p:cNvSpPr/>
          <p:nvPr/>
        </p:nvSpPr>
        <p:spPr>
          <a:xfrm>
            <a:off x="952500" y="3566160"/>
            <a:ext cx="838200" cy="464820"/>
          </a:xfrm>
          <a:prstGeom prst="rect">
            <a:avLst/>
          </a:prstGeom>
          <a:noFill/>
          <a:ln/>
        </p:spPr>
        <p:txBody>
          <a:bodyPr wrap="square" lIns="25400" tIns="25400" rIns="25400" bIns="25400" rtlCol="0" anchor="t">
            <a:normAutofit/>
          </a:bodyPr>
          <a:lstStyle/>
          <a:p>
            <a:pPr algn="l" indent="0" marL="0">
              <a:buNone/>
            </a:pPr>
            <a:r>
              <a:rPr lang="en-US" sz="2550" b="1" dirty="0">
                <a:solidFill>
                  <a:srgbClr val="C2410C"/>
                </a:solidFill>
                <a:latin typeface="Arial" pitchFamily="34" charset="0"/>
                <a:ea typeface="Arial" pitchFamily="34" charset="-122"/>
                <a:cs typeface="Arial" pitchFamily="34" charset="-120"/>
              </a:rPr>
              <a:t>HC</a:t>
            </a:r>
            <a:endParaRPr lang="en-US" sz="2550" dirty="0"/>
          </a:p>
        </p:txBody>
      </p:sp>
      <p:sp>
        <p:nvSpPr>
          <p:cNvPr id="9" name="Text 7"/>
          <p:cNvSpPr/>
          <p:nvPr/>
        </p:nvSpPr>
        <p:spPr>
          <a:xfrm>
            <a:off x="1714500" y="3596640"/>
            <a:ext cx="6376988" cy="411480"/>
          </a:xfrm>
          <a:prstGeom prst="rect">
            <a:avLst/>
          </a:prstGeom>
          <a:noFill/>
          <a:ln/>
        </p:spPr>
        <p:txBody>
          <a:bodyPr wrap="square" lIns="25400" tIns="25400" rIns="25400" bIns="25400" rtlCol="0" anchor="t">
            <a:normAutofit/>
          </a:bodyPr>
          <a:lstStyle/>
          <a:p>
            <a:pPr algn="l" indent="0" marL="0">
              <a:buNone/>
            </a:pPr>
            <a:r>
              <a:rPr lang="en-US" sz="2550" dirty="0">
                <a:solidFill>
                  <a:srgbClr val="16140F"/>
                </a:solidFill>
                <a:latin typeface="Arial" pitchFamily="34" charset="0"/>
                <a:ea typeface="Arial" pitchFamily="34" charset="-122"/>
                <a:cs typeface="Arial" pitchFamily="34" charset="-120"/>
              </a:rPr>
              <a:t>Human cognition</a:t>
            </a:r>
            <a:endParaRPr lang="en-US" sz="2550" dirty="0"/>
          </a:p>
        </p:txBody>
      </p:sp>
      <p:sp>
        <p:nvSpPr>
          <p:cNvPr id="10" name="Text 8"/>
          <p:cNvSpPr/>
          <p:nvPr/>
        </p:nvSpPr>
        <p:spPr>
          <a:xfrm>
            <a:off x="7829550" y="3596640"/>
            <a:ext cx="933450" cy="411480"/>
          </a:xfrm>
          <a:prstGeom prst="rect">
            <a:avLst/>
          </a:prstGeom>
          <a:noFill/>
          <a:ln/>
        </p:spPr>
        <p:txBody>
          <a:bodyPr wrap="square" lIns="25400" tIns="25400" rIns="25400" bIns="25400" rtlCol="0" anchor="t">
            <a:normAutofit/>
          </a:bodyPr>
          <a:lstStyle/>
          <a:p>
            <a:pPr algn="r" indent="0" marL="0">
              <a:buNone/>
            </a:pPr>
            <a:r>
              <a:rPr lang="en-US" sz="2550" dirty="0">
                <a:solidFill>
                  <a:srgbClr val="6B6457"/>
                </a:solidFill>
                <a:latin typeface="Arial" pitchFamily="34" charset="0"/>
                <a:ea typeface="Arial" pitchFamily="34" charset="-122"/>
                <a:cs typeface="Arial" pitchFamily="34" charset="-120"/>
              </a:rPr>
              <a:t>20%</a:t>
            </a:r>
            <a:endParaRPr lang="en-US" sz="2550" dirty="0"/>
          </a:p>
        </p:txBody>
      </p:sp>
      <p:sp>
        <p:nvSpPr>
          <p:cNvPr id="11" name="Shape 9"/>
          <p:cNvSpPr/>
          <p:nvPr/>
        </p:nvSpPr>
        <p:spPr>
          <a:xfrm>
            <a:off x="952500" y="4998720"/>
            <a:ext cx="7810500" cy="9525"/>
          </a:xfrm>
          <a:prstGeom prst="rect">
            <a:avLst/>
          </a:prstGeom>
          <a:solidFill>
            <a:srgbClr val="CDC6B6"/>
          </a:solidFill>
          <a:ln/>
        </p:spPr>
      </p:sp>
      <p:sp>
        <p:nvSpPr>
          <p:cNvPr id="12" name="Text 10"/>
          <p:cNvSpPr/>
          <p:nvPr/>
        </p:nvSpPr>
        <p:spPr>
          <a:xfrm>
            <a:off x="952500" y="4381500"/>
            <a:ext cx="838200" cy="464820"/>
          </a:xfrm>
          <a:prstGeom prst="rect">
            <a:avLst/>
          </a:prstGeom>
          <a:noFill/>
          <a:ln/>
        </p:spPr>
        <p:txBody>
          <a:bodyPr wrap="square" lIns="25400" tIns="25400" rIns="25400" bIns="25400" rtlCol="0" anchor="t">
            <a:normAutofit/>
          </a:bodyPr>
          <a:lstStyle/>
          <a:p>
            <a:pPr algn="l" indent="0" marL="0">
              <a:buNone/>
            </a:pPr>
            <a:r>
              <a:rPr lang="en-US" sz="2550" b="1" dirty="0">
                <a:solidFill>
                  <a:srgbClr val="C2410C"/>
                </a:solidFill>
                <a:latin typeface="Arial" pitchFamily="34" charset="0"/>
                <a:ea typeface="Arial" pitchFamily="34" charset="-122"/>
                <a:cs typeface="Arial" pitchFamily="34" charset="-120"/>
              </a:rPr>
              <a:t>MC</a:t>
            </a:r>
            <a:endParaRPr lang="en-US" sz="2550" dirty="0"/>
          </a:p>
        </p:txBody>
      </p:sp>
      <p:sp>
        <p:nvSpPr>
          <p:cNvPr id="13" name="Text 11"/>
          <p:cNvSpPr/>
          <p:nvPr/>
        </p:nvSpPr>
        <p:spPr>
          <a:xfrm>
            <a:off x="1714500" y="4411980"/>
            <a:ext cx="6376988" cy="411480"/>
          </a:xfrm>
          <a:prstGeom prst="rect">
            <a:avLst/>
          </a:prstGeom>
          <a:noFill/>
          <a:ln/>
        </p:spPr>
        <p:txBody>
          <a:bodyPr wrap="square" lIns="25400" tIns="25400" rIns="25400" bIns="25400" rtlCol="0" anchor="t">
            <a:normAutofit/>
          </a:bodyPr>
          <a:lstStyle/>
          <a:p>
            <a:pPr algn="l" indent="0" marL="0">
              <a:buNone/>
            </a:pPr>
            <a:r>
              <a:rPr lang="en-US" sz="2550" dirty="0">
                <a:solidFill>
                  <a:srgbClr val="16140F"/>
                </a:solidFill>
                <a:latin typeface="Arial" pitchFamily="34" charset="0"/>
                <a:ea typeface="Arial" pitchFamily="34" charset="-122"/>
                <a:cs typeface="Arial" pitchFamily="34" charset="-120"/>
              </a:rPr>
              <a:t>Machine cognition</a:t>
            </a:r>
            <a:endParaRPr lang="en-US" sz="2550" dirty="0"/>
          </a:p>
        </p:txBody>
      </p:sp>
      <p:sp>
        <p:nvSpPr>
          <p:cNvPr id="14" name="Text 12"/>
          <p:cNvSpPr/>
          <p:nvPr/>
        </p:nvSpPr>
        <p:spPr>
          <a:xfrm>
            <a:off x="7829550" y="4411980"/>
            <a:ext cx="933450" cy="411480"/>
          </a:xfrm>
          <a:prstGeom prst="rect">
            <a:avLst/>
          </a:prstGeom>
          <a:noFill/>
          <a:ln/>
        </p:spPr>
        <p:txBody>
          <a:bodyPr wrap="square" lIns="25400" tIns="25400" rIns="25400" bIns="25400" rtlCol="0" anchor="t">
            <a:normAutofit/>
          </a:bodyPr>
          <a:lstStyle/>
          <a:p>
            <a:pPr algn="r" indent="0" marL="0">
              <a:buNone/>
            </a:pPr>
            <a:r>
              <a:rPr lang="en-US" sz="2550" dirty="0">
                <a:solidFill>
                  <a:srgbClr val="6B6457"/>
                </a:solidFill>
                <a:latin typeface="Arial" pitchFamily="34" charset="0"/>
                <a:ea typeface="Arial" pitchFamily="34" charset="-122"/>
                <a:cs typeface="Arial" pitchFamily="34" charset="-120"/>
              </a:rPr>
              <a:t>25%</a:t>
            </a:r>
            <a:endParaRPr lang="en-US" sz="2550" dirty="0"/>
          </a:p>
        </p:txBody>
      </p:sp>
      <p:sp>
        <p:nvSpPr>
          <p:cNvPr id="15" name="Shape 13"/>
          <p:cNvSpPr/>
          <p:nvPr/>
        </p:nvSpPr>
        <p:spPr>
          <a:xfrm>
            <a:off x="952500" y="5814060"/>
            <a:ext cx="7810500" cy="9525"/>
          </a:xfrm>
          <a:prstGeom prst="rect">
            <a:avLst/>
          </a:prstGeom>
          <a:solidFill>
            <a:srgbClr val="CDC6B6"/>
          </a:solidFill>
          <a:ln/>
        </p:spPr>
      </p:sp>
      <p:sp>
        <p:nvSpPr>
          <p:cNvPr id="16" name="Text 14"/>
          <p:cNvSpPr/>
          <p:nvPr/>
        </p:nvSpPr>
        <p:spPr>
          <a:xfrm>
            <a:off x="952500" y="5196840"/>
            <a:ext cx="838200" cy="464820"/>
          </a:xfrm>
          <a:prstGeom prst="rect">
            <a:avLst/>
          </a:prstGeom>
          <a:noFill/>
          <a:ln/>
        </p:spPr>
        <p:txBody>
          <a:bodyPr wrap="square" lIns="25400" tIns="25400" rIns="25400" bIns="25400" rtlCol="0" anchor="t">
            <a:normAutofit/>
          </a:bodyPr>
          <a:lstStyle/>
          <a:p>
            <a:pPr algn="l" indent="0" marL="0">
              <a:buNone/>
            </a:pPr>
            <a:r>
              <a:rPr lang="en-US" sz="2550" b="1" dirty="0">
                <a:solidFill>
                  <a:srgbClr val="C2410C"/>
                </a:solidFill>
                <a:latin typeface="Arial" pitchFamily="34" charset="0"/>
                <a:ea typeface="Arial" pitchFamily="34" charset="-122"/>
                <a:cs typeface="Arial" pitchFamily="34" charset="-120"/>
              </a:rPr>
              <a:t>AO</a:t>
            </a:r>
            <a:endParaRPr lang="en-US" sz="2550" dirty="0"/>
          </a:p>
        </p:txBody>
      </p:sp>
      <p:sp>
        <p:nvSpPr>
          <p:cNvPr id="17" name="Text 15"/>
          <p:cNvSpPr/>
          <p:nvPr/>
        </p:nvSpPr>
        <p:spPr>
          <a:xfrm>
            <a:off x="1714500" y="5227320"/>
            <a:ext cx="6376988" cy="411480"/>
          </a:xfrm>
          <a:prstGeom prst="rect">
            <a:avLst/>
          </a:prstGeom>
          <a:noFill/>
          <a:ln/>
        </p:spPr>
        <p:txBody>
          <a:bodyPr wrap="square" lIns="25400" tIns="25400" rIns="25400" bIns="25400" rtlCol="0" anchor="t">
            <a:normAutofit/>
          </a:bodyPr>
          <a:lstStyle/>
          <a:p>
            <a:pPr algn="l" indent="0" marL="0">
              <a:buNone/>
            </a:pPr>
            <a:r>
              <a:rPr lang="en-US" sz="2550" dirty="0">
                <a:solidFill>
                  <a:srgbClr val="16140F"/>
                </a:solidFill>
                <a:latin typeface="Arial" pitchFamily="34" charset="0"/>
                <a:ea typeface="Arial" pitchFamily="34" charset="-122"/>
                <a:cs typeface="Arial" pitchFamily="34" charset="-120"/>
              </a:rPr>
              <a:t>AI-agent operability</a:t>
            </a:r>
            <a:endParaRPr lang="en-US" sz="2550" dirty="0"/>
          </a:p>
        </p:txBody>
      </p:sp>
      <p:sp>
        <p:nvSpPr>
          <p:cNvPr id="18" name="Text 16"/>
          <p:cNvSpPr/>
          <p:nvPr/>
        </p:nvSpPr>
        <p:spPr>
          <a:xfrm>
            <a:off x="7829550" y="5227320"/>
            <a:ext cx="933450" cy="411480"/>
          </a:xfrm>
          <a:prstGeom prst="rect">
            <a:avLst/>
          </a:prstGeom>
          <a:noFill/>
          <a:ln/>
        </p:spPr>
        <p:txBody>
          <a:bodyPr wrap="square" lIns="25400" tIns="25400" rIns="25400" bIns="25400" rtlCol="0" anchor="t">
            <a:normAutofit/>
          </a:bodyPr>
          <a:lstStyle/>
          <a:p>
            <a:pPr algn="r" indent="0" marL="0">
              <a:buNone/>
            </a:pPr>
            <a:r>
              <a:rPr lang="en-US" sz="2550" dirty="0">
                <a:solidFill>
                  <a:srgbClr val="6B6457"/>
                </a:solidFill>
                <a:latin typeface="Arial" pitchFamily="34" charset="0"/>
                <a:ea typeface="Arial" pitchFamily="34" charset="-122"/>
                <a:cs typeface="Arial" pitchFamily="34" charset="-120"/>
              </a:rPr>
              <a:t>25%</a:t>
            </a:r>
            <a:endParaRPr lang="en-US" sz="2550" dirty="0"/>
          </a:p>
        </p:txBody>
      </p:sp>
      <p:sp>
        <p:nvSpPr>
          <p:cNvPr id="19" name="Shape 17"/>
          <p:cNvSpPr/>
          <p:nvPr/>
        </p:nvSpPr>
        <p:spPr>
          <a:xfrm>
            <a:off x="952500" y="6629400"/>
            <a:ext cx="7810500" cy="9525"/>
          </a:xfrm>
          <a:prstGeom prst="rect">
            <a:avLst/>
          </a:prstGeom>
          <a:solidFill>
            <a:srgbClr val="CDC6B6"/>
          </a:solidFill>
          <a:ln/>
        </p:spPr>
      </p:sp>
      <p:sp>
        <p:nvSpPr>
          <p:cNvPr id="20" name="Text 18"/>
          <p:cNvSpPr/>
          <p:nvPr/>
        </p:nvSpPr>
        <p:spPr>
          <a:xfrm>
            <a:off x="952500" y="6012180"/>
            <a:ext cx="838200" cy="464820"/>
          </a:xfrm>
          <a:prstGeom prst="rect">
            <a:avLst/>
          </a:prstGeom>
          <a:noFill/>
          <a:ln/>
        </p:spPr>
        <p:txBody>
          <a:bodyPr wrap="square" lIns="25400" tIns="25400" rIns="25400" bIns="25400" rtlCol="0" anchor="t">
            <a:normAutofit/>
          </a:bodyPr>
          <a:lstStyle/>
          <a:p>
            <a:pPr algn="l" indent="0" marL="0">
              <a:buNone/>
            </a:pPr>
            <a:r>
              <a:rPr lang="en-US" sz="2550" b="1" dirty="0">
                <a:solidFill>
                  <a:srgbClr val="C2410C"/>
                </a:solidFill>
                <a:latin typeface="Arial" pitchFamily="34" charset="0"/>
                <a:ea typeface="Arial" pitchFamily="34" charset="-122"/>
                <a:cs typeface="Arial" pitchFamily="34" charset="-120"/>
              </a:rPr>
              <a:t>RE</a:t>
            </a:r>
            <a:endParaRPr lang="en-US" sz="2550" dirty="0"/>
          </a:p>
        </p:txBody>
      </p:sp>
      <p:sp>
        <p:nvSpPr>
          <p:cNvPr id="21" name="Text 19"/>
          <p:cNvSpPr/>
          <p:nvPr/>
        </p:nvSpPr>
        <p:spPr>
          <a:xfrm>
            <a:off x="1714500" y="6042660"/>
            <a:ext cx="6376988" cy="411480"/>
          </a:xfrm>
          <a:prstGeom prst="rect">
            <a:avLst/>
          </a:prstGeom>
          <a:noFill/>
          <a:ln/>
        </p:spPr>
        <p:txBody>
          <a:bodyPr wrap="square" lIns="25400" tIns="25400" rIns="25400" bIns="25400" rtlCol="0" anchor="t">
            <a:normAutofit/>
          </a:bodyPr>
          <a:lstStyle/>
          <a:p>
            <a:pPr algn="l" indent="0" marL="0">
              <a:buNone/>
            </a:pPr>
            <a:r>
              <a:rPr lang="en-US" sz="2550" dirty="0">
                <a:solidFill>
                  <a:srgbClr val="16140F"/>
                </a:solidFill>
                <a:latin typeface="Arial" pitchFamily="34" charset="0"/>
                <a:ea typeface="Arial" pitchFamily="34" charset="-122"/>
                <a:cs typeface="Arial" pitchFamily="34" charset="-120"/>
              </a:rPr>
              <a:t>Runtime / ecosystem</a:t>
            </a:r>
            <a:endParaRPr lang="en-US" sz="2550" dirty="0"/>
          </a:p>
        </p:txBody>
      </p:sp>
      <p:sp>
        <p:nvSpPr>
          <p:cNvPr id="22" name="Text 20"/>
          <p:cNvSpPr/>
          <p:nvPr/>
        </p:nvSpPr>
        <p:spPr>
          <a:xfrm>
            <a:off x="7829550" y="6042660"/>
            <a:ext cx="933450" cy="411480"/>
          </a:xfrm>
          <a:prstGeom prst="rect">
            <a:avLst/>
          </a:prstGeom>
          <a:noFill/>
          <a:ln/>
        </p:spPr>
        <p:txBody>
          <a:bodyPr wrap="square" lIns="25400" tIns="25400" rIns="25400" bIns="25400" rtlCol="0" anchor="t">
            <a:normAutofit/>
          </a:bodyPr>
          <a:lstStyle/>
          <a:p>
            <a:pPr algn="r" indent="0" marL="0">
              <a:buNone/>
            </a:pPr>
            <a:r>
              <a:rPr lang="en-US" sz="2550" dirty="0">
                <a:solidFill>
                  <a:srgbClr val="6B6457"/>
                </a:solidFill>
                <a:latin typeface="Arial" pitchFamily="34" charset="0"/>
                <a:ea typeface="Arial" pitchFamily="34" charset="-122"/>
                <a:cs typeface="Arial" pitchFamily="34" charset="-120"/>
              </a:rPr>
              <a:t>20%</a:t>
            </a:r>
            <a:endParaRPr lang="en-US" sz="2550" dirty="0"/>
          </a:p>
        </p:txBody>
      </p:sp>
      <p:sp>
        <p:nvSpPr>
          <p:cNvPr id="23" name="Shape 21"/>
          <p:cNvSpPr/>
          <p:nvPr/>
        </p:nvSpPr>
        <p:spPr>
          <a:xfrm>
            <a:off x="952500" y="7444740"/>
            <a:ext cx="7810500" cy="9525"/>
          </a:xfrm>
          <a:prstGeom prst="rect">
            <a:avLst/>
          </a:prstGeom>
          <a:solidFill>
            <a:srgbClr val="CDC6B6"/>
          </a:solidFill>
          <a:ln/>
        </p:spPr>
      </p:sp>
      <p:sp>
        <p:nvSpPr>
          <p:cNvPr id="24" name="Text 22"/>
          <p:cNvSpPr/>
          <p:nvPr/>
        </p:nvSpPr>
        <p:spPr>
          <a:xfrm>
            <a:off x="952500" y="6827520"/>
            <a:ext cx="838200" cy="464820"/>
          </a:xfrm>
          <a:prstGeom prst="rect">
            <a:avLst/>
          </a:prstGeom>
          <a:noFill/>
          <a:ln/>
        </p:spPr>
        <p:txBody>
          <a:bodyPr wrap="square" lIns="25400" tIns="25400" rIns="25400" bIns="25400" rtlCol="0" anchor="t">
            <a:normAutofit/>
          </a:bodyPr>
          <a:lstStyle/>
          <a:p>
            <a:pPr algn="l" indent="0" marL="0">
              <a:buNone/>
            </a:pPr>
            <a:r>
              <a:rPr lang="en-US" sz="2550" b="1" dirty="0">
                <a:solidFill>
                  <a:srgbClr val="C2410C"/>
                </a:solidFill>
                <a:latin typeface="Arial" pitchFamily="34" charset="0"/>
                <a:ea typeface="Arial" pitchFamily="34" charset="-122"/>
                <a:cs typeface="Arial" pitchFamily="34" charset="-120"/>
              </a:rPr>
              <a:t>SV</a:t>
            </a:r>
            <a:endParaRPr lang="en-US" sz="2550" dirty="0"/>
          </a:p>
        </p:txBody>
      </p:sp>
      <p:sp>
        <p:nvSpPr>
          <p:cNvPr id="25" name="Text 23"/>
          <p:cNvSpPr/>
          <p:nvPr/>
        </p:nvSpPr>
        <p:spPr>
          <a:xfrm>
            <a:off x="1714500" y="6858000"/>
            <a:ext cx="6376988" cy="411480"/>
          </a:xfrm>
          <a:prstGeom prst="rect">
            <a:avLst/>
          </a:prstGeom>
          <a:noFill/>
          <a:ln/>
        </p:spPr>
        <p:txBody>
          <a:bodyPr wrap="square" lIns="25400" tIns="25400" rIns="25400" bIns="25400" rtlCol="0" anchor="t">
            <a:normAutofit/>
          </a:bodyPr>
          <a:lstStyle/>
          <a:p>
            <a:pPr algn="l" indent="0" marL="0">
              <a:buNone/>
            </a:pPr>
            <a:r>
              <a:rPr lang="en-US" sz="2550" dirty="0">
                <a:solidFill>
                  <a:srgbClr val="16140F"/>
                </a:solidFill>
                <a:latin typeface="Arial" pitchFamily="34" charset="0"/>
                <a:ea typeface="Arial" pitchFamily="34" charset="-122"/>
                <a:cs typeface="Arial" pitchFamily="34" charset="-120"/>
              </a:rPr>
              <a:t>Strategic viability</a:t>
            </a:r>
            <a:endParaRPr lang="en-US" sz="2550" dirty="0"/>
          </a:p>
        </p:txBody>
      </p:sp>
      <p:sp>
        <p:nvSpPr>
          <p:cNvPr id="26" name="Text 24"/>
          <p:cNvSpPr/>
          <p:nvPr/>
        </p:nvSpPr>
        <p:spPr>
          <a:xfrm>
            <a:off x="7829550" y="6858000"/>
            <a:ext cx="933450" cy="411480"/>
          </a:xfrm>
          <a:prstGeom prst="rect">
            <a:avLst/>
          </a:prstGeom>
          <a:noFill/>
          <a:ln/>
        </p:spPr>
        <p:txBody>
          <a:bodyPr wrap="square" lIns="25400" tIns="25400" rIns="25400" bIns="25400" rtlCol="0" anchor="t">
            <a:normAutofit/>
          </a:bodyPr>
          <a:lstStyle/>
          <a:p>
            <a:pPr algn="r" indent="0" marL="0">
              <a:buNone/>
            </a:pPr>
            <a:r>
              <a:rPr lang="en-US" sz="2550" dirty="0">
                <a:solidFill>
                  <a:srgbClr val="6B6457"/>
                </a:solidFill>
                <a:latin typeface="Arial" pitchFamily="34" charset="0"/>
                <a:ea typeface="Arial" pitchFamily="34" charset="-122"/>
                <a:cs typeface="Arial" pitchFamily="34" charset="-120"/>
              </a:rPr>
              <a:t>10%</a:t>
            </a:r>
            <a:endParaRPr lang="en-US" sz="2550" dirty="0"/>
          </a:p>
        </p:txBody>
      </p:sp>
      <p:sp>
        <p:nvSpPr>
          <p:cNvPr id="27" name="Text 25"/>
          <p:cNvSpPr/>
          <p:nvPr/>
        </p:nvSpPr>
        <p:spPr>
          <a:xfrm>
            <a:off x="9525000" y="2842260"/>
            <a:ext cx="8044815" cy="297180"/>
          </a:xfrm>
          <a:prstGeom prst="rect">
            <a:avLst/>
          </a:prstGeom>
          <a:noFill/>
          <a:ln/>
        </p:spPr>
        <p:txBody>
          <a:bodyPr wrap="square" lIns="25400" tIns="25400" rIns="25400" bIns="25400" rtlCol="0" anchor="t">
            <a:normAutofit/>
          </a:bodyPr>
          <a:lstStyle/>
          <a:p>
            <a:pPr algn="l" indent="0" marL="0">
              <a:buNone/>
            </a:pPr>
            <a:r>
              <a:rPr lang="en-US" sz="1800" spc="144" kern="0" dirty="0">
                <a:solidFill>
                  <a:srgbClr val="6B6457"/>
                </a:solidFill>
                <a:latin typeface="Arial" pitchFamily="34" charset="0"/>
                <a:ea typeface="Arial" pitchFamily="34" charset="-122"/>
                <a:cs typeface="Arial" pitchFamily="34" charset="-120"/>
              </a:rPr>
              <a:t>FOUR CROSS-CUTTING LENSES</a:t>
            </a:r>
            <a:endParaRPr lang="en-US" sz="1800" dirty="0"/>
          </a:p>
        </p:txBody>
      </p:sp>
      <p:sp>
        <p:nvSpPr>
          <p:cNvPr id="28" name="Text 26"/>
          <p:cNvSpPr/>
          <p:nvPr/>
        </p:nvSpPr>
        <p:spPr>
          <a:xfrm>
            <a:off x="9525000" y="3413760"/>
            <a:ext cx="372745" cy="350520"/>
          </a:xfrm>
          <a:prstGeom prst="rect">
            <a:avLst/>
          </a:prstGeom>
          <a:noFill/>
          <a:ln/>
        </p:spPr>
        <p:txBody>
          <a:bodyPr wrap="square" lIns="25400" tIns="25400" rIns="25400" bIns="25400" rtlCol="0" anchor="t">
            <a:normAutofit/>
          </a:bodyPr>
          <a:lstStyle/>
          <a:p>
            <a:pPr algn="l" indent="0" marL="0">
              <a:buNone/>
            </a:pPr>
            <a:r>
              <a:rPr lang="en-US" sz="2100" dirty="0">
                <a:solidFill>
                  <a:srgbClr val="6B6457"/>
                </a:solidFill>
                <a:latin typeface="Arial" pitchFamily="34" charset="0"/>
                <a:ea typeface="Arial" pitchFamily="34" charset="-122"/>
                <a:cs typeface="Arial" pitchFamily="34" charset="-120"/>
              </a:rPr>
              <a:t>01</a:t>
            </a:r>
            <a:endParaRPr lang="en-US" sz="2100" dirty="0"/>
          </a:p>
        </p:txBody>
      </p:sp>
      <p:sp>
        <p:nvSpPr>
          <p:cNvPr id="29" name="Text 27"/>
          <p:cNvSpPr/>
          <p:nvPr/>
        </p:nvSpPr>
        <p:spPr>
          <a:xfrm>
            <a:off x="10050145" y="3368040"/>
            <a:ext cx="1660525" cy="411480"/>
          </a:xfrm>
          <a:prstGeom prst="rect">
            <a:avLst/>
          </a:prstGeom>
          <a:noFill/>
          <a:ln/>
        </p:spPr>
        <p:txBody>
          <a:bodyPr wrap="square" lIns="25400" tIns="25400" rIns="25400" bIns="25400" rtlCol="0" anchor="t">
            <a:normAutofit/>
          </a:bodyPr>
          <a:lstStyle/>
          <a:p>
            <a:pPr algn="l" indent="0" marL="0">
              <a:buNone/>
            </a:pPr>
            <a:r>
              <a:rPr lang="en-US" sz="2550" dirty="0">
                <a:solidFill>
                  <a:srgbClr val="16140F"/>
                </a:solidFill>
                <a:latin typeface="Arial" pitchFamily="34" charset="0"/>
                <a:ea typeface="Arial" pitchFamily="34" charset="-122"/>
                <a:cs typeface="Arial" pitchFamily="34" charset="-120"/>
              </a:rPr>
              <a:t>Verification</a:t>
            </a:r>
            <a:endParaRPr lang="en-US" sz="2550" dirty="0"/>
          </a:p>
        </p:txBody>
      </p:sp>
      <p:sp>
        <p:nvSpPr>
          <p:cNvPr id="30" name="Text 28"/>
          <p:cNvSpPr/>
          <p:nvPr/>
        </p:nvSpPr>
        <p:spPr>
          <a:xfrm>
            <a:off x="9525000" y="4015740"/>
            <a:ext cx="372745" cy="350520"/>
          </a:xfrm>
          <a:prstGeom prst="rect">
            <a:avLst/>
          </a:prstGeom>
          <a:noFill/>
          <a:ln/>
        </p:spPr>
        <p:txBody>
          <a:bodyPr wrap="square" lIns="25400" tIns="25400" rIns="25400" bIns="25400" rtlCol="0" anchor="t">
            <a:normAutofit/>
          </a:bodyPr>
          <a:lstStyle/>
          <a:p>
            <a:pPr algn="l" indent="0" marL="0">
              <a:buNone/>
            </a:pPr>
            <a:r>
              <a:rPr lang="en-US" sz="2100" dirty="0">
                <a:solidFill>
                  <a:srgbClr val="6B6457"/>
                </a:solidFill>
                <a:latin typeface="Arial" pitchFamily="34" charset="0"/>
                <a:ea typeface="Arial" pitchFamily="34" charset="-122"/>
                <a:cs typeface="Arial" pitchFamily="34" charset="-120"/>
              </a:rPr>
              <a:t>02</a:t>
            </a:r>
            <a:endParaRPr lang="en-US" sz="2100" dirty="0"/>
          </a:p>
        </p:txBody>
      </p:sp>
      <p:sp>
        <p:nvSpPr>
          <p:cNvPr id="31" name="Text 29"/>
          <p:cNvSpPr/>
          <p:nvPr/>
        </p:nvSpPr>
        <p:spPr>
          <a:xfrm>
            <a:off x="10050145" y="3970020"/>
            <a:ext cx="2726244" cy="411480"/>
          </a:xfrm>
          <a:prstGeom prst="rect">
            <a:avLst/>
          </a:prstGeom>
          <a:noFill/>
          <a:ln/>
        </p:spPr>
        <p:txBody>
          <a:bodyPr wrap="square" lIns="25400" tIns="25400" rIns="25400" bIns="25400" rtlCol="0" anchor="t">
            <a:normAutofit/>
          </a:bodyPr>
          <a:lstStyle/>
          <a:p>
            <a:pPr algn="l" indent="0" marL="0">
              <a:buNone/>
            </a:pPr>
            <a:r>
              <a:rPr lang="en-US" sz="2550" dirty="0">
                <a:solidFill>
                  <a:srgbClr val="16140F"/>
                </a:solidFill>
                <a:latin typeface="Arial" pitchFamily="34" charset="0"/>
                <a:ea typeface="Arial" pitchFamily="34" charset="-122"/>
                <a:cs typeface="Arial" pitchFamily="34" charset="-120"/>
              </a:rPr>
              <a:t>Agentic operability</a:t>
            </a:r>
            <a:endParaRPr lang="en-US" sz="2550" dirty="0"/>
          </a:p>
        </p:txBody>
      </p:sp>
      <p:sp>
        <p:nvSpPr>
          <p:cNvPr id="32" name="Text 30"/>
          <p:cNvSpPr/>
          <p:nvPr/>
        </p:nvSpPr>
        <p:spPr>
          <a:xfrm>
            <a:off x="9525000" y="4617720"/>
            <a:ext cx="372745" cy="350520"/>
          </a:xfrm>
          <a:prstGeom prst="rect">
            <a:avLst/>
          </a:prstGeom>
          <a:noFill/>
          <a:ln/>
        </p:spPr>
        <p:txBody>
          <a:bodyPr wrap="square" lIns="25400" tIns="25400" rIns="25400" bIns="25400" rtlCol="0" anchor="t">
            <a:normAutofit/>
          </a:bodyPr>
          <a:lstStyle/>
          <a:p>
            <a:pPr algn="l" indent="0" marL="0">
              <a:buNone/>
            </a:pPr>
            <a:r>
              <a:rPr lang="en-US" sz="2100" dirty="0">
                <a:solidFill>
                  <a:srgbClr val="6B6457"/>
                </a:solidFill>
                <a:latin typeface="Arial" pitchFamily="34" charset="0"/>
                <a:ea typeface="Arial" pitchFamily="34" charset="-122"/>
                <a:cs typeface="Arial" pitchFamily="34" charset="-120"/>
              </a:rPr>
              <a:t>03</a:t>
            </a:r>
            <a:endParaRPr lang="en-US" sz="2100" dirty="0"/>
          </a:p>
        </p:txBody>
      </p:sp>
      <p:sp>
        <p:nvSpPr>
          <p:cNvPr id="33" name="Text 31"/>
          <p:cNvSpPr/>
          <p:nvPr/>
        </p:nvSpPr>
        <p:spPr>
          <a:xfrm>
            <a:off x="10050145" y="4572000"/>
            <a:ext cx="2344738" cy="411480"/>
          </a:xfrm>
          <a:prstGeom prst="rect">
            <a:avLst/>
          </a:prstGeom>
          <a:noFill/>
          <a:ln/>
        </p:spPr>
        <p:txBody>
          <a:bodyPr wrap="square" lIns="25400" tIns="25400" rIns="25400" bIns="25400" rtlCol="0" anchor="t">
            <a:normAutofit/>
          </a:bodyPr>
          <a:lstStyle/>
          <a:p>
            <a:pPr algn="l" indent="0" marL="0">
              <a:buNone/>
            </a:pPr>
            <a:r>
              <a:rPr lang="en-US" sz="2550" dirty="0">
                <a:solidFill>
                  <a:srgbClr val="16140F"/>
                </a:solidFill>
                <a:latin typeface="Arial" pitchFamily="34" charset="0"/>
                <a:ea typeface="Arial" pitchFamily="34" charset="-122"/>
                <a:cs typeface="Arial" pitchFamily="34" charset="-120"/>
              </a:rPr>
              <a:t>Safety pressure</a:t>
            </a:r>
            <a:endParaRPr lang="en-US" sz="2550" dirty="0"/>
          </a:p>
        </p:txBody>
      </p:sp>
      <p:sp>
        <p:nvSpPr>
          <p:cNvPr id="34" name="Text 32"/>
          <p:cNvSpPr/>
          <p:nvPr/>
        </p:nvSpPr>
        <p:spPr>
          <a:xfrm>
            <a:off x="9525000" y="5219700"/>
            <a:ext cx="372745" cy="350520"/>
          </a:xfrm>
          <a:prstGeom prst="rect">
            <a:avLst/>
          </a:prstGeom>
          <a:noFill/>
          <a:ln/>
        </p:spPr>
        <p:txBody>
          <a:bodyPr wrap="square" lIns="25400" tIns="25400" rIns="25400" bIns="25400" rtlCol="0" anchor="t">
            <a:normAutofit/>
          </a:bodyPr>
          <a:lstStyle/>
          <a:p>
            <a:pPr algn="l" indent="0" marL="0">
              <a:buNone/>
            </a:pPr>
            <a:r>
              <a:rPr lang="en-US" sz="2100" dirty="0">
                <a:solidFill>
                  <a:srgbClr val="6B6457"/>
                </a:solidFill>
                <a:latin typeface="Arial" pitchFamily="34" charset="0"/>
                <a:ea typeface="Arial" pitchFamily="34" charset="-122"/>
                <a:cs typeface="Arial" pitchFamily="34" charset="-120"/>
              </a:rPr>
              <a:t>04</a:t>
            </a:r>
            <a:endParaRPr lang="en-US" sz="2100" dirty="0"/>
          </a:p>
        </p:txBody>
      </p:sp>
      <p:sp>
        <p:nvSpPr>
          <p:cNvPr id="35" name="Text 33"/>
          <p:cNvSpPr/>
          <p:nvPr/>
        </p:nvSpPr>
        <p:spPr>
          <a:xfrm>
            <a:off x="10050145" y="5173980"/>
            <a:ext cx="3652869" cy="411480"/>
          </a:xfrm>
          <a:prstGeom prst="rect">
            <a:avLst/>
          </a:prstGeom>
          <a:noFill/>
          <a:ln/>
        </p:spPr>
        <p:txBody>
          <a:bodyPr wrap="square" lIns="25400" tIns="25400" rIns="25400" bIns="25400" rtlCol="0" anchor="t">
            <a:normAutofit/>
          </a:bodyPr>
          <a:lstStyle/>
          <a:p>
            <a:pPr algn="l" indent="0" marL="0">
              <a:buNone/>
            </a:pPr>
            <a:r>
              <a:rPr lang="en-US" sz="2550" dirty="0">
                <a:solidFill>
                  <a:srgbClr val="16140F"/>
                </a:solidFill>
                <a:latin typeface="Arial" pitchFamily="34" charset="0"/>
                <a:ea typeface="Arial" pitchFamily="34" charset="-122"/>
                <a:cs typeface="Arial" pitchFamily="34" charset="-120"/>
              </a:rPr>
              <a:t>Abstraction compression</a:t>
            </a:r>
            <a:endParaRPr lang="en-US" sz="2550" dirty="0"/>
          </a:p>
        </p:txBody>
      </p:sp>
      <p:sp>
        <p:nvSpPr>
          <p:cNvPr id="36" name="Shape 34"/>
          <p:cNvSpPr/>
          <p:nvPr/>
        </p:nvSpPr>
        <p:spPr>
          <a:xfrm>
            <a:off x="9525000" y="6309360"/>
            <a:ext cx="7810500" cy="1744980"/>
          </a:xfrm>
          <a:prstGeom prst="rect">
            <a:avLst/>
          </a:prstGeom>
          <a:ln w="7620">
            <a:solidFill>
              <a:srgbClr val="CDC6B6"/>
            </a:solidFill>
            <a:prstDash val="solid"/>
          </a:ln>
        </p:spPr>
      </p:sp>
      <p:sp>
        <p:nvSpPr>
          <p:cNvPr id="37" name="Text 35"/>
          <p:cNvSpPr/>
          <p:nvPr/>
        </p:nvSpPr>
        <p:spPr>
          <a:xfrm>
            <a:off x="9837420" y="6621780"/>
            <a:ext cx="7419975" cy="1158240"/>
          </a:xfrm>
          <a:prstGeom prst="rect">
            <a:avLst/>
          </a:prstGeom>
          <a:noFill/>
          <a:ln/>
        </p:spPr>
        <p:txBody>
          <a:bodyPr wrap="square" lIns="25400" tIns="25400" rIns="25400" bIns="25400" rtlCol="0" anchor="t">
            <a:normAutofit/>
          </a:bodyPr>
          <a:lstStyle/>
          <a:p>
            <a:pPr algn="l" indent="0" marL="0">
              <a:lnSpc>
                <a:spcPct val="140000"/>
              </a:lnSpc>
              <a:buNone/>
            </a:pPr>
            <a:r>
              <a:rPr lang="en-US" sz="2100" dirty="0">
                <a:solidFill>
                  <a:srgbClr val="C2410C"/>
                </a:solidFill>
                <a:latin typeface="Arial" pitchFamily="34" charset="0"/>
                <a:ea typeface="Arial" pitchFamily="34" charset="-122"/>
                <a:cs typeface="Arial" pitchFamily="34" charset="-120"/>
              </a:rPr>
              <a:t>credit: </a:t>
            </a:r>
            <a:pPr algn="l" indent="0" marL="0">
              <a:lnSpc>
                <a:spcPct val="140000"/>
              </a:lnSpc>
              <a:buNone/>
            </a:pPr>
            <a:r>
              <a:rPr lang="en-US" sz="2100" dirty="0">
                <a:solidFill>
                  <a:srgbClr val="16140F"/>
                </a:solidFill>
                <a:latin typeface="Arial" pitchFamily="34" charset="0"/>
                <a:ea typeface="Arial" pitchFamily="34" charset="-122"/>
                <a:cs typeface="Arial" pitchFamily="34" charset="-120"/>
              </a:rPr>
              <a:t>governance · future fit · AI-training rep · ecosystem velocity </a:t>
            </a:r>
            <a:pPr algn="l" indent="0" marL="0">
              <a:lnSpc>
                <a:spcPct val="140000"/>
              </a:lnSpc>
              <a:buNone/>
            </a:pPr>
            <a:r>
              <a:rPr lang="en-US" sz="2100" dirty="0">
                <a:solidFill>
                  <a:srgbClr val="C2410C"/>
                </a:solidFill>
                <a:latin typeface="Arial" pitchFamily="34" charset="0"/>
                <a:ea typeface="Arial" pitchFamily="34" charset="-122"/>
                <a:cs typeface="Arial" pitchFamily="34" charset="-120"/>
              </a:rPr>
              <a:t>no credit: </a:t>
            </a:r>
            <a:pPr algn="l" indent="0" marL="0">
              <a:lnSpc>
                <a:spcPct val="140000"/>
              </a:lnSpc>
              <a:buNone/>
            </a:pPr>
            <a:r>
              <a:rPr lang="en-US" sz="2100" dirty="0">
                <a:solidFill>
                  <a:srgbClr val="6B6457"/>
                </a:solidFill>
                <a:latin typeface="Arial" pitchFamily="34" charset="0"/>
                <a:ea typeface="Arial" pitchFamily="34" charset="-122"/>
                <a:cs typeface="Arial" pitchFamily="34" charset="-120"/>
              </a:rPr>
              <a:t>legacy code volume · incumbent gravity</a:t>
            </a:r>
            <a:endParaRPr lang="en-US" sz="2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3EFE6"/>
        </a:solidFill>
      </p:bgPr>
    </p:bg>
    <p:spTree>
      <p:nvGrpSpPr>
        <p:cNvPr id="1" name=""/>
        <p:cNvGrpSpPr/>
        <p:nvPr/>
      </p:nvGrpSpPr>
      <p:grpSpPr>
        <a:xfrm>
          <a:off x="0" y="0"/>
          <a:ext cx="0" cy="0"/>
          <a:chOff x="0" y="0"/>
          <a:chExt cx="0" cy="0"/>
        </a:xfrm>
      </p:grpSpPr>
      <p:sp>
        <p:nvSpPr>
          <p:cNvPr id="2" name="Text 0"/>
          <p:cNvSpPr/>
          <p:nvPr/>
        </p:nvSpPr>
        <p:spPr>
          <a:xfrm>
            <a:off x="952500" y="571500"/>
            <a:ext cx="1819593" cy="297180"/>
          </a:xfrm>
          <a:prstGeom prst="rect">
            <a:avLst/>
          </a:prstGeom>
          <a:noFill/>
          <a:ln/>
        </p:spPr>
        <p:txBody>
          <a:bodyPr wrap="square" lIns="25400" tIns="25400" rIns="25400" bIns="25400" rtlCol="0" anchor="t">
            <a:normAutofit/>
          </a:bodyPr>
          <a:lstStyle/>
          <a:p>
            <a:pPr algn="l" indent="0" marL="0">
              <a:buNone/>
            </a:pPr>
            <a:r>
              <a:rPr lang="en-US" sz="1800" spc="144" kern="0" dirty="0">
                <a:solidFill>
                  <a:srgbClr val="6B6457"/>
                </a:solidFill>
                <a:latin typeface="Arial" pitchFamily="34" charset="0"/>
                <a:ea typeface="Arial" pitchFamily="34" charset="-122"/>
                <a:cs typeface="Arial" pitchFamily="34" charset="-120"/>
              </a:rPr>
              <a:t>03 · SCORING</a:t>
            </a:r>
            <a:endParaRPr lang="en-US" sz="1800" dirty="0"/>
          </a:p>
        </p:txBody>
      </p:sp>
      <p:sp>
        <p:nvSpPr>
          <p:cNvPr id="3" name="Text 1"/>
          <p:cNvSpPr/>
          <p:nvPr/>
        </p:nvSpPr>
        <p:spPr>
          <a:xfrm>
            <a:off x="16508571" y="571500"/>
            <a:ext cx="903129" cy="297180"/>
          </a:xfrm>
          <a:prstGeom prst="rect">
            <a:avLst/>
          </a:prstGeom>
          <a:noFill/>
          <a:ln/>
        </p:spPr>
        <p:txBody>
          <a:bodyPr wrap="square" lIns="25400" tIns="25400" rIns="25400" bIns="25400" rtlCol="0" anchor="t">
            <a:normAutofit/>
          </a:bodyPr>
          <a:lstStyle/>
          <a:p>
            <a:pPr algn="l" indent="0" marL="0">
              <a:buNone/>
            </a:pPr>
            <a:r>
              <a:rPr lang="en-US" sz="1800" spc="144" kern="0" dirty="0">
                <a:solidFill>
                  <a:srgbClr val="6B6457"/>
                </a:solidFill>
                <a:latin typeface="Arial" pitchFamily="34" charset="0"/>
                <a:ea typeface="Arial" pitchFamily="34" charset="-122"/>
                <a:cs typeface="Arial" pitchFamily="34" charset="-120"/>
              </a:rPr>
              <a:t>04/14</a:t>
            </a:r>
            <a:endParaRPr lang="en-US" sz="1800" dirty="0"/>
          </a:p>
        </p:txBody>
      </p:sp>
      <p:sp>
        <p:nvSpPr>
          <p:cNvPr id="4" name="Text 2"/>
          <p:cNvSpPr/>
          <p:nvPr/>
        </p:nvSpPr>
        <p:spPr>
          <a:xfrm>
            <a:off x="952500" y="1325880"/>
            <a:ext cx="2317115" cy="558165"/>
          </a:xfrm>
          <a:prstGeom prst="rect">
            <a:avLst/>
          </a:prstGeom>
          <a:noFill/>
          <a:ln/>
        </p:spPr>
        <p:txBody>
          <a:bodyPr wrap="square" lIns="25400" tIns="25400" rIns="25400" bIns="25400" rtlCol="0" anchor="t">
            <a:normAutofit/>
          </a:bodyPr>
          <a:lstStyle/>
          <a:p>
            <a:pPr algn="l" indent="0" marL="0">
              <a:lnSpc>
                <a:spcPct val="105000"/>
              </a:lnSpc>
              <a:buNone/>
            </a:pPr>
            <a:r>
              <a:rPr lang="en-US" sz="3900" spc="-78" kern="0" dirty="0">
                <a:solidFill>
                  <a:srgbClr val="16140F"/>
                </a:solidFill>
                <a:latin typeface="Arial" pitchFamily="34" charset="0"/>
                <a:ea typeface="Arial" pitchFamily="34" charset="-122"/>
                <a:cs typeface="Arial" pitchFamily="34" charset="-120"/>
              </a:rPr>
              <a:t>The matrix</a:t>
            </a:r>
            <a:endParaRPr lang="en-US" sz="3900" dirty="0"/>
          </a:p>
        </p:txBody>
      </p:sp>
      <p:sp>
        <p:nvSpPr>
          <p:cNvPr id="5" name="Text 3"/>
          <p:cNvSpPr/>
          <p:nvPr/>
        </p:nvSpPr>
        <p:spPr>
          <a:xfrm>
            <a:off x="11226673" y="1505903"/>
            <a:ext cx="6108827" cy="662940"/>
          </a:xfrm>
          <a:prstGeom prst="rect">
            <a:avLst/>
          </a:prstGeom>
          <a:noFill/>
          <a:ln/>
        </p:spPr>
        <p:txBody>
          <a:bodyPr wrap="square" lIns="25400" tIns="25400" rIns="25400" bIns="25400" rtlCol="0" anchor="t">
            <a:normAutofit/>
          </a:bodyPr>
          <a:lstStyle/>
          <a:p>
            <a:pPr algn="r" indent="0" marL="0">
              <a:buNone/>
            </a:pPr>
            <a:r>
              <a:rPr lang="en-US" sz="2100" dirty="0">
                <a:solidFill>
                  <a:srgbClr val="6B6457"/>
                </a:solidFill>
                <a:latin typeface="Arial" pitchFamily="34" charset="0"/>
                <a:ea typeface="Arial" pitchFamily="34" charset="-122"/>
                <a:cs typeface="Arial" pitchFamily="34" charset="-120"/>
              </a:rPr>
              <a:t>14 languages · five dimensions · 1.0 = floor, 5.0 = ceiling</a:t>
            </a:r>
            <a:endParaRPr lang="en-US" sz="2100" dirty="0"/>
          </a:p>
        </p:txBody>
      </p:sp>
      <p:sp>
        <p:nvSpPr>
          <p:cNvPr id="6" name="Shape 4"/>
          <p:cNvSpPr/>
          <p:nvPr/>
        </p:nvSpPr>
        <p:spPr>
          <a:xfrm>
            <a:off x="952500" y="2694623"/>
            <a:ext cx="16383000" cy="15240"/>
          </a:xfrm>
          <a:prstGeom prst="rect">
            <a:avLst/>
          </a:prstGeom>
          <a:solidFill>
            <a:srgbClr val="16140F"/>
          </a:solidFill>
          <a:ln/>
        </p:spPr>
      </p:sp>
      <p:sp>
        <p:nvSpPr>
          <p:cNvPr id="7" name="Text 5"/>
          <p:cNvSpPr/>
          <p:nvPr/>
        </p:nvSpPr>
        <p:spPr>
          <a:xfrm>
            <a:off x="1104900" y="2359342"/>
            <a:ext cx="4990892" cy="297180"/>
          </a:xfrm>
          <a:prstGeom prst="rect">
            <a:avLst/>
          </a:prstGeom>
          <a:noFill/>
          <a:ln/>
        </p:spPr>
        <p:txBody>
          <a:bodyPr wrap="square" lIns="25400" tIns="25400" rIns="25400" bIns="25400" rtlCol="0" anchor="t">
            <a:normAutofit/>
          </a:bodyPr>
          <a:lstStyle/>
          <a:p>
            <a:pPr algn="l" indent="0" marL="0">
              <a:buNone/>
            </a:pPr>
            <a:r>
              <a:rPr lang="en-US" sz="1800" spc="144" kern="0" dirty="0">
                <a:solidFill>
                  <a:srgbClr val="6B6457"/>
                </a:solidFill>
                <a:latin typeface="Arial" pitchFamily="34" charset="0"/>
                <a:ea typeface="Arial" pitchFamily="34" charset="-122"/>
                <a:cs typeface="Arial" pitchFamily="34" charset="-120"/>
              </a:rPr>
              <a:t>LANGUAGE</a:t>
            </a:r>
            <a:endParaRPr lang="en-US" sz="1800" dirty="0"/>
          </a:p>
        </p:txBody>
      </p:sp>
      <p:sp>
        <p:nvSpPr>
          <p:cNvPr id="8" name="Text 6"/>
          <p:cNvSpPr/>
          <p:nvPr/>
        </p:nvSpPr>
        <p:spPr>
          <a:xfrm>
            <a:off x="5912326" y="2359342"/>
            <a:ext cx="1838166" cy="297180"/>
          </a:xfrm>
          <a:prstGeom prst="rect">
            <a:avLst/>
          </a:prstGeom>
          <a:noFill/>
          <a:ln/>
        </p:spPr>
        <p:txBody>
          <a:bodyPr wrap="square" lIns="25400" tIns="25400" rIns="25400" bIns="25400" rtlCol="0" anchor="t">
            <a:normAutofit/>
          </a:bodyPr>
          <a:lstStyle/>
          <a:p>
            <a:pPr algn="ctr" indent="0" marL="0">
              <a:buNone/>
            </a:pPr>
            <a:r>
              <a:rPr lang="en-US" sz="1800" spc="144" kern="0" dirty="0">
                <a:solidFill>
                  <a:srgbClr val="6B6457"/>
                </a:solidFill>
                <a:latin typeface="Arial" pitchFamily="34" charset="0"/>
                <a:ea typeface="Arial" pitchFamily="34" charset="-122"/>
                <a:cs typeface="Arial" pitchFamily="34" charset="-120"/>
              </a:rPr>
              <a:t>HC</a:t>
            </a:r>
            <a:endParaRPr lang="en-US" sz="1800" dirty="0"/>
          </a:p>
        </p:txBody>
      </p:sp>
      <p:sp>
        <p:nvSpPr>
          <p:cNvPr id="9" name="Text 7"/>
          <p:cNvSpPr/>
          <p:nvPr/>
        </p:nvSpPr>
        <p:spPr>
          <a:xfrm>
            <a:off x="7674293" y="2359342"/>
            <a:ext cx="1838166" cy="297180"/>
          </a:xfrm>
          <a:prstGeom prst="rect">
            <a:avLst/>
          </a:prstGeom>
          <a:noFill/>
          <a:ln/>
        </p:spPr>
        <p:txBody>
          <a:bodyPr wrap="square" lIns="25400" tIns="25400" rIns="25400" bIns="25400" rtlCol="0" anchor="t">
            <a:normAutofit/>
          </a:bodyPr>
          <a:lstStyle/>
          <a:p>
            <a:pPr algn="ctr" indent="0" marL="0">
              <a:buNone/>
            </a:pPr>
            <a:r>
              <a:rPr lang="en-US" sz="1800" spc="144" kern="0" dirty="0">
                <a:solidFill>
                  <a:srgbClr val="6B6457"/>
                </a:solidFill>
                <a:latin typeface="Arial" pitchFamily="34" charset="0"/>
                <a:ea typeface="Arial" pitchFamily="34" charset="-122"/>
                <a:cs typeface="Arial" pitchFamily="34" charset="-120"/>
              </a:rPr>
              <a:t>MC</a:t>
            </a:r>
            <a:endParaRPr lang="en-US" sz="1800" dirty="0"/>
          </a:p>
        </p:txBody>
      </p:sp>
      <p:sp>
        <p:nvSpPr>
          <p:cNvPr id="10" name="Text 8"/>
          <p:cNvSpPr/>
          <p:nvPr/>
        </p:nvSpPr>
        <p:spPr>
          <a:xfrm>
            <a:off x="9436259" y="2359342"/>
            <a:ext cx="1838166" cy="297180"/>
          </a:xfrm>
          <a:prstGeom prst="rect">
            <a:avLst/>
          </a:prstGeom>
          <a:noFill/>
          <a:ln/>
        </p:spPr>
        <p:txBody>
          <a:bodyPr wrap="square" lIns="25400" tIns="25400" rIns="25400" bIns="25400" rtlCol="0" anchor="t">
            <a:normAutofit/>
          </a:bodyPr>
          <a:lstStyle/>
          <a:p>
            <a:pPr algn="ctr" indent="0" marL="0">
              <a:buNone/>
            </a:pPr>
            <a:r>
              <a:rPr lang="en-US" sz="1800" spc="144" kern="0" dirty="0">
                <a:solidFill>
                  <a:srgbClr val="6B6457"/>
                </a:solidFill>
                <a:latin typeface="Arial" pitchFamily="34" charset="0"/>
                <a:ea typeface="Arial" pitchFamily="34" charset="-122"/>
                <a:cs typeface="Arial" pitchFamily="34" charset="-120"/>
              </a:rPr>
              <a:t>AO</a:t>
            </a:r>
            <a:endParaRPr lang="en-US" sz="1800" dirty="0"/>
          </a:p>
        </p:txBody>
      </p:sp>
      <p:sp>
        <p:nvSpPr>
          <p:cNvPr id="11" name="Text 9"/>
          <p:cNvSpPr/>
          <p:nvPr/>
        </p:nvSpPr>
        <p:spPr>
          <a:xfrm>
            <a:off x="11198225" y="2359342"/>
            <a:ext cx="1838166" cy="297180"/>
          </a:xfrm>
          <a:prstGeom prst="rect">
            <a:avLst/>
          </a:prstGeom>
          <a:noFill/>
          <a:ln/>
        </p:spPr>
        <p:txBody>
          <a:bodyPr wrap="square" lIns="25400" tIns="25400" rIns="25400" bIns="25400" rtlCol="0" anchor="t">
            <a:normAutofit/>
          </a:bodyPr>
          <a:lstStyle/>
          <a:p>
            <a:pPr algn="ctr" indent="0" marL="0">
              <a:buNone/>
            </a:pPr>
            <a:r>
              <a:rPr lang="en-US" sz="1800" spc="144" kern="0" dirty="0">
                <a:solidFill>
                  <a:srgbClr val="6B6457"/>
                </a:solidFill>
                <a:latin typeface="Arial" pitchFamily="34" charset="0"/>
                <a:ea typeface="Arial" pitchFamily="34" charset="-122"/>
                <a:cs typeface="Arial" pitchFamily="34" charset="-120"/>
              </a:rPr>
              <a:t>RE</a:t>
            </a:r>
            <a:endParaRPr lang="en-US" sz="1800" dirty="0"/>
          </a:p>
        </p:txBody>
      </p:sp>
      <p:sp>
        <p:nvSpPr>
          <p:cNvPr id="12" name="Text 10"/>
          <p:cNvSpPr/>
          <p:nvPr/>
        </p:nvSpPr>
        <p:spPr>
          <a:xfrm>
            <a:off x="12960191" y="2359342"/>
            <a:ext cx="1838166" cy="297180"/>
          </a:xfrm>
          <a:prstGeom prst="rect">
            <a:avLst/>
          </a:prstGeom>
          <a:noFill/>
          <a:ln/>
        </p:spPr>
        <p:txBody>
          <a:bodyPr wrap="square" lIns="25400" tIns="25400" rIns="25400" bIns="25400" rtlCol="0" anchor="t">
            <a:normAutofit/>
          </a:bodyPr>
          <a:lstStyle/>
          <a:p>
            <a:pPr algn="ctr" indent="0" marL="0">
              <a:buNone/>
            </a:pPr>
            <a:r>
              <a:rPr lang="en-US" sz="1800" spc="144" kern="0" dirty="0">
                <a:solidFill>
                  <a:srgbClr val="6B6457"/>
                </a:solidFill>
                <a:latin typeface="Arial" pitchFamily="34" charset="0"/>
                <a:ea typeface="Arial" pitchFamily="34" charset="-122"/>
                <a:cs typeface="Arial" pitchFamily="34" charset="-120"/>
              </a:rPr>
              <a:t>SV</a:t>
            </a:r>
            <a:endParaRPr lang="en-US" sz="1800" dirty="0"/>
          </a:p>
        </p:txBody>
      </p:sp>
      <p:sp>
        <p:nvSpPr>
          <p:cNvPr id="13" name="Text 11"/>
          <p:cNvSpPr/>
          <p:nvPr/>
        </p:nvSpPr>
        <p:spPr>
          <a:xfrm>
            <a:off x="14684057" y="2359342"/>
            <a:ext cx="2498884" cy="297180"/>
          </a:xfrm>
          <a:prstGeom prst="rect">
            <a:avLst/>
          </a:prstGeom>
          <a:noFill/>
          <a:ln/>
        </p:spPr>
        <p:txBody>
          <a:bodyPr wrap="square" lIns="25400" tIns="25400" rIns="25400" bIns="25400" rtlCol="0" anchor="t">
            <a:normAutofit/>
          </a:bodyPr>
          <a:lstStyle/>
          <a:p>
            <a:pPr algn="r" indent="0" marL="0">
              <a:buNone/>
            </a:pPr>
            <a:r>
              <a:rPr lang="en-US" sz="1800" spc="144" kern="0" dirty="0">
                <a:solidFill>
                  <a:srgbClr val="6B6457"/>
                </a:solidFill>
                <a:latin typeface="Arial" pitchFamily="34" charset="0"/>
                <a:ea typeface="Arial" pitchFamily="34" charset="-122"/>
                <a:cs typeface="Arial" pitchFamily="34" charset="-120"/>
              </a:rPr>
              <a:t>WEIGHTED</a:t>
            </a:r>
            <a:endParaRPr lang="en-US" sz="1800" dirty="0"/>
          </a:p>
        </p:txBody>
      </p:sp>
      <p:sp>
        <p:nvSpPr>
          <p:cNvPr id="14" name="Shape 12"/>
          <p:cNvSpPr/>
          <p:nvPr/>
        </p:nvSpPr>
        <p:spPr>
          <a:xfrm>
            <a:off x="952500" y="3113722"/>
            <a:ext cx="16383000" cy="9525"/>
          </a:xfrm>
          <a:prstGeom prst="rect">
            <a:avLst/>
          </a:prstGeom>
          <a:solidFill>
            <a:srgbClr val="CDC6B6"/>
          </a:solidFill>
          <a:ln/>
        </p:spPr>
      </p:sp>
      <p:sp>
        <p:nvSpPr>
          <p:cNvPr id="15" name="Text 13"/>
          <p:cNvSpPr/>
          <p:nvPr/>
        </p:nvSpPr>
        <p:spPr>
          <a:xfrm>
            <a:off x="1104900" y="2747963"/>
            <a:ext cx="4990892" cy="365760"/>
          </a:xfrm>
          <a:prstGeom prst="rect">
            <a:avLst/>
          </a:prstGeom>
          <a:noFill/>
          <a:ln/>
        </p:spPr>
        <p:txBody>
          <a:bodyPr wrap="square" lIns="25400" tIns="25400" rIns="25400" bIns="25400" rtlCol="0" anchor="t">
            <a:normAutofit/>
          </a:bodyPr>
          <a:lstStyle/>
          <a:p>
            <a:pPr algn="l" indent="0" marL="0">
              <a:buNone/>
            </a:pPr>
            <a:r>
              <a:rPr lang="en-US" sz="2100" dirty="0">
                <a:solidFill>
                  <a:srgbClr val="16140F"/>
                </a:solidFill>
                <a:latin typeface="Arial" pitchFamily="34" charset="0"/>
                <a:ea typeface="Arial" pitchFamily="34" charset="-122"/>
                <a:cs typeface="Arial" pitchFamily="34" charset="-120"/>
              </a:rPr>
              <a:t>Go</a:t>
            </a:r>
            <a:endParaRPr lang="en-US" sz="2100" dirty="0"/>
          </a:p>
        </p:txBody>
      </p:sp>
      <p:sp>
        <p:nvSpPr>
          <p:cNvPr id="16" name="Text 14"/>
          <p:cNvSpPr/>
          <p:nvPr/>
        </p:nvSpPr>
        <p:spPr>
          <a:xfrm>
            <a:off x="5912326" y="2759393"/>
            <a:ext cx="1838166" cy="342900"/>
          </a:xfrm>
          <a:prstGeom prst="rect">
            <a:avLst/>
          </a:prstGeom>
          <a:noFill/>
          <a:ln/>
        </p:spPr>
        <p:txBody>
          <a:bodyPr wrap="square" lIns="25400" tIns="25400" rIns="25400" bIns="25400" rtlCol="0" anchor="t">
            <a:normAutofit/>
          </a:bodyPr>
          <a:lstStyle/>
          <a:p>
            <a:pPr algn="ctr" indent="0" marL="0">
              <a:buNone/>
            </a:pPr>
            <a:r>
              <a:rPr lang="en-US" sz="1800" b="1" dirty="0">
                <a:solidFill>
                  <a:srgbClr val="C2410C"/>
                </a:solidFill>
                <a:latin typeface="Arial" pitchFamily="34" charset="0"/>
                <a:ea typeface="Arial" pitchFamily="34" charset="-122"/>
                <a:cs typeface="Arial" pitchFamily="34" charset="-120"/>
              </a:rPr>
              <a:t>5</a:t>
            </a:r>
            <a:endParaRPr lang="en-US" sz="1800" dirty="0"/>
          </a:p>
        </p:txBody>
      </p:sp>
      <p:sp>
        <p:nvSpPr>
          <p:cNvPr id="17" name="Text 15"/>
          <p:cNvSpPr/>
          <p:nvPr/>
        </p:nvSpPr>
        <p:spPr>
          <a:xfrm>
            <a:off x="7674293" y="2782253"/>
            <a:ext cx="1838166" cy="297180"/>
          </a:xfrm>
          <a:prstGeom prst="rect">
            <a:avLst/>
          </a:prstGeom>
          <a:noFill/>
          <a:ln/>
        </p:spPr>
        <p:txBody>
          <a:bodyPr wrap="square" lIns="25400" tIns="25400" rIns="25400" bIns="25400" rtlCol="0" anchor="t">
            <a:normAutofit/>
          </a:bodyPr>
          <a:lstStyle/>
          <a:p>
            <a:pPr algn="ctr" indent="0" marL="0">
              <a:buNone/>
            </a:pPr>
            <a:r>
              <a:rPr lang="en-US" sz="1800" dirty="0">
                <a:solidFill>
                  <a:srgbClr val="16140F"/>
                </a:solidFill>
                <a:latin typeface="Arial" pitchFamily="34" charset="0"/>
                <a:ea typeface="Arial" pitchFamily="34" charset="-122"/>
                <a:cs typeface="Arial" pitchFamily="34" charset="-120"/>
              </a:rPr>
              <a:t>4</a:t>
            </a:r>
            <a:endParaRPr lang="en-US" sz="1800" dirty="0"/>
          </a:p>
        </p:txBody>
      </p:sp>
      <p:sp>
        <p:nvSpPr>
          <p:cNvPr id="18" name="Text 16"/>
          <p:cNvSpPr/>
          <p:nvPr/>
        </p:nvSpPr>
        <p:spPr>
          <a:xfrm>
            <a:off x="9436259" y="2759393"/>
            <a:ext cx="1838166" cy="342900"/>
          </a:xfrm>
          <a:prstGeom prst="rect">
            <a:avLst/>
          </a:prstGeom>
          <a:noFill/>
          <a:ln/>
        </p:spPr>
        <p:txBody>
          <a:bodyPr wrap="square" lIns="25400" tIns="25400" rIns="25400" bIns="25400" rtlCol="0" anchor="t">
            <a:normAutofit/>
          </a:bodyPr>
          <a:lstStyle/>
          <a:p>
            <a:pPr algn="ctr" indent="0" marL="0">
              <a:buNone/>
            </a:pPr>
            <a:r>
              <a:rPr lang="en-US" sz="1800" b="1" dirty="0">
                <a:solidFill>
                  <a:srgbClr val="C2410C"/>
                </a:solidFill>
                <a:latin typeface="Arial" pitchFamily="34" charset="0"/>
                <a:ea typeface="Arial" pitchFamily="34" charset="-122"/>
                <a:cs typeface="Arial" pitchFamily="34" charset="-120"/>
              </a:rPr>
              <a:t>5</a:t>
            </a:r>
            <a:endParaRPr lang="en-US" sz="1800" dirty="0"/>
          </a:p>
        </p:txBody>
      </p:sp>
      <p:sp>
        <p:nvSpPr>
          <p:cNvPr id="19" name="Text 17"/>
          <p:cNvSpPr/>
          <p:nvPr/>
        </p:nvSpPr>
        <p:spPr>
          <a:xfrm>
            <a:off x="11198225" y="2782253"/>
            <a:ext cx="1838166" cy="297180"/>
          </a:xfrm>
          <a:prstGeom prst="rect">
            <a:avLst/>
          </a:prstGeom>
          <a:noFill/>
          <a:ln/>
        </p:spPr>
        <p:txBody>
          <a:bodyPr wrap="square" lIns="25400" tIns="25400" rIns="25400" bIns="25400" rtlCol="0" anchor="t">
            <a:normAutofit/>
          </a:bodyPr>
          <a:lstStyle/>
          <a:p>
            <a:pPr algn="ctr" indent="0" marL="0">
              <a:buNone/>
            </a:pPr>
            <a:r>
              <a:rPr lang="en-US" sz="1800" dirty="0">
                <a:solidFill>
                  <a:srgbClr val="16140F"/>
                </a:solidFill>
                <a:latin typeface="Arial" pitchFamily="34" charset="0"/>
                <a:ea typeface="Arial" pitchFamily="34" charset="-122"/>
                <a:cs typeface="Arial" pitchFamily="34" charset="-120"/>
              </a:rPr>
              <a:t>4</a:t>
            </a:r>
            <a:endParaRPr lang="en-US" sz="1800" dirty="0"/>
          </a:p>
        </p:txBody>
      </p:sp>
      <p:sp>
        <p:nvSpPr>
          <p:cNvPr id="20" name="Text 18"/>
          <p:cNvSpPr/>
          <p:nvPr/>
        </p:nvSpPr>
        <p:spPr>
          <a:xfrm>
            <a:off x="12960191" y="2782253"/>
            <a:ext cx="1838166" cy="297180"/>
          </a:xfrm>
          <a:prstGeom prst="rect">
            <a:avLst/>
          </a:prstGeom>
          <a:noFill/>
          <a:ln/>
        </p:spPr>
        <p:txBody>
          <a:bodyPr wrap="square" lIns="25400" tIns="25400" rIns="25400" bIns="25400" rtlCol="0" anchor="t">
            <a:normAutofit/>
          </a:bodyPr>
          <a:lstStyle/>
          <a:p>
            <a:pPr algn="ctr" indent="0" marL="0">
              <a:buNone/>
            </a:pPr>
            <a:r>
              <a:rPr lang="en-US" sz="1800" dirty="0">
                <a:solidFill>
                  <a:srgbClr val="16140F"/>
                </a:solidFill>
                <a:latin typeface="Arial" pitchFamily="34" charset="0"/>
                <a:ea typeface="Arial" pitchFamily="34" charset="-122"/>
                <a:cs typeface="Arial" pitchFamily="34" charset="-120"/>
              </a:rPr>
              <a:t>4</a:t>
            </a:r>
            <a:endParaRPr lang="en-US" sz="1800" dirty="0"/>
          </a:p>
        </p:txBody>
      </p:sp>
      <p:sp>
        <p:nvSpPr>
          <p:cNvPr id="21" name="Text 19"/>
          <p:cNvSpPr/>
          <p:nvPr/>
        </p:nvSpPr>
        <p:spPr>
          <a:xfrm>
            <a:off x="14684057" y="2759393"/>
            <a:ext cx="2498884" cy="342900"/>
          </a:xfrm>
          <a:prstGeom prst="rect">
            <a:avLst/>
          </a:prstGeom>
          <a:noFill/>
          <a:ln/>
        </p:spPr>
        <p:txBody>
          <a:bodyPr wrap="square" lIns="25400" tIns="25400" rIns="25400" bIns="25400" rtlCol="0" anchor="t">
            <a:normAutofit/>
          </a:bodyPr>
          <a:lstStyle/>
          <a:p>
            <a:pPr algn="r" indent="0" marL="0">
              <a:buNone/>
            </a:pPr>
            <a:r>
              <a:rPr lang="en-US" sz="1800" b="1" dirty="0">
                <a:solidFill>
                  <a:srgbClr val="C2410C"/>
                </a:solidFill>
                <a:latin typeface="Arial" pitchFamily="34" charset="0"/>
                <a:ea typeface="Arial" pitchFamily="34" charset="-122"/>
                <a:cs typeface="Arial" pitchFamily="34" charset="-120"/>
              </a:rPr>
              <a:t>4.45</a:t>
            </a:r>
            <a:endParaRPr lang="en-US" sz="1800" dirty="0"/>
          </a:p>
        </p:txBody>
      </p:sp>
      <p:sp>
        <p:nvSpPr>
          <p:cNvPr id="22" name="Shape 20"/>
          <p:cNvSpPr/>
          <p:nvPr/>
        </p:nvSpPr>
        <p:spPr>
          <a:xfrm>
            <a:off x="952500" y="3121343"/>
            <a:ext cx="16383000" cy="411480"/>
          </a:xfrm>
          <a:prstGeom prst="rect">
            <a:avLst/>
          </a:prstGeom>
          <a:solidFill>
            <a:srgbClr val="E9E3D5"/>
          </a:solidFill>
          <a:ln/>
        </p:spPr>
      </p:sp>
      <p:sp>
        <p:nvSpPr>
          <p:cNvPr id="23" name="Shape 21"/>
          <p:cNvSpPr/>
          <p:nvPr/>
        </p:nvSpPr>
        <p:spPr>
          <a:xfrm>
            <a:off x="952500" y="3525203"/>
            <a:ext cx="16383000" cy="9525"/>
          </a:xfrm>
          <a:prstGeom prst="rect">
            <a:avLst/>
          </a:prstGeom>
          <a:solidFill>
            <a:srgbClr val="CDC6B6"/>
          </a:solidFill>
          <a:ln/>
        </p:spPr>
      </p:sp>
      <p:sp>
        <p:nvSpPr>
          <p:cNvPr id="24" name="Text 22"/>
          <p:cNvSpPr/>
          <p:nvPr/>
        </p:nvSpPr>
        <p:spPr>
          <a:xfrm>
            <a:off x="1104900" y="3159443"/>
            <a:ext cx="4990892" cy="365760"/>
          </a:xfrm>
          <a:prstGeom prst="rect">
            <a:avLst/>
          </a:prstGeom>
          <a:noFill/>
          <a:ln/>
        </p:spPr>
        <p:txBody>
          <a:bodyPr wrap="square" lIns="25400" tIns="25400" rIns="25400" bIns="25400" rtlCol="0" anchor="t">
            <a:normAutofit/>
          </a:bodyPr>
          <a:lstStyle/>
          <a:p>
            <a:pPr algn="l" indent="0" marL="0">
              <a:buNone/>
            </a:pPr>
            <a:r>
              <a:rPr lang="en-US" sz="2100" dirty="0">
                <a:solidFill>
                  <a:srgbClr val="16140F"/>
                </a:solidFill>
                <a:latin typeface="Arial" pitchFamily="34" charset="0"/>
                <a:ea typeface="Arial" pitchFamily="34" charset="-122"/>
                <a:cs typeface="Arial" pitchFamily="34" charset="-120"/>
              </a:rPr>
              <a:t>TypeScript</a:t>
            </a:r>
            <a:endParaRPr lang="en-US" sz="2100" dirty="0"/>
          </a:p>
        </p:txBody>
      </p:sp>
      <p:sp>
        <p:nvSpPr>
          <p:cNvPr id="25" name="Text 23"/>
          <p:cNvSpPr/>
          <p:nvPr/>
        </p:nvSpPr>
        <p:spPr>
          <a:xfrm>
            <a:off x="5912326" y="3193732"/>
            <a:ext cx="1838166" cy="297180"/>
          </a:xfrm>
          <a:prstGeom prst="rect">
            <a:avLst/>
          </a:prstGeom>
          <a:noFill/>
          <a:ln/>
        </p:spPr>
        <p:txBody>
          <a:bodyPr wrap="square" lIns="25400" tIns="25400" rIns="25400" bIns="25400" rtlCol="0" anchor="t">
            <a:normAutofit/>
          </a:bodyPr>
          <a:lstStyle/>
          <a:p>
            <a:pPr algn="ctr" indent="0" marL="0">
              <a:buNone/>
            </a:pPr>
            <a:r>
              <a:rPr lang="en-US" sz="1800" dirty="0">
                <a:solidFill>
                  <a:srgbClr val="16140F"/>
                </a:solidFill>
                <a:latin typeface="Arial" pitchFamily="34" charset="0"/>
                <a:ea typeface="Arial" pitchFamily="34" charset="-122"/>
                <a:cs typeface="Arial" pitchFamily="34" charset="-120"/>
              </a:rPr>
              <a:t>4</a:t>
            </a:r>
            <a:endParaRPr lang="en-US" sz="1800" dirty="0"/>
          </a:p>
        </p:txBody>
      </p:sp>
      <p:sp>
        <p:nvSpPr>
          <p:cNvPr id="26" name="Text 24"/>
          <p:cNvSpPr/>
          <p:nvPr/>
        </p:nvSpPr>
        <p:spPr>
          <a:xfrm>
            <a:off x="7674293" y="3193732"/>
            <a:ext cx="1838166" cy="297180"/>
          </a:xfrm>
          <a:prstGeom prst="rect">
            <a:avLst/>
          </a:prstGeom>
          <a:noFill/>
          <a:ln/>
        </p:spPr>
        <p:txBody>
          <a:bodyPr wrap="square" lIns="25400" tIns="25400" rIns="25400" bIns="25400" rtlCol="0" anchor="t">
            <a:normAutofit/>
          </a:bodyPr>
          <a:lstStyle/>
          <a:p>
            <a:pPr algn="ctr" indent="0" marL="0">
              <a:buNone/>
            </a:pPr>
            <a:r>
              <a:rPr lang="en-US" sz="1800" dirty="0">
                <a:solidFill>
                  <a:srgbClr val="16140F"/>
                </a:solidFill>
                <a:latin typeface="Arial" pitchFamily="34" charset="0"/>
                <a:ea typeface="Arial" pitchFamily="34" charset="-122"/>
                <a:cs typeface="Arial" pitchFamily="34" charset="-120"/>
              </a:rPr>
              <a:t>4</a:t>
            </a:r>
            <a:endParaRPr lang="en-US" sz="1800" dirty="0"/>
          </a:p>
        </p:txBody>
      </p:sp>
      <p:sp>
        <p:nvSpPr>
          <p:cNvPr id="27" name="Text 25"/>
          <p:cNvSpPr/>
          <p:nvPr/>
        </p:nvSpPr>
        <p:spPr>
          <a:xfrm>
            <a:off x="9436259" y="3170872"/>
            <a:ext cx="1838166" cy="342900"/>
          </a:xfrm>
          <a:prstGeom prst="rect">
            <a:avLst/>
          </a:prstGeom>
          <a:noFill/>
          <a:ln/>
        </p:spPr>
        <p:txBody>
          <a:bodyPr wrap="square" lIns="25400" tIns="25400" rIns="25400" bIns="25400" rtlCol="0" anchor="t">
            <a:normAutofit/>
          </a:bodyPr>
          <a:lstStyle/>
          <a:p>
            <a:pPr algn="ctr" indent="0" marL="0">
              <a:buNone/>
            </a:pPr>
            <a:r>
              <a:rPr lang="en-US" sz="1800" b="1" dirty="0">
                <a:solidFill>
                  <a:srgbClr val="C2410C"/>
                </a:solidFill>
                <a:latin typeface="Arial" pitchFamily="34" charset="0"/>
                <a:ea typeface="Arial" pitchFamily="34" charset="-122"/>
                <a:cs typeface="Arial" pitchFamily="34" charset="-120"/>
              </a:rPr>
              <a:t>5</a:t>
            </a:r>
            <a:endParaRPr lang="en-US" sz="1800" dirty="0"/>
          </a:p>
        </p:txBody>
      </p:sp>
      <p:sp>
        <p:nvSpPr>
          <p:cNvPr id="28" name="Text 26"/>
          <p:cNvSpPr/>
          <p:nvPr/>
        </p:nvSpPr>
        <p:spPr>
          <a:xfrm>
            <a:off x="11198225" y="3193732"/>
            <a:ext cx="1838166" cy="297180"/>
          </a:xfrm>
          <a:prstGeom prst="rect">
            <a:avLst/>
          </a:prstGeom>
          <a:noFill/>
          <a:ln/>
        </p:spPr>
        <p:txBody>
          <a:bodyPr wrap="square" lIns="25400" tIns="25400" rIns="25400" bIns="25400" rtlCol="0" anchor="t">
            <a:normAutofit/>
          </a:bodyPr>
          <a:lstStyle/>
          <a:p>
            <a:pPr algn="ctr" indent="0" marL="0">
              <a:buNone/>
            </a:pPr>
            <a:r>
              <a:rPr lang="en-US" sz="1800" dirty="0">
                <a:solidFill>
                  <a:srgbClr val="16140F"/>
                </a:solidFill>
                <a:latin typeface="Arial" pitchFamily="34" charset="0"/>
                <a:ea typeface="Arial" pitchFamily="34" charset="-122"/>
                <a:cs typeface="Arial" pitchFamily="34" charset="-120"/>
              </a:rPr>
              <a:t>4</a:t>
            </a:r>
            <a:endParaRPr lang="en-US" sz="1800" dirty="0"/>
          </a:p>
        </p:txBody>
      </p:sp>
      <p:sp>
        <p:nvSpPr>
          <p:cNvPr id="29" name="Text 27"/>
          <p:cNvSpPr/>
          <p:nvPr/>
        </p:nvSpPr>
        <p:spPr>
          <a:xfrm>
            <a:off x="12960191" y="3193732"/>
            <a:ext cx="1838166" cy="297180"/>
          </a:xfrm>
          <a:prstGeom prst="rect">
            <a:avLst/>
          </a:prstGeom>
          <a:noFill/>
          <a:ln/>
        </p:spPr>
        <p:txBody>
          <a:bodyPr wrap="square" lIns="25400" tIns="25400" rIns="25400" bIns="25400" rtlCol="0" anchor="t">
            <a:normAutofit/>
          </a:bodyPr>
          <a:lstStyle/>
          <a:p>
            <a:pPr algn="ctr" indent="0" marL="0">
              <a:buNone/>
            </a:pPr>
            <a:r>
              <a:rPr lang="en-US" sz="1800" dirty="0">
                <a:solidFill>
                  <a:srgbClr val="16140F"/>
                </a:solidFill>
                <a:latin typeface="Arial" pitchFamily="34" charset="0"/>
                <a:ea typeface="Arial" pitchFamily="34" charset="-122"/>
                <a:cs typeface="Arial" pitchFamily="34" charset="-120"/>
              </a:rPr>
              <a:t>4</a:t>
            </a:r>
            <a:endParaRPr lang="en-US" sz="1800" dirty="0"/>
          </a:p>
        </p:txBody>
      </p:sp>
      <p:sp>
        <p:nvSpPr>
          <p:cNvPr id="30" name="Text 28"/>
          <p:cNvSpPr/>
          <p:nvPr/>
        </p:nvSpPr>
        <p:spPr>
          <a:xfrm>
            <a:off x="14684057" y="3170872"/>
            <a:ext cx="2498884" cy="342900"/>
          </a:xfrm>
          <a:prstGeom prst="rect">
            <a:avLst/>
          </a:prstGeom>
          <a:noFill/>
          <a:ln/>
        </p:spPr>
        <p:txBody>
          <a:bodyPr wrap="square" lIns="25400" tIns="25400" rIns="25400" bIns="25400" rtlCol="0" anchor="t">
            <a:normAutofit/>
          </a:bodyPr>
          <a:lstStyle/>
          <a:p>
            <a:pPr algn="r" indent="0" marL="0">
              <a:buNone/>
            </a:pPr>
            <a:r>
              <a:rPr lang="en-US" sz="1800" b="1" dirty="0">
                <a:solidFill>
                  <a:srgbClr val="C2410C"/>
                </a:solidFill>
                <a:latin typeface="Arial" pitchFamily="34" charset="0"/>
                <a:ea typeface="Arial" pitchFamily="34" charset="-122"/>
                <a:cs typeface="Arial" pitchFamily="34" charset="-120"/>
              </a:rPr>
              <a:t>4.25</a:t>
            </a:r>
            <a:endParaRPr lang="en-US" sz="1800" dirty="0"/>
          </a:p>
        </p:txBody>
      </p:sp>
      <p:sp>
        <p:nvSpPr>
          <p:cNvPr id="31" name="Shape 29"/>
          <p:cNvSpPr/>
          <p:nvPr/>
        </p:nvSpPr>
        <p:spPr>
          <a:xfrm>
            <a:off x="952500" y="3936683"/>
            <a:ext cx="16383000" cy="9525"/>
          </a:xfrm>
          <a:prstGeom prst="rect">
            <a:avLst/>
          </a:prstGeom>
          <a:solidFill>
            <a:srgbClr val="CDC6B6"/>
          </a:solidFill>
          <a:ln/>
        </p:spPr>
      </p:sp>
      <p:sp>
        <p:nvSpPr>
          <p:cNvPr id="32" name="Text 30"/>
          <p:cNvSpPr/>
          <p:nvPr/>
        </p:nvSpPr>
        <p:spPr>
          <a:xfrm>
            <a:off x="1104900" y="3570922"/>
            <a:ext cx="4990892" cy="365760"/>
          </a:xfrm>
          <a:prstGeom prst="rect">
            <a:avLst/>
          </a:prstGeom>
          <a:noFill/>
          <a:ln/>
        </p:spPr>
        <p:txBody>
          <a:bodyPr wrap="square" lIns="25400" tIns="25400" rIns="25400" bIns="25400" rtlCol="0" anchor="t">
            <a:normAutofit/>
          </a:bodyPr>
          <a:lstStyle/>
          <a:p>
            <a:pPr algn="l" indent="0" marL="0">
              <a:buNone/>
            </a:pPr>
            <a:r>
              <a:rPr lang="en-US" sz="2100" dirty="0">
                <a:solidFill>
                  <a:srgbClr val="16140F"/>
                </a:solidFill>
                <a:latin typeface="Arial" pitchFamily="34" charset="0"/>
                <a:ea typeface="Arial" pitchFamily="34" charset="-122"/>
                <a:cs typeface="Arial" pitchFamily="34" charset="-120"/>
              </a:rPr>
              <a:t>Rust</a:t>
            </a:r>
            <a:endParaRPr lang="en-US" sz="2100" dirty="0"/>
          </a:p>
        </p:txBody>
      </p:sp>
      <p:sp>
        <p:nvSpPr>
          <p:cNvPr id="33" name="Text 31"/>
          <p:cNvSpPr/>
          <p:nvPr/>
        </p:nvSpPr>
        <p:spPr>
          <a:xfrm>
            <a:off x="5912326" y="3605213"/>
            <a:ext cx="1838166" cy="297180"/>
          </a:xfrm>
          <a:prstGeom prst="rect">
            <a:avLst/>
          </a:prstGeom>
          <a:noFill/>
          <a:ln/>
        </p:spPr>
        <p:txBody>
          <a:bodyPr wrap="square" lIns="25400" tIns="25400" rIns="25400" bIns="25400" rtlCol="0" anchor="t">
            <a:normAutofit/>
          </a:bodyPr>
          <a:lstStyle/>
          <a:p>
            <a:pPr algn="ctr" indent="0" marL="0">
              <a:buNone/>
            </a:pPr>
            <a:r>
              <a:rPr lang="en-US" sz="1800" dirty="0">
                <a:solidFill>
                  <a:srgbClr val="16140F"/>
                </a:solidFill>
                <a:latin typeface="Arial" pitchFamily="34" charset="0"/>
                <a:ea typeface="Arial" pitchFamily="34" charset="-122"/>
                <a:cs typeface="Arial" pitchFamily="34" charset="-120"/>
              </a:rPr>
              <a:t>3</a:t>
            </a:r>
            <a:endParaRPr lang="en-US" sz="1800" dirty="0"/>
          </a:p>
        </p:txBody>
      </p:sp>
      <p:sp>
        <p:nvSpPr>
          <p:cNvPr id="34" name="Text 32"/>
          <p:cNvSpPr/>
          <p:nvPr/>
        </p:nvSpPr>
        <p:spPr>
          <a:xfrm>
            <a:off x="7674293" y="3582353"/>
            <a:ext cx="1838166" cy="342900"/>
          </a:xfrm>
          <a:prstGeom prst="rect">
            <a:avLst/>
          </a:prstGeom>
          <a:noFill/>
          <a:ln/>
        </p:spPr>
        <p:txBody>
          <a:bodyPr wrap="square" lIns="25400" tIns="25400" rIns="25400" bIns="25400" rtlCol="0" anchor="t">
            <a:normAutofit/>
          </a:bodyPr>
          <a:lstStyle/>
          <a:p>
            <a:pPr algn="ctr" indent="0" marL="0">
              <a:buNone/>
            </a:pPr>
            <a:r>
              <a:rPr lang="en-US" sz="1800" b="1" dirty="0">
                <a:solidFill>
                  <a:srgbClr val="C2410C"/>
                </a:solidFill>
                <a:latin typeface="Arial" pitchFamily="34" charset="0"/>
                <a:ea typeface="Arial" pitchFamily="34" charset="-122"/>
                <a:cs typeface="Arial" pitchFamily="34" charset="-120"/>
              </a:rPr>
              <a:t>5</a:t>
            </a:r>
            <a:endParaRPr lang="en-US" sz="1800" dirty="0"/>
          </a:p>
        </p:txBody>
      </p:sp>
      <p:sp>
        <p:nvSpPr>
          <p:cNvPr id="35" name="Text 33"/>
          <p:cNvSpPr/>
          <p:nvPr/>
        </p:nvSpPr>
        <p:spPr>
          <a:xfrm>
            <a:off x="9436259" y="3605213"/>
            <a:ext cx="1838166" cy="297180"/>
          </a:xfrm>
          <a:prstGeom prst="rect">
            <a:avLst/>
          </a:prstGeom>
          <a:noFill/>
          <a:ln/>
        </p:spPr>
        <p:txBody>
          <a:bodyPr wrap="square" lIns="25400" tIns="25400" rIns="25400" bIns="25400" rtlCol="0" anchor="t">
            <a:normAutofit/>
          </a:bodyPr>
          <a:lstStyle/>
          <a:p>
            <a:pPr algn="ctr" indent="0" marL="0">
              <a:buNone/>
            </a:pPr>
            <a:r>
              <a:rPr lang="en-US" sz="1800" dirty="0">
                <a:solidFill>
                  <a:srgbClr val="16140F"/>
                </a:solidFill>
                <a:latin typeface="Arial" pitchFamily="34" charset="0"/>
                <a:ea typeface="Arial" pitchFamily="34" charset="-122"/>
                <a:cs typeface="Arial" pitchFamily="34" charset="-120"/>
              </a:rPr>
              <a:t>4</a:t>
            </a:r>
            <a:endParaRPr lang="en-US" sz="1800" dirty="0"/>
          </a:p>
        </p:txBody>
      </p:sp>
      <p:sp>
        <p:nvSpPr>
          <p:cNvPr id="36" name="Text 34"/>
          <p:cNvSpPr/>
          <p:nvPr/>
        </p:nvSpPr>
        <p:spPr>
          <a:xfrm>
            <a:off x="11198225" y="3605213"/>
            <a:ext cx="1838166" cy="297180"/>
          </a:xfrm>
          <a:prstGeom prst="rect">
            <a:avLst/>
          </a:prstGeom>
          <a:noFill/>
          <a:ln/>
        </p:spPr>
        <p:txBody>
          <a:bodyPr wrap="square" lIns="25400" tIns="25400" rIns="25400" bIns="25400" rtlCol="0" anchor="t">
            <a:normAutofit/>
          </a:bodyPr>
          <a:lstStyle/>
          <a:p>
            <a:pPr algn="ctr" indent="0" marL="0">
              <a:buNone/>
            </a:pPr>
            <a:r>
              <a:rPr lang="en-US" sz="1800" dirty="0">
                <a:solidFill>
                  <a:srgbClr val="16140F"/>
                </a:solidFill>
                <a:latin typeface="Arial" pitchFamily="34" charset="0"/>
                <a:ea typeface="Arial" pitchFamily="34" charset="-122"/>
                <a:cs typeface="Arial" pitchFamily="34" charset="-120"/>
              </a:rPr>
              <a:t>4</a:t>
            </a:r>
            <a:endParaRPr lang="en-US" sz="1800" dirty="0"/>
          </a:p>
        </p:txBody>
      </p:sp>
      <p:sp>
        <p:nvSpPr>
          <p:cNvPr id="37" name="Text 35"/>
          <p:cNvSpPr/>
          <p:nvPr/>
        </p:nvSpPr>
        <p:spPr>
          <a:xfrm>
            <a:off x="12960191" y="3582353"/>
            <a:ext cx="1838166" cy="342900"/>
          </a:xfrm>
          <a:prstGeom prst="rect">
            <a:avLst/>
          </a:prstGeom>
          <a:noFill/>
          <a:ln/>
        </p:spPr>
        <p:txBody>
          <a:bodyPr wrap="square" lIns="25400" tIns="25400" rIns="25400" bIns="25400" rtlCol="0" anchor="t">
            <a:normAutofit/>
          </a:bodyPr>
          <a:lstStyle/>
          <a:p>
            <a:pPr algn="ctr" indent="0" marL="0">
              <a:buNone/>
            </a:pPr>
            <a:r>
              <a:rPr lang="en-US" sz="1800" b="1" dirty="0">
                <a:solidFill>
                  <a:srgbClr val="C2410C"/>
                </a:solidFill>
                <a:latin typeface="Arial" pitchFamily="34" charset="0"/>
                <a:ea typeface="Arial" pitchFamily="34" charset="-122"/>
                <a:cs typeface="Arial" pitchFamily="34" charset="-120"/>
              </a:rPr>
              <a:t>5</a:t>
            </a:r>
            <a:endParaRPr lang="en-US" sz="1800" dirty="0"/>
          </a:p>
        </p:txBody>
      </p:sp>
      <p:sp>
        <p:nvSpPr>
          <p:cNvPr id="38" name="Text 36"/>
          <p:cNvSpPr/>
          <p:nvPr/>
        </p:nvSpPr>
        <p:spPr>
          <a:xfrm>
            <a:off x="14684057" y="3582353"/>
            <a:ext cx="2498884" cy="342900"/>
          </a:xfrm>
          <a:prstGeom prst="rect">
            <a:avLst/>
          </a:prstGeom>
          <a:noFill/>
          <a:ln/>
        </p:spPr>
        <p:txBody>
          <a:bodyPr wrap="square" lIns="25400" tIns="25400" rIns="25400" bIns="25400" rtlCol="0" anchor="t">
            <a:normAutofit/>
          </a:bodyPr>
          <a:lstStyle/>
          <a:p>
            <a:pPr algn="r" indent="0" marL="0">
              <a:buNone/>
            </a:pPr>
            <a:r>
              <a:rPr lang="en-US" sz="1800" b="1" dirty="0">
                <a:solidFill>
                  <a:srgbClr val="C2410C"/>
                </a:solidFill>
                <a:latin typeface="Arial" pitchFamily="34" charset="0"/>
                <a:ea typeface="Arial" pitchFamily="34" charset="-122"/>
                <a:cs typeface="Arial" pitchFamily="34" charset="-120"/>
              </a:rPr>
              <a:t>4.15</a:t>
            </a:r>
            <a:endParaRPr lang="en-US" sz="1800" dirty="0"/>
          </a:p>
        </p:txBody>
      </p:sp>
      <p:sp>
        <p:nvSpPr>
          <p:cNvPr id="39" name="Shape 37"/>
          <p:cNvSpPr/>
          <p:nvPr/>
        </p:nvSpPr>
        <p:spPr>
          <a:xfrm>
            <a:off x="952500" y="3944303"/>
            <a:ext cx="16383000" cy="411480"/>
          </a:xfrm>
          <a:prstGeom prst="rect">
            <a:avLst/>
          </a:prstGeom>
          <a:solidFill>
            <a:srgbClr val="E9E3D5"/>
          </a:solidFill>
          <a:ln/>
        </p:spPr>
      </p:sp>
      <p:sp>
        <p:nvSpPr>
          <p:cNvPr id="40" name="Shape 38"/>
          <p:cNvSpPr/>
          <p:nvPr/>
        </p:nvSpPr>
        <p:spPr>
          <a:xfrm>
            <a:off x="952500" y="4348163"/>
            <a:ext cx="16383000" cy="9525"/>
          </a:xfrm>
          <a:prstGeom prst="rect">
            <a:avLst/>
          </a:prstGeom>
          <a:solidFill>
            <a:srgbClr val="CDC6B6"/>
          </a:solidFill>
          <a:ln/>
        </p:spPr>
      </p:sp>
      <p:sp>
        <p:nvSpPr>
          <p:cNvPr id="41" name="Text 39"/>
          <p:cNvSpPr/>
          <p:nvPr/>
        </p:nvSpPr>
        <p:spPr>
          <a:xfrm>
            <a:off x="1104900" y="3982403"/>
            <a:ext cx="4990892" cy="365760"/>
          </a:xfrm>
          <a:prstGeom prst="rect">
            <a:avLst/>
          </a:prstGeom>
          <a:noFill/>
          <a:ln/>
        </p:spPr>
        <p:txBody>
          <a:bodyPr wrap="square" lIns="25400" tIns="25400" rIns="25400" bIns="25400" rtlCol="0" anchor="t">
            <a:normAutofit/>
          </a:bodyPr>
          <a:lstStyle/>
          <a:p>
            <a:pPr algn="l" indent="0" marL="0">
              <a:buNone/>
            </a:pPr>
            <a:r>
              <a:rPr lang="en-US" sz="2100" dirty="0">
                <a:solidFill>
                  <a:srgbClr val="16140F"/>
                </a:solidFill>
                <a:latin typeface="Arial" pitchFamily="34" charset="0"/>
                <a:ea typeface="Arial" pitchFamily="34" charset="-122"/>
                <a:cs typeface="Arial" pitchFamily="34" charset="-120"/>
              </a:rPr>
              <a:t>Kotlin</a:t>
            </a:r>
            <a:endParaRPr lang="en-US" sz="2100" dirty="0"/>
          </a:p>
        </p:txBody>
      </p:sp>
      <p:sp>
        <p:nvSpPr>
          <p:cNvPr id="42" name="Text 40"/>
          <p:cNvSpPr/>
          <p:nvPr/>
        </p:nvSpPr>
        <p:spPr>
          <a:xfrm>
            <a:off x="5912326" y="4016693"/>
            <a:ext cx="1838166" cy="297180"/>
          </a:xfrm>
          <a:prstGeom prst="rect">
            <a:avLst/>
          </a:prstGeom>
          <a:noFill/>
          <a:ln/>
        </p:spPr>
        <p:txBody>
          <a:bodyPr wrap="square" lIns="25400" tIns="25400" rIns="25400" bIns="25400" rtlCol="0" anchor="t">
            <a:normAutofit/>
          </a:bodyPr>
          <a:lstStyle/>
          <a:p>
            <a:pPr algn="ctr" indent="0" marL="0">
              <a:buNone/>
            </a:pPr>
            <a:r>
              <a:rPr lang="en-US" sz="1800" dirty="0">
                <a:solidFill>
                  <a:srgbClr val="16140F"/>
                </a:solidFill>
                <a:latin typeface="Arial" pitchFamily="34" charset="0"/>
                <a:ea typeface="Arial" pitchFamily="34" charset="-122"/>
                <a:cs typeface="Arial" pitchFamily="34" charset="-120"/>
              </a:rPr>
              <a:t>4</a:t>
            </a:r>
            <a:endParaRPr lang="en-US" sz="1800" dirty="0"/>
          </a:p>
        </p:txBody>
      </p:sp>
      <p:sp>
        <p:nvSpPr>
          <p:cNvPr id="43" name="Text 41"/>
          <p:cNvSpPr/>
          <p:nvPr/>
        </p:nvSpPr>
        <p:spPr>
          <a:xfrm>
            <a:off x="7674293" y="4016693"/>
            <a:ext cx="1838166" cy="297180"/>
          </a:xfrm>
          <a:prstGeom prst="rect">
            <a:avLst/>
          </a:prstGeom>
          <a:noFill/>
          <a:ln/>
        </p:spPr>
        <p:txBody>
          <a:bodyPr wrap="square" lIns="25400" tIns="25400" rIns="25400" bIns="25400" rtlCol="0" anchor="t">
            <a:normAutofit/>
          </a:bodyPr>
          <a:lstStyle/>
          <a:p>
            <a:pPr algn="ctr" indent="0" marL="0">
              <a:buNone/>
            </a:pPr>
            <a:r>
              <a:rPr lang="en-US" sz="1800" dirty="0">
                <a:solidFill>
                  <a:srgbClr val="16140F"/>
                </a:solidFill>
                <a:latin typeface="Arial" pitchFamily="34" charset="0"/>
                <a:ea typeface="Arial" pitchFamily="34" charset="-122"/>
                <a:cs typeface="Arial" pitchFamily="34" charset="-120"/>
              </a:rPr>
              <a:t>4</a:t>
            </a:r>
            <a:endParaRPr lang="en-US" sz="1800" dirty="0"/>
          </a:p>
        </p:txBody>
      </p:sp>
      <p:sp>
        <p:nvSpPr>
          <p:cNvPr id="44" name="Text 42"/>
          <p:cNvSpPr/>
          <p:nvPr/>
        </p:nvSpPr>
        <p:spPr>
          <a:xfrm>
            <a:off x="9436259" y="4016693"/>
            <a:ext cx="1838166" cy="297180"/>
          </a:xfrm>
          <a:prstGeom prst="rect">
            <a:avLst/>
          </a:prstGeom>
          <a:noFill/>
          <a:ln/>
        </p:spPr>
        <p:txBody>
          <a:bodyPr wrap="square" lIns="25400" tIns="25400" rIns="25400" bIns="25400" rtlCol="0" anchor="t">
            <a:normAutofit/>
          </a:bodyPr>
          <a:lstStyle/>
          <a:p>
            <a:pPr algn="ctr" indent="0" marL="0">
              <a:buNone/>
            </a:pPr>
            <a:r>
              <a:rPr lang="en-US" sz="1800" dirty="0">
                <a:solidFill>
                  <a:srgbClr val="16140F"/>
                </a:solidFill>
                <a:latin typeface="Arial" pitchFamily="34" charset="0"/>
                <a:ea typeface="Arial" pitchFamily="34" charset="-122"/>
                <a:cs typeface="Arial" pitchFamily="34" charset="-120"/>
              </a:rPr>
              <a:t>4</a:t>
            </a:r>
            <a:endParaRPr lang="en-US" sz="1800" dirty="0"/>
          </a:p>
        </p:txBody>
      </p:sp>
      <p:sp>
        <p:nvSpPr>
          <p:cNvPr id="45" name="Text 43"/>
          <p:cNvSpPr/>
          <p:nvPr/>
        </p:nvSpPr>
        <p:spPr>
          <a:xfrm>
            <a:off x="11198225" y="4016693"/>
            <a:ext cx="1838166" cy="297180"/>
          </a:xfrm>
          <a:prstGeom prst="rect">
            <a:avLst/>
          </a:prstGeom>
          <a:noFill/>
          <a:ln/>
        </p:spPr>
        <p:txBody>
          <a:bodyPr wrap="square" lIns="25400" tIns="25400" rIns="25400" bIns="25400" rtlCol="0" anchor="t">
            <a:normAutofit/>
          </a:bodyPr>
          <a:lstStyle/>
          <a:p>
            <a:pPr algn="ctr" indent="0" marL="0">
              <a:buNone/>
            </a:pPr>
            <a:r>
              <a:rPr lang="en-US" sz="1800" dirty="0">
                <a:solidFill>
                  <a:srgbClr val="16140F"/>
                </a:solidFill>
                <a:latin typeface="Arial" pitchFamily="34" charset="0"/>
                <a:ea typeface="Arial" pitchFamily="34" charset="-122"/>
                <a:cs typeface="Arial" pitchFamily="34" charset="-120"/>
              </a:rPr>
              <a:t>4</a:t>
            </a:r>
            <a:endParaRPr lang="en-US" sz="1800" dirty="0"/>
          </a:p>
        </p:txBody>
      </p:sp>
      <p:sp>
        <p:nvSpPr>
          <p:cNvPr id="46" name="Text 44"/>
          <p:cNvSpPr/>
          <p:nvPr/>
        </p:nvSpPr>
        <p:spPr>
          <a:xfrm>
            <a:off x="12960191" y="4016693"/>
            <a:ext cx="1838166" cy="297180"/>
          </a:xfrm>
          <a:prstGeom prst="rect">
            <a:avLst/>
          </a:prstGeom>
          <a:noFill/>
          <a:ln/>
        </p:spPr>
        <p:txBody>
          <a:bodyPr wrap="square" lIns="25400" tIns="25400" rIns="25400" bIns="25400" rtlCol="0" anchor="t">
            <a:normAutofit/>
          </a:bodyPr>
          <a:lstStyle/>
          <a:p>
            <a:pPr algn="ctr" indent="0" marL="0">
              <a:buNone/>
            </a:pPr>
            <a:r>
              <a:rPr lang="en-US" sz="1800" dirty="0">
                <a:solidFill>
                  <a:srgbClr val="16140F"/>
                </a:solidFill>
                <a:latin typeface="Arial" pitchFamily="34" charset="0"/>
                <a:ea typeface="Arial" pitchFamily="34" charset="-122"/>
                <a:cs typeface="Arial" pitchFamily="34" charset="-120"/>
              </a:rPr>
              <a:t>4</a:t>
            </a:r>
            <a:endParaRPr lang="en-US" sz="1800" dirty="0"/>
          </a:p>
        </p:txBody>
      </p:sp>
      <p:sp>
        <p:nvSpPr>
          <p:cNvPr id="47" name="Text 45"/>
          <p:cNvSpPr/>
          <p:nvPr/>
        </p:nvSpPr>
        <p:spPr>
          <a:xfrm>
            <a:off x="14684057" y="3993832"/>
            <a:ext cx="2498884" cy="342900"/>
          </a:xfrm>
          <a:prstGeom prst="rect">
            <a:avLst/>
          </a:prstGeom>
          <a:noFill/>
          <a:ln/>
        </p:spPr>
        <p:txBody>
          <a:bodyPr wrap="square" lIns="25400" tIns="25400" rIns="25400" bIns="25400" rtlCol="0" anchor="t">
            <a:normAutofit/>
          </a:bodyPr>
          <a:lstStyle/>
          <a:p>
            <a:pPr algn="r" indent="0" marL="0">
              <a:buNone/>
            </a:pPr>
            <a:r>
              <a:rPr lang="en-US" sz="1800" b="1" dirty="0">
                <a:solidFill>
                  <a:srgbClr val="C2410C"/>
                </a:solidFill>
                <a:latin typeface="Arial" pitchFamily="34" charset="0"/>
                <a:ea typeface="Arial" pitchFamily="34" charset="-122"/>
                <a:cs typeface="Arial" pitchFamily="34" charset="-120"/>
              </a:rPr>
              <a:t>4.00</a:t>
            </a:r>
            <a:endParaRPr lang="en-US" sz="1800" dirty="0"/>
          </a:p>
        </p:txBody>
      </p:sp>
      <p:sp>
        <p:nvSpPr>
          <p:cNvPr id="48" name="Shape 46"/>
          <p:cNvSpPr/>
          <p:nvPr/>
        </p:nvSpPr>
        <p:spPr>
          <a:xfrm>
            <a:off x="952500" y="4759642"/>
            <a:ext cx="16383000" cy="9525"/>
          </a:xfrm>
          <a:prstGeom prst="rect">
            <a:avLst/>
          </a:prstGeom>
          <a:solidFill>
            <a:srgbClr val="CDC6B6"/>
          </a:solidFill>
          <a:ln/>
        </p:spPr>
      </p:sp>
      <p:sp>
        <p:nvSpPr>
          <p:cNvPr id="49" name="Text 47"/>
          <p:cNvSpPr/>
          <p:nvPr/>
        </p:nvSpPr>
        <p:spPr>
          <a:xfrm>
            <a:off x="1104900" y="4393882"/>
            <a:ext cx="4990892" cy="365760"/>
          </a:xfrm>
          <a:prstGeom prst="rect">
            <a:avLst/>
          </a:prstGeom>
          <a:noFill/>
          <a:ln/>
        </p:spPr>
        <p:txBody>
          <a:bodyPr wrap="square" lIns="25400" tIns="25400" rIns="25400" bIns="25400" rtlCol="0" anchor="t">
            <a:normAutofit/>
          </a:bodyPr>
          <a:lstStyle/>
          <a:p>
            <a:pPr algn="l" indent="0" marL="0">
              <a:buNone/>
            </a:pPr>
            <a:r>
              <a:rPr lang="en-US" sz="2100" dirty="0">
                <a:solidFill>
                  <a:srgbClr val="16140F"/>
                </a:solidFill>
                <a:latin typeface="Arial" pitchFamily="34" charset="0"/>
                <a:ea typeface="Arial" pitchFamily="34" charset="-122"/>
                <a:cs typeface="Arial" pitchFamily="34" charset="-120"/>
              </a:rPr>
              <a:t>.NET (C#)</a:t>
            </a:r>
            <a:endParaRPr lang="en-US" sz="2100" dirty="0"/>
          </a:p>
        </p:txBody>
      </p:sp>
      <p:sp>
        <p:nvSpPr>
          <p:cNvPr id="50" name="Text 48"/>
          <p:cNvSpPr/>
          <p:nvPr/>
        </p:nvSpPr>
        <p:spPr>
          <a:xfrm>
            <a:off x="5912326" y="4428172"/>
            <a:ext cx="1838166" cy="297180"/>
          </a:xfrm>
          <a:prstGeom prst="rect">
            <a:avLst/>
          </a:prstGeom>
          <a:noFill/>
          <a:ln/>
        </p:spPr>
        <p:txBody>
          <a:bodyPr wrap="square" lIns="25400" tIns="25400" rIns="25400" bIns="25400" rtlCol="0" anchor="t">
            <a:normAutofit/>
          </a:bodyPr>
          <a:lstStyle/>
          <a:p>
            <a:pPr algn="ctr" indent="0" marL="0">
              <a:buNone/>
            </a:pPr>
            <a:r>
              <a:rPr lang="en-US" sz="1800" dirty="0">
                <a:solidFill>
                  <a:srgbClr val="16140F"/>
                </a:solidFill>
                <a:latin typeface="Arial" pitchFamily="34" charset="0"/>
                <a:ea typeface="Arial" pitchFamily="34" charset="-122"/>
                <a:cs typeface="Arial" pitchFamily="34" charset="-120"/>
              </a:rPr>
              <a:t>4</a:t>
            </a:r>
            <a:endParaRPr lang="en-US" sz="1800" dirty="0"/>
          </a:p>
        </p:txBody>
      </p:sp>
      <p:sp>
        <p:nvSpPr>
          <p:cNvPr id="51" name="Text 49"/>
          <p:cNvSpPr/>
          <p:nvPr/>
        </p:nvSpPr>
        <p:spPr>
          <a:xfrm>
            <a:off x="7674293" y="4428172"/>
            <a:ext cx="1838166" cy="297180"/>
          </a:xfrm>
          <a:prstGeom prst="rect">
            <a:avLst/>
          </a:prstGeom>
          <a:noFill/>
          <a:ln/>
        </p:spPr>
        <p:txBody>
          <a:bodyPr wrap="square" lIns="25400" tIns="25400" rIns="25400" bIns="25400" rtlCol="0" anchor="t">
            <a:normAutofit/>
          </a:bodyPr>
          <a:lstStyle/>
          <a:p>
            <a:pPr algn="ctr" indent="0" marL="0">
              <a:buNone/>
            </a:pPr>
            <a:r>
              <a:rPr lang="en-US" sz="1800" dirty="0">
                <a:solidFill>
                  <a:srgbClr val="16140F"/>
                </a:solidFill>
                <a:latin typeface="Arial" pitchFamily="34" charset="0"/>
                <a:ea typeface="Arial" pitchFamily="34" charset="-122"/>
                <a:cs typeface="Arial" pitchFamily="34" charset="-120"/>
              </a:rPr>
              <a:t>4</a:t>
            </a:r>
            <a:endParaRPr lang="en-US" sz="1800" dirty="0"/>
          </a:p>
        </p:txBody>
      </p:sp>
      <p:sp>
        <p:nvSpPr>
          <p:cNvPr id="52" name="Text 50"/>
          <p:cNvSpPr/>
          <p:nvPr/>
        </p:nvSpPr>
        <p:spPr>
          <a:xfrm>
            <a:off x="9436259" y="4428172"/>
            <a:ext cx="1838166" cy="297180"/>
          </a:xfrm>
          <a:prstGeom prst="rect">
            <a:avLst/>
          </a:prstGeom>
          <a:noFill/>
          <a:ln/>
        </p:spPr>
        <p:txBody>
          <a:bodyPr wrap="square" lIns="25400" tIns="25400" rIns="25400" bIns="25400" rtlCol="0" anchor="t">
            <a:normAutofit/>
          </a:bodyPr>
          <a:lstStyle/>
          <a:p>
            <a:pPr algn="ctr" indent="0" marL="0">
              <a:buNone/>
            </a:pPr>
            <a:r>
              <a:rPr lang="en-US" sz="1800" dirty="0">
                <a:solidFill>
                  <a:srgbClr val="16140F"/>
                </a:solidFill>
                <a:latin typeface="Arial" pitchFamily="34" charset="0"/>
                <a:ea typeface="Arial" pitchFamily="34" charset="-122"/>
                <a:cs typeface="Arial" pitchFamily="34" charset="-120"/>
              </a:rPr>
              <a:t>4</a:t>
            </a:r>
            <a:endParaRPr lang="en-US" sz="1800" dirty="0"/>
          </a:p>
        </p:txBody>
      </p:sp>
      <p:sp>
        <p:nvSpPr>
          <p:cNvPr id="53" name="Text 51"/>
          <p:cNvSpPr/>
          <p:nvPr/>
        </p:nvSpPr>
        <p:spPr>
          <a:xfrm>
            <a:off x="11198225" y="4428172"/>
            <a:ext cx="1838166" cy="297180"/>
          </a:xfrm>
          <a:prstGeom prst="rect">
            <a:avLst/>
          </a:prstGeom>
          <a:noFill/>
          <a:ln/>
        </p:spPr>
        <p:txBody>
          <a:bodyPr wrap="square" lIns="25400" tIns="25400" rIns="25400" bIns="25400" rtlCol="0" anchor="t">
            <a:normAutofit/>
          </a:bodyPr>
          <a:lstStyle/>
          <a:p>
            <a:pPr algn="ctr" indent="0" marL="0">
              <a:buNone/>
            </a:pPr>
            <a:r>
              <a:rPr lang="en-US" sz="1800" dirty="0">
                <a:solidFill>
                  <a:srgbClr val="16140F"/>
                </a:solidFill>
                <a:latin typeface="Arial" pitchFamily="34" charset="0"/>
                <a:ea typeface="Arial" pitchFamily="34" charset="-122"/>
                <a:cs typeface="Arial" pitchFamily="34" charset="-120"/>
              </a:rPr>
              <a:t>4</a:t>
            </a:r>
            <a:endParaRPr lang="en-US" sz="1800" dirty="0"/>
          </a:p>
        </p:txBody>
      </p:sp>
      <p:sp>
        <p:nvSpPr>
          <p:cNvPr id="54" name="Text 52"/>
          <p:cNvSpPr/>
          <p:nvPr/>
        </p:nvSpPr>
        <p:spPr>
          <a:xfrm>
            <a:off x="12960191" y="4428172"/>
            <a:ext cx="1838166" cy="297180"/>
          </a:xfrm>
          <a:prstGeom prst="rect">
            <a:avLst/>
          </a:prstGeom>
          <a:noFill/>
          <a:ln/>
        </p:spPr>
        <p:txBody>
          <a:bodyPr wrap="square" lIns="25400" tIns="25400" rIns="25400" bIns="25400" rtlCol="0" anchor="t">
            <a:normAutofit/>
          </a:bodyPr>
          <a:lstStyle/>
          <a:p>
            <a:pPr algn="ctr" indent="0" marL="0">
              <a:buNone/>
            </a:pPr>
            <a:r>
              <a:rPr lang="en-US" sz="1800" dirty="0">
                <a:solidFill>
                  <a:srgbClr val="16140F"/>
                </a:solidFill>
                <a:latin typeface="Arial" pitchFamily="34" charset="0"/>
                <a:ea typeface="Arial" pitchFamily="34" charset="-122"/>
                <a:cs typeface="Arial" pitchFamily="34" charset="-120"/>
              </a:rPr>
              <a:t>4</a:t>
            </a:r>
            <a:endParaRPr lang="en-US" sz="1800" dirty="0"/>
          </a:p>
        </p:txBody>
      </p:sp>
      <p:sp>
        <p:nvSpPr>
          <p:cNvPr id="55" name="Text 53"/>
          <p:cNvSpPr/>
          <p:nvPr/>
        </p:nvSpPr>
        <p:spPr>
          <a:xfrm>
            <a:off x="14684057" y="4405313"/>
            <a:ext cx="2498884" cy="342900"/>
          </a:xfrm>
          <a:prstGeom prst="rect">
            <a:avLst/>
          </a:prstGeom>
          <a:noFill/>
          <a:ln/>
        </p:spPr>
        <p:txBody>
          <a:bodyPr wrap="square" lIns="25400" tIns="25400" rIns="25400" bIns="25400" rtlCol="0" anchor="t">
            <a:normAutofit/>
          </a:bodyPr>
          <a:lstStyle/>
          <a:p>
            <a:pPr algn="r" indent="0" marL="0">
              <a:buNone/>
            </a:pPr>
            <a:r>
              <a:rPr lang="en-US" sz="1800" b="1" dirty="0">
                <a:solidFill>
                  <a:srgbClr val="C2410C"/>
                </a:solidFill>
                <a:latin typeface="Arial" pitchFamily="34" charset="0"/>
                <a:ea typeface="Arial" pitchFamily="34" charset="-122"/>
                <a:cs typeface="Arial" pitchFamily="34" charset="-120"/>
              </a:rPr>
              <a:t>4.00</a:t>
            </a:r>
            <a:endParaRPr lang="en-US" sz="1800" dirty="0"/>
          </a:p>
        </p:txBody>
      </p:sp>
      <p:sp>
        <p:nvSpPr>
          <p:cNvPr id="56" name="Shape 54"/>
          <p:cNvSpPr/>
          <p:nvPr/>
        </p:nvSpPr>
        <p:spPr>
          <a:xfrm>
            <a:off x="952500" y="4767263"/>
            <a:ext cx="16383000" cy="396240"/>
          </a:xfrm>
          <a:prstGeom prst="rect">
            <a:avLst/>
          </a:prstGeom>
          <a:solidFill>
            <a:srgbClr val="E9E3D5"/>
          </a:solidFill>
          <a:ln/>
        </p:spPr>
      </p:sp>
      <p:sp>
        <p:nvSpPr>
          <p:cNvPr id="57" name="Shape 55"/>
          <p:cNvSpPr/>
          <p:nvPr/>
        </p:nvSpPr>
        <p:spPr>
          <a:xfrm>
            <a:off x="952500" y="5155883"/>
            <a:ext cx="16383000" cy="9525"/>
          </a:xfrm>
          <a:prstGeom prst="rect">
            <a:avLst/>
          </a:prstGeom>
          <a:solidFill>
            <a:srgbClr val="CDC6B6"/>
          </a:solidFill>
          <a:ln/>
        </p:spPr>
      </p:sp>
      <p:sp>
        <p:nvSpPr>
          <p:cNvPr id="58" name="Text 56"/>
          <p:cNvSpPr/>
          <p:nvPr/>
        </p:nvSpPr>
        <p:spPr>
          <a:xfrm>
            <a:off x="1104900" y="4805363"/>
            <a:ext cx="4990892" cy="350520"/>
          </a:xfrm>
          <a:prstGeom prst="rect">
            <a:avLst/>
          </a:prstGeom>
          <a:noFill/>
          <a:ln/>
        </p:spPr>
        <p:txBody>
          <a:bodyPr wrap="square" lIns="25400" tIns="25400" rIns="25400" bIns="25400" rtlCol="0" anchor="t">
            <a:normAutofit/>
          </a:bodyPr>
          <a:lstStyle/>
          <a:p>
            <a:pPr algn="l" indent="0" marL="0">
              <a:buNone/>
            </a:pPr>
            <a:r>
              <a:rPr lang="en-US" sz="2100" dirty="0">
                <a:solidFill>
                  <a:srgbClr val="16140F"/>
                </a:solidFill>
                <a:latin typeface="Arial" pitchFamily="34" charset="0"/>
                <a:ea typeface="Arial" pitchFamily="34" charset="-122"/>
                <a:cs typeface="Arial" pitchFamily="34" charset="-120"/>
              </a:rPr>
              <a:t>Python</a:t>
            </a:r>
            <a:endParaRPr lang="en-US" sz="2100" dirty="0"/>
          </a:p>
        </p:txBody>
      </p:sp>
      <p:sp>
        <p:nvSpPr>
          <p:cNvPr id="59" name="Text 57"/>
          <p:cNvSpPr/>
          <p:nvPr/>
        </p:nvSpPr>
        <p:spPr>
          <a:xfrm>
            <a:off x="5912326" y="4832032"/>
            <a:ext cx="1838166" cy="297180"/>
          </a:xfrm>
          <a:prstGeom prst="rect">
            <a:avLst/>
          </a:prstGeom>
          <a:noFill/>
          <a:ln/>
        </p:spPr>
        <p:txBody>
          <a:bodyPr wrap="square" lIns="25400" tIns="25400" rIns="25400" bIns="25400" rtlCol="0" anchor="t">
            <a:normAutofit/>
          </a:bodyPr>
          <a:lstStyle/>
          <a:p>
            <a:pPr algn="ctr" indent="0" marL="0">
              <a:buNone/>
            </a:pPr>
            <a:r>
              <a:rPr lang="en-US" sz="1800" dirty="0">
                <a:solidFill>
                  <a:srgbClr val="16140F"/>
                </a:solidFill>
                <a:latin typeface="Arial" pitchFamily="34" charset="0"/>
                <a:ea typeface="Arial" pitchFamily="34" charset="-122"/>
                <a:cs typeface="Arial" pitchFamily="34" charset="-120"/>
              </a:rPr>
              <a:t>4</a:t>
            </a:r>
            <a:endParaRPr lang="en-US" sz="1800" dirty="0"/>
          </a:p>
        </p:txBody>
      </p:sp>
      <p:sp>
        <p:nvSpPr>
          <p:cNvPr id="60" name="Text 58"/>
          <p:cNvSpPr/>
          <p:nvPr/>
        </p:nvSpPr>
        <p:spPr>
          <a:xfrm>
            <a:off x="7674293" y="4832032"/>
            <a:ext cx="1838166" cy="297180"/>
          </a:xfrm>
          <a:prstGeom prst="rect">
            <a:avLst/>
          </a:prstGeom>
          <a:noFill/>
          <a:ln/>
        </p:spPr>
        <p:txBody>
          <a:bodyPr wrap="square" lIns="25400" tIns="25400" rIns="25400" bIns="25400" rtlCol="0" anchor="t">
            <a:normAutofit/>
          </a:bodyPr>
          <a:lstStyle/>
          <a:p>
            <a:pPr algn="ctr" indent="0" marL="0">
              <a:buNone/>
            </a:pPr>
            <a:r>
              <a:rPr lang="en-US" sz="1800" dirty="0">
                <a:solidFill>
                  <a:srgbClr val="16140F"/>
                </a:solidFill>
                <a:latin typeface="Arial" pitchFamily="34" charset="0"/>
                <a:ea typeface="Arial" pitchFamily="34" charset="-122"/>
                <a:cs typeface="Arial" pitchFamily="34" charset="-120"/>
              </a:rPr>
              <a:t>3</a:t>
            </a:r>
            <a:endParaRPr lang="en-US" sz="1800" dirty="0"/>
          </a:p>
        </p:txBody>
      </p:sp>
      <p:sp>
        <p:nvSpPr>
          <p:cNvPr id="61" name="Text 59"/>
          <p:cNvSpPr/>
          <p:nvPr/>
        </p:nvSpPr>
        <p:spPr>
          <a:xfrm>
            <a:off x="9436259" y="4832032"/>
            <a:ext cx="1838166" cy="297180"/>
          </a:xfrm>
          <a:prstGeom prst="rect">
            <a:avLst/>
          </a:prstGeom>
          <a:noFill/>
          <a:ln/>
        </p:spPr>
        <p:txBody>
          <a:bodyPr wrap="square" lIns="25400" tIns="25400" rIns="25400" bIns="25400" rtlCol="0" anchor="t">
            <a:normAutofit/>
          </a:bodyPr>
          <a:lstStyle/>
          <a:p>
            <a:pPr algn="ctr" indent="0" marL="0">
              <a:buNone/>
            </a:pPr>
            <a:r>
              <a:rPr lang="en-US" sz="1800" dirty="0">
                <a:solidFill>
                  <a:srgbClr val="16140F"/>
                </a:solidFill>
                <a:latin typeface="Arial" pitchFamily="34" charset="0"/>
                <a:ea typeface="Arial" pitchFamily="34" charset="-122"/>
                <a:cs typeface="Arial" pitchFamily="34" charset="-120"/>
              </a:rPr>
              <a:t>4</a:t>
            </a:r>
            <a:endParaRPr lang="en-US" sz="1800" dirty="0"/>
          </a:p>
        </p:txBody>
      </p:sp>
      <p:sp>
        <p:nvSpPr>
          <p:cNvPr id="62" name="Text 60"/>
          <p:cNvSpPr/>
          <p:nvPr/>
        </p:nvSpPr>
        <p:spPr>
          <a:xfrm>
            <a:off x="11198225" y="4809172"/>
            <a:ext cx="1838166" cy="342900"/>
          </a:xfrm>
          <a:prstGeom prst="rect">
            <a:avLst/>
          </a:prstGeom>
          <a:noFill/>
          <a:ln/>
        </p:spPr>
        <p:txBody>
          <a:bodyPr wrap="square" lIns="25400" tIns="25400" rIns="25400" bIns="25400" rtlCol="0" anchor="t">
            <a:normAutofit/>
          </a:bodyPr>
          <a:lstStyle/>
          <a:p>
            <a:pPr algn="ctr" indent="0" marL="0">
              <a:buNone/>
            </a:pPr>
            <a:r>
              <a:rPr lang="en-US" sz="1800" b="1" dirty="0">
                <a:solidFill>
                  <a:srgbClr val="C2410C"/>
                </a:solidFill>
                <a:latin typeface="Arial" pitchFamily="34" charset="0"/>
                <a:ea typeface="Arial" pitchFamily="34" charset="-122"/>
                <a:cs typeface="Arial" pitchFamily="34" charset="-120"/>
              </a:rPr>
              <a:t>5</a:t>
            </a:r>
            <a:endParaRPr lang="en-US" sz="1800" dirty="0"/>
          </a:p>
        </p:txBody>
      </p:sp>
      <p:sp>
        <p:nvSpPr>
          <p:cNvPr id="63" name="Text 61"/>
          <p:cNvSpPr/>
          <p:nvPr/>
        </p:nvSpPr>
        <p:spPr>
          <a:xfrm>
            <a:off x="12960191" y="4832032"/>
            <a:ext cx="1838166" cy="297180"/>
          </a:xfrm>
          <a:prstGeom prst="rect">
            <a:avLst/>
          </a:prstGeom>
          <a:noFill/>
          <a:ln/>
        </p:spPr>
        <p:txBody>
          <a:bodyPr wrap="square" lIns="25400" tIns="25400" rIns="25400" bIns="25400" rtlCol="0" anchor="t">
            <a:normAutofit/>
          </a:bodyPr>
          <a:lstStyle/>
          <a:p>
            <a:pPr algn="ctr" indent="0" marL="0">
              <a:buNone/>
            </a:pPr>
            <a:r>
              <a:rPr lang="en-US" sz="1800" dirty="0">
                <a:solidFill>
                  <a:srgbClr val="16140F"/>
                </a:solidFill>
                <a:latin typeface="Arial" pitchFamily="34" charset="0"/>
                <a:ea typeface="Arial" pitchFamily="34" charset="-122"/>
                <a:cs typeface="Arial" pitchFamily="34" charset="-120"/>
              </a:rPr>
              <a:t>4</a:t>
            </a:r>
            <a:endParaRPr lang="en-US" sz="1800" dirty="0"/>
          </a:p>
        </p:txBody>
      </p:sp>
      <p:sp>
        <p:nvSpPr>
          <p:cNvPr id="64" name="Text 62"/>
          <p:cNvSpPr/>
          <p:nvPr/>
        </p:nvSpPr>
        <p:spPr>
          <a:xfrm>
            <a:off x="14684057" y="4809172"/>
            <a:ext cx="2498884" cy="342900"/>
          </a:xfrm>
          <a:prstGeom prst="rect">
            <a:avLst/>
          </a:prstGeom>
          <a:noFill/>
          <a:ln/>
        </p:spPr>
        <p:txBody>
          <a:bodyPr wrap="square" lIns="25400" tIns="25400" rIns="25400" bIns="25400" rtlCol="0" anchor="t">
            <a:normAutofit/>
          </a:bodyPr>
          <a:lstStyle/>
          <a:p>
            <a:pPr algn="r" indent="0" marL="0">
              <a:buNone/>
            </a:pPr>
            <a:r>
              <a:rPr lang="en-US" sz="1800" b="1" dirty="0">
                <a:solidFill>
                  <a:srgbClr val="16140F"/>
                </a:solidFill>
                <a:latin typeface="Arial" pitchFamily="34" charset="0"/>
                <a:ea typeface="Arial" pitchFamily="34" charset="-122"/>
                <a:cs typeface="Arial" pitchFamily="34" charset="-120"/>
              </a:rPr>
              <a:t>3.95</a:t>
            </a:r>
            <a:endParaRPr lang="en-US" sz="1800" dirty="0"/>
          </a:p>
        </p:txBody>
      </p:sp>
      <p:sp>
        <p:nvSpPr>
          <p:cNvPr id="65" name="Shape 63"/>
          <p:cNvSpPr/>
          <p:nvPr/>
        </p:nvSpPr>
        <p:spPr>
          <a:xfrm>
            <a:off x="952500" y="5552122"/>
            <a:ext cx="16383000" cy="9525"/>
          </a:xfrm>
          <a:prstGeom prst="rect">
            <a:avLst/>
          </a:prstGeom>
          <a:solidFill>
            <a:srgbClr val="CDC6B6"/>
          </a:solidFill>
          <a:ln/>
        </p:spPr>
      </p:sp>
      <p:sp>
        <p:nvSpPr>
          <p:cNvPr id="66" name="Text 64"/>
          <p:cNvSpPr/>
          <p:nvPr/>
        </p:nvSpPr>
        <p:spPr>
          <a:xfrm>
            <a:off x="1104900" y="5201602"/>
            <a:ext cx="4990892" cy="350520"/>
          </a:xfrm>
          <a:prstGeom prst="rect">
            <a:avLst/>
          </a:prstGeom>
          <a:noFill/>
          <a:ln/>
        </p:spPr>
        <p:txBody>
          <a:bodyPr wrap="square" lIns="25400" tIns="25400" rIns="25400" bIns="25400" rtlCol="0" anchor="t">
            <a:normAutofit/>
          </a:bodyPr>
          <a:lstStyle/>
          <a:p>
            <a:pPr algn="l" indent="0" marL="0">
              <a:buNone/>
            </a:pPr>
            <a:r>
              <a:rPr lang="en-US" sz="2100" dirty="0">
                <a:solidFill>
                  <a:srgbClr val="16140F"/>
                </a:solidFill>
                <a:latin typeface="Arial" pitchFamily="34" charset="0"/>
                <a:ea typeface="Arial" pitchFamily="34" charset="-122"/>
                <a:cs typeface="Arial" pitchFamily="34" charset="-120"/>
              </a:rPr>
              <a:t>Swift</a:t>
            </a:r>
            <a:endParaRPr lang="en-US" sz="2100" dirty="0"/>
          </a:p>
        </p:txBody>
      </p:sp>
      <p:sp>
        <p:nvSpPr>
          <p:cNvPr id="67" name="Text 65"/>
          <p:cNvSpPr/>
          <p:nvPr/>
        </p:nvSpPr>
        <p:spPr>
          <a:xfrm>
            <a:off x="5912326" y="5228273"/>
            <a:ext cx="1838166" cy="297180"/>
          </a:xfrm>
          <a:prstGeom prst="rect">
            <a:avLst/>
          </a:prstGeom>
          <a:noFill/>
          <a:ln/>
        </p:spPr>
        <p:txBody>
          <a:bodyPr wrap="square" lIns="25400" tIns="25400" rIns="25400" bIns="25400" rtlCol="0" anchor="t">
            <a:normAutofit/>
          </a:bodyPr>
          <a:lstStyle/>
          <a:p>
            <a:pPr algn="ctr" indent="0" marL="0">
              <a:buNone/>
            </a:pPr>
            <a:r>
              <a:rPr lang="en-US" sz="1800" dirty="0">
                <a:solidFill>
                  <a:srgbClr val="16140F"/>
                </a:solidFill>
                <a:latin typeface="Arial" pitchFamily="34" charset="0"/>
                <a:ea typeface="Arial" pitchFamily="34" charset="-122"/>
                <a:cs typeface="Arial" pitchFamily="34" charset="-120"/>
              </a:rPr>
              <a:t>4</a:t>
            </a:r>
            <a:endParaRPr lang="en-US" sz="1800" dirty="0"/>
          </a:p>
        </p:txBody>
      </p:sp>
      <p:sp>
        <p:nvSpPr>
          <p:cNvPr id="68" name="Text 66"/>
          <p:cNvSpPr/>
          <p:nvPr/>
        </p:nvSpPr>
        <p:spPr>
          <a:xfrm>
            <a:off x="7674293" y="5228273"/>
            <a:ext cx="1838166" cy="297180"/>
          </a:xfrm>
          <a:prstGeom prst="rect">
            <a:avLst/>
          </a:prstGeom>
          <a:noFill/>
          <a:ln/>
        </p:spPr>
        <p:txBody>
          <a:bodyPr wrap="square" lIns="25400" tIns="25400" rIns="25400" bIns="25400" rtlCol="0" anchor="t">
            <a:normAutofit/>
          </a:bodyPr>
          <a:lstStyle/>
          <a:p>
            <a:pPr algn="ctr" indent="0" marL="0">
              <a:buNone/>
            </a:pPr>
            <a:r>
              <a:rPr lang="en-US" sz="1800" dirty="0">
                <a:solidFill>
                  <a:srgbClr val="16140F"/>
                </a:solidFill>
                <a:latin typeface="Arial" pitchFamily="34" charset="0"/>
                <a:ea typeface="Arial" pitchFamily="34" charset="-122"/>
                <a:cs typeface="Arial" pitchFamily="34" charset="-120"/>
              </a:rPr>
              <a:t>4</a:t>
            </a:r>
            <a:endParaRPr lang="en-US" sz="1800" dirty="0"/>
          </a:p>
        </p:txBody>
      </p:sp>
      <p:sp>
        <p:nvSpPr>
          <p:cNvPr id="69" name="Text 67"/>
          <p:cNvSpPr/>
          <p:nvPr/>
        </p:nvSpPr>
        <p:spPr>
          <a:xfrm>
            <a:off x="9436259" y="5228273"/>
            <a:ext cx="1838166" cy="297180"/>
          </a:xfrm>
          <a:prstGeom prst="rect">
            <a:avLst/>
          </a:prstGeom>
          <a:noFill/>
          <a:ln/>
        </p:spPr>
        <p:txBody>
          <a:bodyPr wrap="square" lIns="25400" tIns="25400" rIns="25400" bIns="25400" rtlCol="0" anchor="t">
            <a:normAutofit/>
          </a:bodyPr>
          <a:lstStyle/>
          <a:p>
            <a:pPr algn="ctr" indent="0" marL="0">
              <a:buNone/>
            </a:pPr>
            <a:r>
              <a:rPr lang="en-US" sz="1800" dirty="0">
                <a:solidFill>
                  <a:srgbClr val="16140F"/>
                </a:solidFill>
                <a:latin typeface="Arial" pitchFamily="34" charset="0"/>
                <a:ea typeface="Arial" pitchFamily="34" charset="-122"/>
                <a:cs typeface="Arial" pitchFamily="34" charset="-120"/>
              </a:rPr>
              <a:t>3</a:t>
            </a:r>
            <a:endParaRPr lang="en-US" sz="1800" dirty="0"/>
          </a:p>
        </p:txBody>
      </p:sp>
      <p:sp>
        <p:nvSpPr>
          <p:cNvPr id="70" name="Text 68"/>
          <p:cNvSpPr/>
          <p:nvPr/>
        </p:nvSpPr>
        <p:spPr>
          <a:xfrm>
            <a:off x="11198225" y="5228273"/>
            <a:ext cx="1838166" cy="297180"/>
          </a:xfrm>
          <a:prstGeom prst="rect">
            <a:avLst/>
          </a:prstGeom>
          <a:noFill/>
          <a:ln/>
        </p:spPr>
        <p:txBody>
          <a:bodyPr wrap="square" lIns="25400" tIns="25400" rIns="25400" bIns="25400" rtlCol="0" anchor="t">
            <a:normAutofit/>
          </a:bodyPr>
          <a:lstStyle/>
          <a:p>
            <a:pPr algn="ctr" indent="0" marL="0">
              <a:buNone/>
            </a:pPr>
            <a:r>
              <a:rPr lang="en-US" sz="1800" dirty="0">
                <a:solidFill>
                  <a:srgbClr val="16140F"/>
                </a:solidFill>
                <a:latin typeface="Arial" pitchFamily="34" charset="0"/>
                <a:ea typeface="Arial" pitchFamily="34" charset="-122"/>
                <a:cs typeface="Arial" pitchFamily="34" charset="-120"/>
              </a:rPr>
              <a:t>4</a:t>
            </a:r>
            <a:endParaRPr lang="en-US" sz="1800" dirty="0"/>
          </a:p>
        </p:txBody>
      </p:sp>
      <p:sp>
        <p:nvSpPr>
          <p:cNvPr id="71" name="Text 69"/>
          <p:cNvSpPr/>
          <p:nvPr/>
        </p:nvSpPr>
        <p:spPr>
          <a:xfrm>
            <a:off x="12960191" y="5228273"/>
            <a:ext cx="1838166" cy="297180"/>
          </a:xfrm>
          <a:prstGeom prst="rect">
            <a:avLst/>
          </a:prstGeom>
          <a:noFill/>
          <a:ln/>
        </p:spPr>
        <p:txBody>
          <a:bodyPr wrap="square" lIns="25400" tIns="25400" rIns="25400" bIns="25400" rtlCol="0" anchor="t">
            <a:normAutofit/>
          </a:bodyPr>
          <a:lstStyle/>
          <a:p>
            <a:pPr algn="ctr" indent="0" marL="0">
              <a:buNone/>
            </a:pPr>
            <a:r>
              <a:rPr lang="en-US" sz="1800" dirty="0">
                <a:solidFill>
                  <a:srgbClr val="16140F"/>
                </a:solidFill>
                <a:latin typeface="Arial" pitchFamily="34" charset="0"/>
                <a:ea typeface="Arial" pitchFamily="34" charset="-122"/>
                <a:cs typeface="Arial" pitchFamily="34" charset="-120"/>
              </a:rPr>
              <a:t>3</a:t>
            </a:r>
            <a:endParaRPr lang="en-US" sz="1800" dirty="0"/>
          </a:p>
        </p:txBody>
      </p:sp>
      <p:sp>
        <p:nvSpPr>
          <p:cNvPr id="72" name="Text 70"/>
          <p:cNvSpPr/>
          <p:nvPr/>
        </p:nvSpPr>
        <p:spPr>
          <a:xfrm>
            <a:off x="14684057" y="5205413"/>
            <a:ext cx="2498884" cy="342900"/>
          </a:xfrm>
          <a:prstGeom prst="rect">
            <a:avLst/>
          </a:prstGeom>
          <a:noFill/>
          <a:ln/>
        </p:spPr>
        <p:txBody>
          <a:bodyPr wrap="square" lIns="25400" tIns="25400" rIns="25400" bIns="25400" rtlCol="0" anchor="t">
            <a:normAutofit/>
          </a:bodyPr>
          <a:lstStyle/>
          <a:p>
            <a:pPr algn="r" indent="0" marL="0">
              <a:buNone/>
            </a:pPr>
            <a:r>
              <a:rPr lang="en-US" sz="1800" b="1" dirty="0">
                <a:solidFill>
                  <a:srgbClr val="16140F"/>
                </a:solidFill>
                <a:latin typeface="Arial" pitchFamily="34" charset="0"/>
                <a:ea typeface="Arial" pitchFamily="34" charset="-122"/>
                <a:cs typeface="Arial" pitchFamily="34" charset="-120"/>
              </a:rPr>
              <a:t>3.65</a:t>
            </a:r>
            <a:endParaRPr lang="en-US" sz="1800" dirty="0"/>
          </a:p>
        </p:txBody>
      </p:sp>
      <p:sp>
        <p:nvSpPr>
          <p:cNvPr id="73" name="Shape 71"/>
          <p:cNvSpPr/>
          <p:nvPr/>
        </p:nvSpPr>
        <p:spPr>
          <a:xfrm>
            <a:off x="952500" y="5559743"/>
            <a:ext cx="16383000" cy="396240"/>
          </a:xfrm>
          <a:prstGeom prst="rect">
            <a:avLst/>
          </a:prstGeom>
          <a:solidFill>
            <a:srgbClr val="E9E3D5"/>
          </a:solidFill>
          <a:ln/>
        </p:spPr>
      </p:sp>
      <p:sp>
        <p:nvSpPr>
          <p:cNvPr id="74" name="Shape 72"/>
          <p:cNvSpPr/>
          <p:nvPr/>
        </p:nvSpPr>
        <p:spPr>
          <a:xfrm>
            <a:off x="952500" y="5948363"/>
            <a:ext cx="16383000" cy="9525"/>
          </a:xfrm>
          <a:prstGeom prst="rect">
            <a:avLst/>
          </a:prstGeom>
          <a:solidFill>
            <a:srgbClr val="CDC6B6"/>
          </a:solidFill>
          <a:ln/>
        </p:spPr>
      </p:sp>
      <p:sp>
        <p:nvSpPr>
          <p:cNvPr id="75" name="Text 73"/>
          <p:cNvSpPr/>
          <p:nvPr/>
        </p:nvSpPr>
        <p:spPr>
          <a:xfrm>
            <a:off x="1104900" y="5597843"/>
            <a:ext cx="4990892" cy="350520"/>
          </a:xfrm>
          <a:prstGeom prst="rect">
            <a:avLst/>
          </a:prstGeom>
          <a:noFill/>
          <a:ln/>
        </p:spPr>
        <p:txBody>
          <a:bodyPr wrap="square" lIns="25400" tIns="25400" rIns="25400" bIns="25400" rtlCol="0" anchor="t">
            <a:normAutofit/>
          </a:bodyPr>
          <a:lstStyle/>
          <a:p>
            <a:pPr algn="l" indent="0" marL="0">
              <a:buNone/>
            </a:pPr>
            <a:r>
              <a:rPr lang="en-US" sz="2100" dirty="0">
                <a:solidFill>
                  <a:srgbClr val="16140F"/>
                </a:solidFill>
                <a:latin typeface="Arial" pitchFamily="34" charset="0"/>
                <a:ea typeface="Arial" pitchFamily="34" charset="-122"/>
                <a:cs typeface="Arial" pitchFamily="34" charset="-120"/>
              </a:rPr>
              <a:t>Java</a:t>
            </a:r>
            <a:endParaRPr lang="en-US" sz="2100" dirty="0"/>
          </a:p>
        </p:txBody>
      </p:sp>
      <p:sp>
        <p:nvSpPr>
          <p:cNvPr id="76" name="Text 74"/>
          <p:cNvSpPr/>
          <p:nvPr/>
        </p:nvSpPr>
        <p:spPr>
          <a:xfrm>
            <a:off x="5912326" y="5624513"/>
            <a:ext cx="1838166" cy="297180"/>
          </a:xfrm>
          <a:prstGeom prst="rect">
            <a:avLst/>
          </a:prstGeom>
          <a:noFill/>
          <a:ln/>
        </p:spPr>
        <p:txBody>
          <a:bodyPr wrap="square" lIns="25400" tIns="25400" rIns="25400" bIns="25400" rtlCol="0" anchor="t">
            <a:normAutofit/>
          </a:bodyPr>
          <a:lstStyle/>
          <a:p>
            <a:pPr algn="ctr" indent="0" marL="0">
              <a:buNone/>
            </a:pPr>
            <a:r>
              <a:rPr lang="en-US" sz="1800" dirty="0">
                <a:solidFill>
                  <a:srgbClr val="16140F"/>
                </a:solidFill>
                <a:latin typeface="Arial" pitchFamily="34" charset="0"/>
                <a:ea typeface="Arial" pitchFamily="34" charset="-122"/>
                <a:cs typeface="Arial" pitchFamily="34" charset="-120"/>
              </a:rPr>
              <a:t>3</a:t>
            </a:r>
            <a:endParaRPr lang="en-US" sz="1800" dirty="0"/>
          </a:p>
        </p:txBody>
      </p:sp>
      <p:sp>
        <p:nvSpPr>
          <p:cNvPr id="77" name="Text 75"/>
          <p:cNvSpPr/>
          <p:nvPr/>
        </p:nvSpPr>
        <p:spPr>
          <a:xfrm>
            <a:off x="7674293" y="5624513"/>
            <a:ext cx="1838166" cy="297180"/>
          </a:xfrm>
          <a:prstGeom prst="rect">
            <a:avLst/>
          </a:prstGeom>
          <a:noFill/>
          <a:ln/>
        </p:spPr>
        <p:txBody>
          <a:bodyPr wrap="square" lIns="25400" tIns="25400" rIns="25400" bIns="25400" rtlCol="0" anchor="t">
            <a:normAutofit/>
          </a:bodyPr>
          <a:lstStyle/>
          <a:p>
            <a:pPr algn="ctr" indent="0" marL="0">
              <a:buNone/>
            </a:pPr>
            <a:r>
              <a:rPr lang="en-US" sz="1800" dirty="0">
                <a:solidFill>
                  <a:srgbClr val="16140F"/>
                </a:solidFill>
                <a:latin typeface="Arial" pitchFamily="34" charset="0"/>
                <a:ea typeface="Arial" pitchFamily="34" charset="-122"/>
                <a:cs typeface="Arial" pitchFamily="34" charset="-120"/>
              </a:rPr>
              <a:t>4</a:t>
            </a:r>
            <a:endParaRPr lang="en-US" sz="1800" dirty="0"/>
          </a:p>
        </p:txBody>
      </p:sp>
      <p:sp>
        <p:nvSpPr>
          <p:cNvPr id="78" name="Text 76"/>
          <p:cNvSpPr/>
          <p:nvPr/>
        </p:nvSpPr>
        <p:spPr>
          <a:xfrm>
            <a:off x="9436259" y="5624513"/>
            <a:ext cx="1838166" cy="297180"/>
          </a:xfrm>
          <a:prstGeom prst="rect">
            <a:avLst/>
          </a:prstGeom>
          <a:noFill/>
          <a:ln/>
        </p:spPr>
        <p:txBody>
          <a:bodyPr wrap="square" lIns="25400" tIns="25400" rIns="25400" bIns="25400" rtlCol="0" anchor="t">
            <a:normAutofit/>
          </a:bodyPr>
          <a:lstStyle/>
          <a:p>
            <a:pPr algn="ctr" indent="0" marL="0">
              <a:buNone/>
            </a:pPr>
            <a:r>
              <a:rPr lang="en-US" sz="1800" dirty="0">
                <a:solidFill>
                  <a:srgbClr val="16140F"/>
                </a:solidFill>
                <a:latin typeface="Arial" pitchFamily="34" charset="0"/>
                <a:ea typeface="Arial" pitchFamily="34" charset="-122"/>
                <a:cs typeface="Arial" pitchFamily="34" charset="-120"/>
              </a:rPr>
              <a:t>3</a:t>
            </a:r>
            <a:endParaRPr lang="en-US" sz="1800" dirty="0"/>
          </a:p>
        </p:txBody>
      </p:sp>
      <p:sp>
        <p:nvSpPr>
          <p:cNvPr id="79" name="Text 77"/>
          <p:cNvSpPr/>
          <p:nvPr/>
        </p:nvSpPr>
        <p:spPr>
          <a:xfrm>
            <a:off x="11198225" y="5624513"/>
            <a:ext cx="1838166" cy="297180"/>
          </a:xfrm>
          <a:prstGeom prst="rect">
            <a:avLst/>
          </a:prstGeom>
          <a:noFill/>
          <a:ln/>
        </p:spPr>
        <p:txBody>
          <a:bodyPr wrap="square" lIns="25400" tIns="25400" rIns="25400" bIns="25400" rtlCol="0" anchor="t">
            <a:normAutofit/>
          </a:bodyPr>
          <a:lstStyle/>
          <a:p>
            <a:pPr algn="ctr" indent="0" marL="0">
              <a:buNone/>
            </a:pPr>
            <a:r>
              <a:rPr lang="en-US" sz="1800" dirty="0">
                <a:solidFill>
                  <a:srgbClr val="16140F"/>
                </a:solidFill>
                <a:latin typeface="Arial" pitchFamily="34" charset="0"/>
                <a:ea typeface="Arial" pitchFamily="34" charset="-122"/>
                <a:cs typeface="Arial" pitchFamily="34" charset="-120"/>
              </a:rPr>
              <a:t>4</a:t>
            </a:r>
            <a:endParaRPr lang="en-US" sz="1800" dirty="0"/>
          </a:p>
        </p:txBody>
      </p:sp>
      <p:sp>
        <p:nvSpPr>
          <p:cNvPr id="80" name="Text 78"/>
          <p:cNvSpPr/>
          <p:nvPr/>
        </p:nvSpPr>
        <p:spPr>
          <a:xfrm>
            <a:off x="12960191" y="5624513"/>
            <a:ext cx="1838166" cy="297180"/>
          </a:xfrm>
          <a:prstGeom prst="rect">
            <a:avLst/>
          </a:prstGeom>
          <a:noFill/>
          <a:ln/>
        </p:spPr>
        <p:txBody>
          <a:bodyPr wrap="square" lIns="25400" tIns="25400" rIns="25400" bIns="25400" rtlCol="0" anchor="t">
            <a:normAutofit/>
          </a:bodyPr>
          <a:lstStyle/>
          <a:p>
            <a:pPr algn="ctr" indent="0" marL="0">
              <a:buNone/>
            </a:pPr>
            <a:r>
              <a:rPr lang="en-US" sz="1800" dirty="0">
                <a:solidFill>
                  <a:srgbClr val="16140F"/>
                </a:solidFill>
                <a:latin typeface="Arial" pitchFamily="34" charset="0"/>
                <a:ea typeface="Arial" pitchFamily="34" charset="-122"/>
                <a:cs typeface="Arial" pitchFamily="34" charset="-120"/>
              </a:rPr>
              <a:t>3</a:t>
            </a:r>
            <a:endParaRPr lang="en-US" sz="1800" dirty="0"/>
          </a:p>
        </p:txBody>
      </p:sp>
      <p:sp>
        <p:nvSpPr>
          <p:cNvPr id="81" name="Text 79"/>
          <p:cNvSpPr/>
          <p:nvPr/>
        </p:nvSpPr>
        <p:spPr>
          <a:xfrm>
            <a:off x="14684057" y="5601652"/>
            <a:ext cx="2498884" cy="342900"/>
          </a:xfrm>
          <a:prstGeom prst="rect">
            <a:avLst/>
          </a:prstGeom>
          <a:noFill/>
          <a:ln/>
        </p:spPr>
        <p:txBody>
          <a:bodyPr wrap="square" lIns="25400" tIns="25400" rIns="25400" bIns="25400" rtlCol="0" anchor="t">
            <a:normAutofit/>
          </a:bodyPr>
          <a:lstStyle/>
          <a:p>
            <a:pPr algn="r" indent="0" marL="0">
              <a:buNone/>
            </a:pPr>
            <a:r>
              <a:rPr lang="en-US" sz="1800" b="1" dirty="0">
                <a:solidFill>
                  <a:srgbClr val="16140F"/>
                </a:solidFill>
                <a:latin typeface="Arial" pitchFamily="34" charset="0"/>
                <a:ea typeface="Arial" pitchFamily="34" charset="-122"/>
                <a:cs typeface="Arial" pitchFamily="34" charset="-120"/>
              </a:rPr>
              <a:t>3.45</a:t>
            </a:r>
            <a:endParaRPr lang="en-US" sz="1800" dirty="0"/>
          </a:p>
        </p:txBody>
      </p:sp>
      <p:sp>
        <p:nvSpPr>
          <p:cNvPr id="82" name="Shape 80"/>
          <p:cNvSpPr/>
          <p:nvPr/>
        </p:nvSpPr>
        <p:spPr>
          <a:xfrm>
            <a:off x="952500" y="6344602"/>
            <a:ext cx="16383000" cy="9525"/>
          </a:xfrm>
          <a:prstGeom prst="rect">
            <a:avLst/>
          </a:prstGeom>
          <a:solidFill>
            <a:srgbClr val="CDC6B6"/>
          </a:solidFill>
          <a:ln/>
        </p:spPr>
      </p:sp>
      <p:sp>
        <p:nvSpPr>
          <p:cNvPr id="83" name="Text 81"/>
          <p:cNvSpPr/>
          <p:nvPr/>
        </p:nvSpPr>
        <p:spPr>
          <a:xfrm>
            <a:off x="1104900" y="5994082"/>
            <a:ext cx="4990892" cy="350520"/>
          </a:xfrm>
          <a:prstGeom prst="rect">
            <a:avLst/>
          </a:prstGeom>
          <a:noFill/>
          <a:ln/>
        </p:spPr>
        <p:txBody>
          <a:bodyPr wrap="square" lIns="25400" tIns="25400" rIns="25400" bIns="25400" rtlCol="0" anchor="t">
            <a:normAutofit/>
          </a:bodyPr>
          <a:lstStyle/>
          <a:p>
            <a:pPr algn="l" indent="0" marL="0">
              <a:buNone/>
            </a:pPr>
            <a:r>
              <a:rPr lang="en-US" sz="2100" dirty="0">
                <a:solidFill>
                  <a:srgbClr val="16140F"/>
                </a:solidFill>
                <a:latin typeface="Arial" pitchFamily="34" charset="0"/>
                <a:ea typeface="Arial" pitchFamily="34" charset="-122"/>
                <a:cs typeface="Arial" pitchFamily="34" charset="-120"/>
              </a:rPr>
              <a:t>Zig</a:t>
            </a:r>
            <a:endParaRPr lang="en-US" sz="2100" dirty="0"/>
          </a:p>
        </p:txBody>
      </p:sp>
      <p:sp>
        <p:nvSpPr>
          <p:cNvPr id="84" name="Text 82"/>
          <p:cNvSpPr/>
          <p:nvPr/>
        </p:nvSpPr>
        <p:spPr>
          <a:xfrm>
            <a:off x="5912326" y="6020752"/>
            <a:ext cx="1838166" cy="297180"/>
          </a:xfrm>
          <a:prstGeom prst="rect">
            <a:avLst/>
          </a:prstGeom>
          <a:noFill/>
          <a:ln/>
        </p:spPr>
        <p:txBody>
          <a:bodyPr wrap="square" lIns="25400" tIns="25400" rIns="25400" bIns="25400" rtlCol="0" anchor="t">
            <a:normAutofit/>
          </a:bodyPr>
          <a:lstStyle/>
          <a:p>
            <a:pPr algn="ctr" indent="0" marL="0">
              <a:buNone/>
            </a:pPr>
            <a:r>
              <a:rPr lang="en-US" sz="1800" dirty="0">
                <a:solidFill>
                  <a:srgbClr val="16140F"/>
                </a:solidFill>
                <a:latin typeface="Arial" pitchFamily="34" charset="0"/>
                <a:ea typeface="Arial" pitchFamily="34" charset="-122"/>
                <a:cs typeface="Arial" pitchFamily="34" charset="-120"/>
              </a:rPr>
              <a:t>4</a:t>
            </a:r>
            <a:endParaRPr lang="en-US" sz="1800" dirty="0"/>
          </a:p>
        </p:txBody>
      </p:sp>
      <p:sp>
        <p:nvSpPr>
          <p:cNvPr id="85" name="Text 83"/>
          <p:cNvSpPr/>
          <p:nvPr/>
        </p:nvSpPr>
        <p:spPr>
          <a:xfrm>
            <a:off x="7674293" y="6020752"/>
            <a:ext cx="1838166" cy="297180"/>
          </a:xfrm>
          <a:prstGeom prst="rect">
            <a:avLst/>
          </a:prstGeom>
          <a:noFill/>
          <a:ln/>
        </p:spPr>
        <p:txBody>
          <a:bodyPr wrap="square" lIns="25400" tIns="25400" rIns="25400" bIns="25400" rtlCol="0" anchor="t">
            <a:normAutofit/>
          </a:bodyPr>
          <a:lstStyle/>
          <a:p>
            <a:pPr algn="ctr" indent="0" marL="0">
              <a:buNone/>
            </a:pPr>
            <a:r>
              <a:rPr lang="en-US" sz="1800" dirty="0">
                <a:solidFill>
                  <a:srgbClr val="16140F"/>
                </a:solidFill>
                <a:latin typeface="Arial" pitchFamily="34" charset="0"/>
                <a:ea typeface="Arial" pitchFamily="34" charset="-122"/>
                <a:cs typeface="Arial" pitchFamily="34" charset="-120"/>
              </a:rPr>
              <a:t>4</a:t>
            </a:r>
            <a:endParaRPr lang="en-US" sz="1800" dirty="0"/>
          </a:p>
        </p:txBody>
      </p:sp>
      <p:sp>
        <p:nvSpPr>
          <p:cNvPr id="86" name="Text 84"/>
          <p:cNvSpPr/>
          <p:nvPr/>
        </p:nvSpPr>
        <p:spPr>
          <a:xfrm>
            <a:off x="9436259" y="6020752"/>
            <a:ext cx="1838166" cy="297180"/>
          </a:xfrm>
          <a:prstGeom prst="rect">
            <a:avLst/>
          </a:prstGeom>
          <a:noFill/>
          <a:ln/>
        </p:spPr>
        <p:txBody>
          <a:bodyPr wrap="square" lIns="25400" tIns="25400" rIns="25400" bIns="25400" rtlCol="0" anchor="t">
            <a:normAutofit/>
          </a:bodyPr>
          <a:lstStyle/>
          <a:p>
            <a:pPr algn="ctr" indent="0" marL="0">
              <a:buNone/>
            </a:pPr>
            <a:r>
              <a:rPr lang="en-US" sz="1800" dirty="0">
                <a:solidFill>
                  <a:srgbClr val="16140F"/>
                </a:solidFill>
                <a:latin typeface="Arial" pitchFamily="34" charset="0"/>
                <a:ea typeface="Arial" pitchFamily="34" charset="-122"/>
                <a:cs typeface="Arial" pitchFamily="34" charset="-120"/>
              </a:rPr>
              <a:t>3</a:t>
            </a:r>
            <a:endParaRPr lang="en-US" sz="1800" dirty="0"/>
          </a:p>
        </p:txBody>
      </p:sp>
      <p:sp>
        <p:nvSpPr>
          <p:cNvPr id="87" name="Text 85"/>
          <p:cNvSpPr/>
          <p:nvPr/>
        </p:nvSpPr>
        <p:spPr>
          <a:xfrm>
            <a:off x="11198225" y="6020752"/>
            <a:ext cx="1838166" cy="297180"/>
          </a:xfrm>
          <a:prstGeom prst="rect">
            <a:avLst/>
          </a:prstGeom>
          <a:noFill/>
          <a:ln/>
        </p:spPr>
        <p:txBody>
          <a:bodyPr wrap="square" lIns="25400" tIns="25400" rIns="25400" bIns="25400" rtlCol="0" anchor="t">
            <a:normAutofit/>
          </a:bodyPr>
          <a:lstStyle/>
          <a:p>
            <a:pPr algn="ctr" indent="0" marL="0">
              <a:buNone/>
            </a:pPr>
            <a:r>
              <a:rPr lang="en-US" sz="1800" dirty="0">
                <a:solidFill>
                  <a:srgbClr val="16140F"/>
                </a:solidFill>
                <a:latin typeface="Arial" pitchFamily="34" charset="0"/>
                <a:ea typeface="Arial" pitchFamily="34" charset="-122"/>
                <a:cs typeface="Arial" pitchFamily="34" charset="-120"/>
              </a:rPr>
              <a:t>3</a:t>
            </a:r>
            <a:endParaRPr lang="en-US" sz="1800" dirty="0"/>
          </a:p>
        </p:txBody>
      </p:sp>
      <p:sp>
        <p:nvSpPr>
          <p:cNvPr id="88" name="Text 86"/>
          <p:cNvSpPr/>
          <p:nvPr/>
        </p:nvSpPr>
        <p:spPr>
          <a:xfrm>
            <a:off x="12960191" y="6020752"/>
            <a:ext cx="1838166" cy="297180"/>
          </a:xfrm>
          <a:prstGeom prst="rect">
            <a:avLst/>
          </a:prstGeom>
          <a:noFill/>
          <a:ln/>
        </p:spPr>
        <p:txBody>
          <a:bodyPr wrap="square" lIns="25400" tIns="25400" rIns="25400" bIns="25400" rtlCol="0" anchor="t">
            <a:normAutofit/>
          </a:bodyPr>
          <a:lstStyle/>
          <a:p>
            <a:pPr algn="ctr" indent="0" marL="0">
              <a:buNone/>
            </a:pPr>
            <a:r>
              <a:rPr lang="en-US" sz="1800" dirty="0">
                <a:solidFill>
                  <a:srgbClr val="16140F"/>
                </a:solidFill>
                <a:latin typeface="Arial" pitchFamily="34" charset="0"/>
                <a:ea typeface="Arial" pitchFamily="34" charset="-122"/>
                <a:cs typeface="Arial" pitchFamily="34" charset="-120"/>
              </a:rPr>
              <a:t>3</a:t>
            </a:r>
            <a:endParaRPr lang="en-US" sz="1800" dirty="0"/>
          </a:p>
        </p:txBody>
      </p:sp>
      <p:sp>
        <p:nvSpPr>
          <p:cNvPr id="89" name="Text 87"/>
          <p:cNvSpPr/>
          <p:nvPr/>
        </p:nvSpPr>
        <p:spPr>
          <a:xfrm>
            <a:off x="14684057" y="5997893"/>
            <a:ext cx="2498884" cy="342900"/>
          </a:xfrm>
          <a:prstGeom prst="rect">
            <a:avLst/>
          </a:prstGeom>
          <a:noFill/>
          <a:ln/>
        </p:spPr>
        <p:txBody>
          <a:bodyPr wrap="square" lIns="25400" tIns="25400" rIns="25400" bIns="25400" rtlCol="0" anchor="t">
            <a:normAutofit/>
          </a:bodyPr>
          <a:lstStyle/>
          <a:p>
            <a:pPr algn="r" indent="0" marL="0">
              <a:buNone/>
            </a:pPr>
            <a:r>
              <a:rPr lang="en-US" sz="1800" b="1" dirty="0">
                <a:solidFill>
                  <a:srgbClr val="16140F"/>
                </a:solidFill>
                <a:latin typeface="Arial" pitchFamily="34" charset="0"/>
                <a:ea typeface="Arial" pitchFamily="34" charset="-122"/>
                <a:cs typeface="Arial" pitchFamily="34" charset="-120"/>
              </a:rPr>
              <a:t>3.45</a:t>
            </a:r>
            <a:endParaRPr lang="en-US" sz="1800" dirty="0"/>
          </a:p>
        </p:txBody>
      </p:sp>
      <p:sp>
        <p:nvSpPr>
          <p:cNvPr id="90" name="Shape 88"/>
          <p:cNvSpPr/>
          <p:nvPr/>
        </p:nvSpPr>
        <p:spPr>
          <a:xfrm>
            <a:off x="952500" y="6352223"/>
            <a:ext cx="16383000" cy="396240"/>
          </a:xfrm>
          <a:prstGeom prst="rect">
            <a:avLst/>
          </a:prstGeom>
          <a:solidFill>
            <a:srgbClr val="E9E3D5"/>
          </a:solidFill>
          <a:ln/>
        </p:spPr>
      </p:sp>
      <p:sp>
        <p:nvSpPr>
          <p:cNvPr id="91" name="Shape 89"/>
          <p:cNvSpPr/>
          <p:nvPr/>
        </p:nvSpPr>
        <p:spPr>
          <a:xfrm>
            <a:off x="952500" y="6740843"/>
            <a:ext cx="16383000" cy="9525"/>
          </a:xfrm>
          <a:prstGeom prst="rect">
            <a:avLst/>
          </a:prstGeom>
          <a:solidFill>
            <a:srgbClr val="CDC6B6"/>
          </a:solidFill>
          <a:ln/>
        </p:spPr>
      </p:sp>
      <p:sp>
        <p:nvSpPr>
          <p:cNvPr id="92" name="Text 90"/>
          <p:cNvSpPr/>
          <p:nvPr/>
        </p:nvSpPr>
        <p:spPr>
          <a:xfrm>
            <a:off x="1104900" y="6390323"/>
            <a:ext cx="4990892" cy="350520"/>
          </a:xfrm>
          <a:prstGeom prst="rect">
            <a:avLst/>
          </a:prstGeom>
          <a:noFill/>
          <a:ln/>
        </p:spPr>
        <p:txBody>
          <a:bodyPr wrap="square" lIns="25400" tIns="25400" rIns="25400" bIns="25400" rtlCol="0" anchor="t">
            <a:normAutofit/>
          </a:bodyPr>
          <a:lstStyle/>
          <a:p>
            <a:pPr algn="l" indent="0" marL="0">
              <a:buNone/>
            </a:pPr>
            <a:r>
              <a:rPr lang="en-US" sz="2100" dirty="0">
                <a:solidFill>
                  <a:srgbClr val="16140F"/>
                </a:solidFill>
                <a:latin typeface="Arial" pitchFamily="34" charset="0"/>
                <a:ea typeface="Arial" pitchFamily="34" charset="-122"/>
                <a:cs typeface="Arial" pitchFamily="34" charset="-120"/>
              </a:rPr>
              <a:t>Elixir</a:t>
            </a:r>
            <a:endParaRPr lang="en-US" sz="2100" dirty="0"/>
          </a:p>
        </p:txBody>
      </p:sp>
      <p:sp>
        <p:nvSpPr>
          <p:cNvPr id="93" name="Text 91"/>
          <p:cNvSpPr/>
          <p:nvPr/>
        </p:nvSpPr>
        <p:spPr>
          <a:xfrm>
            <a:off x="5912326" y="6416993"/>
            <a:ext cx="1838166" cy="297180"/>
          </a:xfrm>
          <a:prstGeom prst="rect">
            <a:avLst/>
          </a:prstGeom>
          <a:noFill/>
          <a:ln/>
        </p:spPr>
        <p:txBody>
          <a:bodyPr wrap="square" lIns="25400" tIns="25400" rIns="25400" bIns="25400" rtlCol="0" anchor="t">
            <a:normAutofit/>
          </a:bodyPr>
          <a:lstStyle/>
          <a:p>
            <a:pPr algn="ctr" indent="0" marL="0">
              <a:buNone/>
            </a:pPr>
            <a:r>
              <a:rPr lang="en-US" sz="1800" dirty="0">
                <a:solidFill>
                  <a:srgbClr val="16140F"/>
                </a:solidFill>
                <a:latin typeface="Arial" pitchFamily="34" charset="0"/>
                <a:ea typeface="Arial" pitchFamily="34" charset="-122"/>
                <a:cs typeface="Arial" pitchFamily="34" charset="-120"/>
              </a:rPr>
              <a:t>4</a:t>
            </a:r>
            <a:endParaRPr lang="en-US" sz="1800" dirty="0"/>
          </a:p>
        </p:txBody>
      </p:sp>
      <p:sp>
        <p:nvSpPr>
          <p:cNvPr id="94" name="Text 92"/>
          <p:cNvSpPr/>
          <p:nvPr/>
        </p:nvSpPr>
        <p:spPr>
          <a:xfrm>
            <a:off x="7674293" y="6416993"/>
            <a:ext cx="1838166" cy="297180"/>
          </a:xfrm>
          <a:prstGeom prst="rect">
            <a:avLst/>
          </a:prstGeom>
          <a:noFill/>
          <a:ln/>
        </p:spPr>
        <p:txBody>
          <a:bodyPr wrap="square" lIns="25400" tIns="25400" rIns="25400" bIns="25400" rtlCol="0" anchor="t">
            <a:normAutofit/>
          </a:bodyPr>
          <a:lstStyle/>
          <a:p>
            <a:pPr algn="ctr" indent="0" marL="0">
              <a:buNone/>
            </a:pPr>
            <a:r>
              <a:rPr lang="en-US" sz="1800" dirty="0">
                <a:solidFill>
                  <a:srgbClr val="16140F"/>
                </a:solidFill>
                <a:latin typeface="Arial" pitchFamily="34" charset="0"/>
                <a:ea typeface="Arial" pitchFamily="34" charset="-122"/>
                <a:cs typeface="Arial" pitchFamily="34" charset="-120"/>
              </a:rPr>
              <a:t>3</a:t>
            </a:r>
            <a:endParaRPr lang="en-US" sz="1800" dirty="0"/>
          </a:p>
        </p:txBody>
      </p:sp>
      <p:sp>
        <p:nvSpPr>
          <p:cNvPr id="95" name="Text 93"/>
          <p:cNvSpPr/>
          <p:nvPr/>
        </p:nvSpPr>
        <p:spPr>
          <a:xfrm>
            <a:off x="9436259" y="6416993"/>
            <a:ext cx="1838166" cy="297180"/>
          </a:xfrm>
          <a:prstGeom prst="rect">
            <a:avLst/>
          </a:prstGeom>
          <a:noFill/>
          <a:ln/>
        </p:spPr>
        <p:txBody>
          <a:bodyPr wrap="square" lIns="25400" tIns="25400" rIns="25400" bIns="25400" rtlCol="0" anchor="t">
            <a:normAutofit/>
          </a:bodyPr>
          <a:lstStyle/>
          <a:p>
            <a:pPr algn="ctr" indent="0" marL="0">
              <a:buNone/>
            </a:pPr>
            <a:r>
              <a:rPr lang="en-US" sz="1800" dirty="0">
                <a:solidFill>
                  <a:srgbClr val="16140F"/>
                </a:solidFill>
                <a:latin typeface="Arial" pitchFamily="34" charset="0"/>
                <a:ea typeface="Arial" pitchFamily="34" charset="-122"/>
                <a:cs typeface="Arial" pitchFamily="34" charset="-120"/>
              </a:rPr>
              <a:t>3</a:t>
            </a:r>
            <a:endParaRPr lang="en-US" sz="1800" dirty="0"/>
          </a:p>
        </p:txBody>
      </p:sp>
      <p:sp>
        <p:nvSpPr>
          <p:cNvPr id="96" name="Text 94"/>
          <p:cNvSpPr/>
          <p:nvPr/>
        </p:nvSpPr>
        <p:spPr>
          <a:xfrm>
            <a:off x="11198225" y="6416993"/>
            <a:ext cx="1838166" cy="297180"/>
          </a:xfrm>
          <a:prstGeom prst="rect">
            <a:avLst/>
          </a:prstGeom>
          <a:noFill/>
          <a:ln/>
        </p:spPr>
        <p:txBody>
          <a:bodyPr wrap="square" lIns="25400" tIns="25400" rIns="25400" bIns="25400" rtlCol="0" anchor="t">
            <a:normAutofit/>
          </a:bodyPr>
          <a:lstStyle/>
          <a:p>
            <a:pPr algn="ctr" indent="0" marL="0">
              <a:buNone/>
            </a:pPr>
            <a:r>
              <a:rPr lang="en-US" sz="1800" dirty="0">
                <a:solidFill>
                  <a:srgbClr val="16140F"/>
                </a:solidFill>
                <a:latin typeface="Arial" pitchFamily="34" charset="0"/>
                <a:ea typeface="Arial" pitchFamily="34" charset="-122"/>
                <a:cs typeface="Arial" pitchFamily="34" charset="-120"/>
              </a:rPr>
              <a:t>4</a:t>
            </a:r>
            <a:endParaRPr lang="en-US" sz="1800" dirty="0"/>
          </a:p>
        </p:txBody>
      </p:sp>
      <p:sp>
        <p:nvSpPr>
          <p:cNvPr id="97" name="Text 95"/>
          <p:cNvSpPr/>
          <p:nvPr/>
        </p:nvSpPr>
        <p:spPr>
          <a:xfrm>
            <a:off x="12960191" y="6416993"/>
            <a:ext cx="1838166" cy="297180"/>
          </a:xfrm>
          <a:prstGeom prst="rect">
            <a:avLst/>
          </a:prstGeom>
          <a:noFill/>
          <a:ln/>
        </p:spPr>
        <p:txBody>
          <a:bodyPr wrap="square" lIns="25400" tIns="25400" rIns="25400" bIns="25400" rtlCol="0" anchor="t">
            <a:normAutofit/>
          </a:bodyPr>
          <a:lstStyle/>
          <a:p>
            <a:pPr algn="ctr" indent="0" marL="0">
              <a:buNone/>
            </a:pPr>
            <a:r>
              <a:rPr lang="en-US" sz="1800" dirty="0">
                <a:solidFill>
                  <a:srgbClr val="16140F"/>
                </a:solidFill>
                <a:latin typeface="Arial" pitchFamily="34" charset="0"/>
                <a:ea typeface="Arial" pitchFamily="34" charset="-122"/>
                <a:cs typeface="Arial" pitchFamily="34" charset="-120"/>
              </a:rPr>
              <a:t>3</a:t>
            </a:r>
            <a:endParaRPr lang="en-US" sz="1800" dirty="0"/>
          </a:p>
        </p:txBody>
      </p:sp>
      <p:sp>
        <p:nvSpPr>
          <p:cNvPr id="98" name="Text 96"/>
          <p:cNvSpPr/>
          <p:nvPr/>
        </p:nvSpPr>
        <p:spPr>
          <a:xfrm>
            <a:off x="14684057" y="6394132"/>
            <a:ext cx="2498884" cy="342900"/>
          </a:xfrm>
          <a:prstGeom prst="rect">
            <a:avLst/>
          </a:prstGeom>
          <a:noFill/>
          <a:ln/>
        </p:spPr>
        <p:txBody>
          <a:bodyPr wrap="square" lIns="25400" tIns="25400" rIns="25400" bIns="25400" rtlCol="0" anchor="t">
            <a:normAutofit/>
          </a:bodyPr>
          <a:lstStyle/>
          <a:p>
            <a:pPr algn="r" indent="0" marL="0">
              <a:buNone/>
            </a:pPr>
            <a:r>
              <a:rPr lang="en-US" sz="1800" b="1" dirty="0">
                <a:solidFill>
                  <a:srgbClr val="16140F"/>
                </a:solidFill>
                <a:latin typeface="Arial" pitchFamily="34" charset="0"/>
                <a:ea typeface="Arial" pitchFamily="34" charset="-122"/>
                <a:cs typeface="Arial" pitchFamily="34" charset="-120"/>
              </a:rPr>
              <a:t>3.40</a:t>
            </a:r>
            <a:endParaRPr lang="en-US" sz="1800" dirty="0"/>
          </a:p>
        </p:txBody>
      </p:sp>
      <p:sp>
        <p:nvSpPr>
          <p:cNvPr id="99" name="Shape 97"/>
          <p:cNvSpPr/>
          <p:nvPr/>
        </p:nvSpPr>
        <p:spPr>
          <a:xfrm>
            <a:off x="952500" y="7137083"/>
            <a:ext cx="16383000" cy="9525"/>
          </a:xfrm>
          <a:prstGeom prst="rect">
            <a:avLst/>
          </a:prstGeom>
          <a:solidFill>
            <a:srgbClr val="CDC6B6"/>
          </a:solidFill>
          <a:ln/>
        </p:spPr>
      </p:sp>
      <p:sp>
        <p:nvSpPr>
          <p:cNvPr id="100" name="Text 98"/>
          <p:cNvSpPr/>
          <p:nvPr/>
        </p:nvSpPr>
        <p:spPr>
          <a:xfrm>
            <a:off x="1104900" y="6786563"/>
            <a:ext cx="4990892" cy="350520"/>
          </a:xfrm>
          <a:prstGeom prst="rect">
            <a:avLst/>
          </a:prstGeom>
          <a:noFill/>
          <a:ln/>
        </p:spPr>
        <p:txBody>
          <a:bodyPr wrap="square" lIns="25400" tIns="25400" rIns="25400" bIns="25400" rtlCol="0" anchor="t">
            <a:normAutofit/>
          </a:bodyPr>
          <a:lstStyle/>
          <a:p>
            <a:pPr algn="l" indent="0" marL="0">
              <a:buNone/>
            </a:pPr>
            <a:r>
              <a:rPr lang="en-US" sz="2100" dirty="0">
                <a:solidFill>
                  <a:srgbClr val="16140F"/>
                </a:solidFill>
                <a:latin typeface="Arial" pitchFamily="34" charset="0"/>
                <a:ea typeface="Arial" pitchFamily="34" charset="-122"/>
                <a:cs typeface="Arial" pitchFamily="34" charset="-120"/>
              </a:rPr>
              <a:t>Haskell</a:t>
            </a:r>
            <a:endParaRPr lang="en-US" sz="2100" dirty="0"/>
          </a:p>
        </p:txBody>
      </p:sp>
      <p:sp>
        <p:nvSpPr>
          <p:cNvPr id="101" name="Text 99"/>
          <p:cNvSpPr/>
          <p:nvPr/>
        </p:nvSpPr>
        <p:spPr>
          <a:xfrm>
            <a:off x="5912326" y="6813232"/>
            <a:ext cx="1838166" cy="297180"/>
          </a:xfrm>
          <a:prstGeom prst="rect">
            <a:avLst/>
          </a:prstGeom>
          <a:noFill/>
          <a:ln/>
        </p:spPr>
        <p:txBody>
          <a:bodyPr wrap="square" lIns="25400" tIns="25400" rIns="25400" bIns="25400" rtlCol="0" anchor="t">
            <a:normAutofit/>
          </a:bodyPr>
          <a:lstStyle/>
          <a:p>
            <a:pPr algn="ctr" indent="0" marL="0">
              <a:buNone/>
            </a:pPr>
            <a:r>
              <a:rPr lang="en-US" sz="1800" dirty="0">
                <a:solidFill>
                  <a:srgbClr val="16140F"/>
                </a:solidFill>
                <a:latin typeface="Arial" pitchFamily="34" charset="0"/>
                <a:ea typeface="Arial" pitchFamily="34" charset="-122"/>
                <a:cs typeface="Arial" pitchFamily="34" charset="-120"/>
              </a:rPr>
              <a:t>3</a:t>
            </a:r>
            <a:endParaRPr lang="en-US" sz="1800" dirty="0"/>
          </a:p>
        </p:txBody>
      </p:sp>
      <p:sp>
        <p:nvSpPr>
          <p:cNvPr id="102" name="Text 100"/>
          <p:cNvSpPr/>
          <p:nvPr/>
        </p:nvSpPr>
        <p:spPr>
          <a:xfrm>
            <a:off x="7674293" y="6790373"/>
            <a:ext cx="1838166" cy="342900"/>
          </a:xfrm>
          <a:prstGeom prst="rect">
            <a:avLst/>
          </a:prstGeom>
          <a:noFill/>
          <a:ln/>
        </p:spPr>
        <p:txBody>
          <a:bodyPr wrap="square" lIns="25400" tIns="25400" rIns="25400" bIns="25400" rtlCol="0" anchor="t">
            <a:normAutofit/>
          </a:bodyPr>
          <a:lstStyle/>
          <a:p>
            <a:pPr algn="ctr" indent="0" marL="0">
              <a:buNone/>
            </a:pPr>
            <a:r>
              <a:rPr lang="en-US" sz="1800" b="1" dirty="0">
                <a:solidFill>
                  <a:srgbClr val="C2410C"/>
                </a:solidFill>
                <a:latin typeface="Arial" pitchFamily="34" charset="0"/>
                <a:ea typeface="Arial" pitchFamily="34" charset="-122"/>
                <a:cs typeface="Arial" pitchFamily="34" charset="-120"/>
              </a:rPr>
              <a:t>5</a:t>
            </a:r>
            <a:endParaRPr lang="en-US" sz="1800" dirty="0"/>
          </a:p>
        </p:txBody>
      </p:sp>
      <p:sp>
        <p:nvSpPr>
          <p:cNvPr id="103" name="Text 101"/>
          <p:cNvSpPr/>
          <p:nvPr/>
        </p:nvSpPr>
        <p:spPr>
          <a:xfrm>
            <a:off x="9436259" y="6813232"/>
            <a:ext cx="1838166" cy="297180"/>
          </a:xfrm>
          <a:prstGeom prst="rect">
            <a:avLst/>
          </a:prstGeom>
          <a:noFill/>
          <a:ln/>
        </p:spPr>
        <p:txBody>
          <a:bodyPr wrap="square" lIns="25400" tIns="25400" rIns="25400" bIns="25400" rtlCol="0" anchor="t">
            <a:normAutofit/>
          </a:bodyPr>
          <a:lstStyle/>
          <a:p>
            <a:pPr algn="ctr" indent="0" marL="0">
              <a:buNone/>
            </a:pPr>
            <a:r>
              <a:rPr lang="en-US" sz="1800" dirty="0">
                <a:solidFill>
                  <a:srgbClr val="6B6457"/>
                </a:solidFill>
                <a:latin typeface="Arial" pitchFamily="34" charset="0"/>
                <a:ea typeface="Arial" pitchFamily="34" charset="-122"/>
                <a:cs typeface="Arial" pitchFamily="34" charset="-120"/>
              </a:rPr>
              <a:t>2</a:t>
            </a:r>
            <a:endParaRPr lang="en-US" sz="1800" dirty="0"/>
          </a:p>
        </p:txBody>
      </p:sp>
      <p:sp>
        <p:nvSpPr>
          <p:cNvPr id="104" name="Text 102"/>
          <p:cNvSpPr/>
          <p:nvPr/>
        </p:nvSpPr>
        <p:spPr>
          <a:xfrm>
            <a:off x="11198225" y="6813232"/>
            <a:ext cx="1838166" cy="297180"/>
          </a:xfrm>
          <a:prstGeom prst="rect">
            <a:avLst/>
          </a:prstGeom>
          <a:noFill/>
          <a:ln/>
        </p:spPr>
        <p:txBody>
          <a:bodyPr wrap="square" lIns="25400" tIns="25400" rIns="25400" bIns="25400" rtlCol="0" anchor="t">
            <a:normAutofit/>
          </a:bodyPr>
          <a:lstStyle/>
          <a:p>
            <a:pPr algn="ctr" indent="0" marL="0">
              <a:buNone/>
            </a:pPr>
            <a:r>
              <a:rPr lang="en-US" sz="1800" dirty="0">
                <a:solidFill>
                  <a:srgbClr val="16140F"/>
                </a:solidFill>
                <a:latin typeface="Arial" pitchFamily="34" charset="0"/>
                <a:ea typeface="Arial" pitchFamily="34" charset="-122"/>
                <a:cs typeface="Arial" pitchFamily="34" charset="-120"/>
              </a:rPr>
              <a:t>3</a:t>
            </a:r>
            <a:endParaRPr lang="en-US" sz="1800" dirty="0"/>
          </a:p>
        </p:txBody>
      </p:sp>
      <p:sp>
        <p:nvSpPr>
          <p:cNvPr id="105" name="Text 103"/>
          <p:cNvSpPr/>
          <p:nvPr/>
        </p:nvSpPr>
        <p:spPr>
          <a:xfrm>
            <a:off x="12960191" y="6813232"/>
            <a:ext cx="1838166" cy="297180"/>
          </a:xfrm>
          <a:prstGeom prst="rect">
            <a:avLst/>
          </a:prstGeom>
          <a:noFill/>
          <a:ln/>
        </p:spPr>
        <p:txBody>
          <a:bodyPr wrap="square" lIns="25400" tIns="25400" rIns="25400" bIns="25400" rtlCol="0" anchor="t">
            <a:normAutofit/>
          </a:bodyPr>
          <a:lstStyle/>
          <a:p>
            <a:pPr algn="ctr" indent="0" marL="0">
              <a:buNone/>
            </a:pPr>
            <a:r>
              <a:rPr lang="en-US" sz="1800" dirty="0">
                <a:solidFill>
                  <a:srgbClr val="16140F"/>
                </a:solidFill>
                <a:latin typeface="Arial" pitchFamily="34" charset="0"/>
                <a:ea typeface="Arial" pitchFamily="34" charset="-122"/>
                <a:cs typeface="Arial" pitchFamily="34" charset="-120"/>
              </a:rPr>
              <a:t>3</a:t>
            </a:r>
            <a:endParaRPr lang="en-US" sz="1800" dirty="0"/>
          </a:p>
        </p:txBody>
      </p:sp>
      <p:sp>
        <p:nvSpPr>
          <p:cNvPr id="106" name="Text 104"/>
          <p:cNvSpPr/>
          <p:nvPr/>
        </p:nvSpPr>
        <p:spPr>
          <a:xfrm>
            <a:off x="14684057" y="6790373"/>
            <a:ext cx="2498884" cy="342900"/>
          </a:xfrm>
          <a:prstGeom prst="rect">
            <a:avLst/>
          </a:prstGeom>
          <a:noFill/>
          <a:ln/>
        </p:spPr>
        <p:txBody>
          <a:bodyPr wrap="square" lIns="25400" tIns="25400" rIns="25400" bIns="25400" rtlCol="0" anchor="t">
            <a:normAutofit/>
          </a:bodyPr>
          <a:lstStyle/>
          <a:p>
            <a:pPr algn="r" indent="0" marL="0">
              <a:buNone/>
            </a:pPr>
            <a:r>
              <a:rPr lang="en-US" sz="1800" b="1" dirty="0">
                <a:solidFill>
                  <a:srgbClr val="16140F"/>
                </a:solidFill>
                <a:latin typeface="Arial" pitchFamily="34" charset="0"/>
                <a:ea typeface="Arial" pitchFamily="34" charset="-122"/>
                <a:cs typeface="Arial" pitchFamily="34" charset="-120"/>
              </a:rPr>
              <a:t>3.25</a:t>
            </a:r>
            <a:endParaRPr lang="en-US" sz="1800" dirty="0"/>
          </a:p>
        </p:txBody>
      </p:sp>
      <p:sp>
        <p:nvSpPr>
          <p:cNvPr id="107" name="Shape 105"/>
          <p:cNvSpPr/>
          <p:nvPr/>
        </p:nvSpPr>
        <p:spPr>
          <a:xfrm>
            <a:off x="952500" y="7144702"/>
            <a:ext cx="16383000" cy="396240"/>
          </a:xfrm>
          <a:prstGeom prst="rect">
            <a:avLst/>
          </a:prstGeom>
          <a:solidFill>
            <a:srgbClr val="E9E3D5"/>
          </a:solidFill>
          <a:ln/>
        </p:spPr>
      </p:sp>
      <p:sp>
        <p:nvSpPr>
          <p:cNvPr id="108" name="Shape 106"/>
          <p:cNvSpPr/>
          <p:nvPr/>
        </p:nvSpPr>
        <p:spPr>
          <a:xfrm>
            <a:off x="952500" y="7533322"/>
            <a:ext cx="16383000" cy="9525"/>
          </a:xfrm>
          <a:prstGeom prst="rect">
            <a:avLst/>
          </a:prstGeom>
          <a:solidFill>
            <a:srgbClr val="CDC6B6"/>
          </a:solidFill>
          <a:ln/>
        </p:spPr>
      </p:sp>
      <p:sp>
        <p:nvSpPr>
          <p:cNvPr id="109" name="Text 107"/>
          <p:cNvSpPr/>
          <p:nvPr/>
        </p:nvSpPr>
        <p:spPr>
          <a:xfrm>
            <a:off x="1104900" y="7182802"/>
            <a:ext cx="4990892" cy="350520"/>
          </a:xfrm>
          <a:prstGeom prst="rect">
            <a:avLst/>
          </a:prstGeom>
          <a:noFill/>
          <a:ln/>
        </p:spPr>
        <p:txBody>
          <a:bodyPr wrap="square" lIns="25400" tIns="25400" rIns="25400" bIns="25400" rtlCol="0" anchor="t">
            <a:normAutofit/>
          </a:bodyPr>
          <a:lstStyle/>
          <a:p>
            <a:pPr algn="l" indent="0" marL="0">
              <a:buNone/>
            </a:pPr>
            <a:r>
              <a:rPr lang="en-US" sz="2100" dirty="0">
                <a:solidFill>
                  <a:srgbClr val="16140F"/>
                </a:solidFill>
                <a:latin typeface="Arial" pitchFamily="34" charset="0"/>
                <a:ea typeface="Arial" pitchFamily="34" charset="-122"/>
                <a:cs typeface="Arial" pitchFamily="34" charset="-120"/>
              </a:rPr>
              <a:t>Julia</a:t>
            </a:r>
            <a:endParaRPr lang="en-US" sz="2100" dirty="0"/>
          </a:p>
        </p:txBody>
      </p:sp>
      <p:sp>
        <p:nvSpPr>
          <p:cNvPr id="110" name="Text 108"/>
          <p:cNvSpPr/>
          <p:nvPr/>
        </p:nvSpPr>
        <p:spPr>
          <a:xfrm>
            <a:off x="5912326" y="7209473"/>
            <a:ext cx="1838166" cy="297180"/>
          </a:xfrm>
          <a:prstGeom prst="rect">
            <a:avLst/>
          </a:prstGeom>
          <a:noFill/>
          <a:ln/>
        </p:spPr>
        <p:txBody>
          <a:bodyPr wrap="square" lIns="25400" tIns="25400" rIns="25400" bIns="25400" rtlCol="0" anchor="t">
            <a:normAutofit/>
          </a:bodyPr>
          <a:lstStyle/>
          <a:p>
            <a:pPr algn="ctr" indent="0" marL="0">
              <a:buNone/>
            </a:pPr>
            <a:r>
              <a:rPr lang="en-US" sz="1800" dirty="0">
                <a:solidFill>
                  <a:srgbClr val="16140F"/>
                </a:solidFill>
                <a:latin typeface="Arial" pitchFamily="34" charset="0"/>
                <a:ea typeface="Arial" pitchFamily="34" charset="-122"/>
                <a:cs typeface="Arial" pitchFamily="34" charset="-120"/>
              </a:rPr>
              <a:t>3</a:t>
            </a:r>
            <a:endParaRPr lang="en-US" sz="1800" dirty="0"/>
          </a:p>
        </p:txBody>
      </p:sp>
      <p:sp>
        <p:nvSpPr>
          <p:cNvPr id="111" name="Text 109"/>
          <p:cNvSpPr/>
          <p:nvPr/>
        </p:nvSpPr>
        <p:spPr>
          <a:xfrm>
            <a:off x="7674293" y="7209473"/>
            <a:ext cx="1838166" cy="297180"/>
          </a:xfrm>
          <a:prstGeom prst="rect">
            <a:avLst/>
          </a:prstGeom>
          <a:noFill/>
          <a:ln/>
        </p:spPr>
        <p:txBody>
          <a:bodyPr wrap="square" lIns="25400" tIns="25400" rIns="25400" bIns="25400" rtlCol="0" anchor="t">
            <a:normAutofit/>
          </a:bodyPr>
          <a:lstStyle/>
          <a:p>
            <a:pPr algn="ctr" indent="0" marL="0">
              <a:buNone/>
            </a:pPr>
            <a:r>
              <a:rPr lang="en-US" sz="1800" dirty="0">
                <a:solidFill>
                  <a:srgbClr val="16140F"/>
                </a:solidFill>
                <a:latin typeface="Arial" pitchFamily="34" charset="0"/>
                <a:ea typeface="Arial" pitchFamily="34" charset="-122"/>
                <a:cs typeface="Arial" pitchFamily="34" charset="-120"/>
              </a:rPr>
              <a:t>3</a:t>
            </a:r>
            <a:endParaRPr lang="en-US" sz="1800" dirty="0"/>
          </a:p>
        </p:txBody>
      </p:sp>
      <p:sp>
        <p:nvSpPr>
          <p:cNvPr id="112" name="Text 110"/>
          <p:cNvSpPr/>
          <p:nvPr/>
        </p:nvSpPr>
        <p:spPr>
          <a:xfrm>
            <a:off x="9436259" y="7209473"/>
            <a:ext cx="1838166" cy="297180"/>
          </a:xfrm>
          <a:prstGeom prst="rect">
            <a:avLst/>
          </a:prstGeom>
          <a:noFill/>
          <a:ln/>
        </p:spPr>
        <p:txBody>
          <a:bodyPr wrap="square" lIns="25400" tIns="25400" rIns="25400" bIns="25400" rtlCol="0" anchor="t">
            <a:normAutofit/>
          </a:bodyPr>
          <a:lstStyle/>
          <a:p>
            <a:pPr algn="ctr" indent="0" marL="0">
              <a:buNone/>
            </a:pPr>
            <a:r>
              <a:rPr lang="en-US" sz="1800" dirty="0">
                <a:solidFill>
                  <a:srgbClr val="6B6457"/>
                </a:solidFill>
                <a:latin typeface="Arial" pitchFamily="34" charset="0"/>
                <a:ea typeface="Arial" pitchFamily="34" charset="-122"/>
                <a:cs typeface="Arial" pitchFamily="34" charset="-120"/>
              </a:rPr>
              <a:t>2</a:t>
            </a:r>
            <a:endParaRPr lang="en-US" sz="1800" dirty="0"/>
          </a:p>
        </p:txBody>
      </p:sp>
      <p:sp>
        <p:nvSpPr>
          <p:cNvPr id="113" name="Text 111"/>
          <p:cNvSpPr/>
          <p:nvPr/>
        </p:nvSpPr>
        <p:spPr>
          <a:xfrm>
            <a:off x="11198225" y="7209473"/>
            <a:ext cx="1838166" cy="297180"/>
          </a:xfrm>
          <a:prstGeom prst="rect">
            <a:avLst/>
          </a:prstGeom>
          <a:noFill/>
          <a:ln/>
        </p:spPr>
        <p:txBody>
          <a:bodyPr wrap="square" lIns="25400" tIns="25400" rIns="25400" bIns="25400" rtlCol="0" anchor="t">
            <a:normAutofit/>
          </a:bodyPr>
          <a:lstStyle/>
          <a:p>
            <a:pPr algn="ctr" indent="0" marL="0">
              <a:buNone/>
            </a:pPr>
            <a:r>
              <a:rPr lang="en-US" sz="1800" dirty="0">
                <a:solidFill>
                  <a:srgbClr val="16140F"/>
                </a:solidFill>
                <a:latin typeface="Arial" pitchFamily="34" charset="0"/>
                <a:ea typeface="Arial" pitchFamily="34" charset="-122"/>
                <a:cs typeface="Arial" pitchFamily="34" charset="-120"/>
              </a:rPr>
              <a:t>3</a:t>
            </a:r>
            <a:endParaRPr lang="en-US" sz="1800" dirty="0"/>
          </a:p>
        </p:txBody>
      </p:sp>
      <p:sp>
        <p:nvSpPr>
          <p:cNvPr id="114" name="Text 112"/>
          <p:cNvSpPr/>
          <p:nvPr/>
        </p:nvSpPr>
        <p:spPr>
          <a:xfrm>
            <a:off x="12960191" y="7209473"/>
            <a:ext cx="1838166" cy="297180"/>
          </a:xfrm>
          <a:prstGeom prst="rect">
            <a:avLst/>
          </a:prstGeom>
          <a:noFill/>
          <a:ln/>
        </p:spPr>
        <p:txBody>
          <a:bodyPr wrap="square" lIns="25400" tIns="25400" rIns="25400" bIns="25400" rtlCol="0" anchor="t">
            <a:normAutofit/>
          </a:bodyPr>
          <a:lstStyle/>
          <a:p>
            <a:pPr algn="ctr" indent="0" marL="0">
              <a:buNone/>
            </a:pPr>
            <a:r>
              <a:rPr lang="en-US" sz="1800" dirty="0">
                <a:solidFill>
                  <a:srgbClr val="16140F"/>
                </a:solidFill>
                <a:latin typeface="Arial" pitchFamily="34" charset="0"/>
                <a:ea typeface="Arial" pitchFamily="34" charset="-122"/>
                <a:cs typeface="Arial" pitchFamily="34" charset="-120"/>
              </a:rPr>
              <a:t>3</a:t>
            </a:r>
            <a:endParaRPr lang="en-US" sz="1800" dirty="0"/>
          </a:p>
        </p:txBody>
      </p:sp>
      <p:sp>
        <p:nvSpPr>
          <p:cNvPr id="115" name="Text 113"/>
          <p:cNvSpPr/>
          <p:nvPr/>
        </p:nvSpPr>
        <p:spPr>
          <a:xfrm>
            <a:off x="14684057" y="7186613"/>
            <a:ext cx="2498884" cy="342900"/>
          </a:xfrm>
          <a:prstGeom prst="rect">
            <a:avLst/>
          </a:prstGeom>
          <a:noFill/>
          <a:ln/>
        </p:spPr>
        <p:txBody>
          <a:bodyPr wrap="square" lIns="25400" tIns="25400" rIns="25400" bIns="25400" rtlCol="0" anchor="t">
            <a:normAutofit/>
          </a:bodyPr>
          <a:lstStyle/>
          <a:p>
            <a:pPr algn="r" indent="0" marL="0">
              <a:buNone/>
            </a:pPr>
            <a:r>
              <a:rPr lang="en-US" sz="1800" b="1" dirty="0">
                <a:solidFill>
                  <a:srgbClr val="16140F"/>
                </a:solidFill>
                <a:latin typeface="Arial" pitchFamily="34" charset="0"/>
                <a:ea typeface="Arial" pitchFamily="34" charset="-122"/>
                <a:cs typeface="Arial" pitchFamily="34" charset="-120"/>
              </a:rPr>
              <a:t>2.75</a:t>
            </a:r>
            <a:endParaRPr lang="en-US" sz="1800" dirty="0"/>
          </a:p>
        </p:txBody>
      </p:sp>
      <p:sp>
        <p:nvSpPr>
          <p:cNvPr id="116" name="Shape 114"/>
          <p:cNvSpPr/>
          <p:nvPr/>
        </p:nvSpPr>
        <p:spPr>
          <a:xfrm>
            <a:off x="952500" y="7929563"/>
            <a:ext cx="16383000" cy="9525"/>
          </a:xfrm>
          <a:prstGeom prst="rect">
            <a:avLst/>
          </a:prstGeom>
          <a:solidFill>
            <a:srgbClr val="CDC6B6"/>
          </a:solidFill>
          <a:ln/>
        </p:spPr>
      </p:sp>
      <p:sp>
        <p:nvSpPr>
          <p:cNvPr id="117" name="Text 115"/>
          <p:cNvSpPr/>
          <p:nvPr/>
        </p:nvSpPr>
        <p:spPr>
          <a:xfrm>
            <a:off x="1104900" y="7579043"/>
            <a:ext cx="4990892" cy="350520"/>
          </a:xfrm>
          <a:prstGeom prst="rect">
            <a:avLst/>
          </a:prstGeom>
          <a:noFill/>
          <a:ln/>
        </p:spPr>
        <p:txBody>
          <a:bodyPr wrap="square" lIns="25400" tIns="25400" rIns="25400" bIns="25400" rtlCol="0" anchor="t">
            <a:normAutofit/>
          </a:bodyPr>
          <a:lstStyle/>
          <a:p>
            <a:pPr algn="l" indent="0" marL="0">
              <a:buNone/>
            </a:pPr>
            <a:r>
              <a:rPr lang="en-US" sz="2100" dirty="0">
                <a:solidFill>
                  <a:srgbClr val="16140F"/>
                </a:solidFill>
                <a:latin typeface="Arial" pitchFamily="34" charset="0"/>
                <a:ea typeface="Arial" pitchFamily="34" charset="-122"/>
                <a:cs typeface="Arial" pitchFamily="34" charset="-120"/>
              </a:rPr>
              <a:t>Mojo</a:t>
            </a:r>
            <a:endParaRPr lang="en-US" sz="2100" dirty="0"/>
          </a:p>
        </p:txBody>
      </p:sp>
      <p:sp>
        <p:nvSpPr>
          <p:cNvPr id="118" name="Text 116"/>
          <p:cNvSpPr/>
          <p:nvPr/>
        </p:nvSpPr>
        <p:spPr>
          <a:xfrm>
            <a:off x="5912326" y="7605713"/>
            <a:ext cx="1838166" cy="297180"/>
          </a:xfrm>
          <a:prstGeom prst="rect">
            <a:avLst/>
          </a:prstGeom>
          <a:noFill/>
          <a:ln/>
        </p:spPr>
        <p:txBody>
          <a:bodyPr wrap="square" lIns="25400" tIns="25400" rIns="25400" bIns="25400" rtlCol="0" anchor="t">
            <a:normAutofit/>
          </a:bodyPr>
          <a:lstStyle/>
          <a:p>
            <a:pPr algn="ctr" indent="0" marL="0">
              <a:buNone/>
            </a:pPr>
            <a:r>
              <a:rPr lang="en-US" sz="1800" dirty="0">
                <a:solidFill>
                  <a:srgbClr val="16140F"/>
                </a:solidFill>
                <a:latin typeface="Arial" pitchFamily="34" charset="0"/>
                <a:ea typeface="Arial" pitchFamily="34" charset="-122"/>
                <a:cs typeface="Arial" pitchFamily="34" charset="-120"/>
              </a:rPr>
              <a:t>3</a:t>
            </a:r>
            <a:endParaRPr lang="en-US" sz="1800" dirty="0"/>
          </a:p>
        </p:txBody>
      </p:sp>
      <p:sp>
        <p:nvSpPr>
          <p:cNvPr id="119" name="Text 117"/>
          <p:cNvSpPr/>
          <p:nvPr/>
        </p:nvSpPr>
        <p:spPr>
          <a:xfrm>
            <a:off x="7674293" y="7605713"/>
            <a:ext cx="1838166" cy="297180"/>
          </a:xfrm>
          <a:prstGeom prst="rect">
            <a:avLst/>
          </a:prstGeom>
          <a:noFill/>
          <a:ln/>
        </p:spPr>
        <p:txBody>
          <a:bodyPr wrap="square" lIns="25400" tIns="25400" rIns="25400" bIns="25400" rtlCol="0" anchor="t">
            <a:normAutofit/>
          </a:bodyPr>
          <a:lstStyle/>
          <a:p>
            <a:pPr algn="ctr" indent="0" marL="0">
              <a:buNone/>
            </a:pPr>
            <a:r>
              <a:rPr lang="en-US" sz="1800" dirty="0">
                <a:solidFill>
                  <a:srgbClr val="16140F"/>
                </a:solidFill>
                <a:latin typeface="Arial" pitchFamily="34" charset="0"/>
                <a:ea typeface="Arial" pitchFamily="34" charset="-122"/>
                <a:cs typeface="Arial" pitchFamily="34" charset="-120"/>
              </a:rPr>
              <a:t>3</a:t>
            </a:r>
            <a:endParaRPr lang="en-US" sz="1800" dirty="0"/>
          </a:p>
        </p:txBody>
      </p:sp>
      <p:sp>
        <p:nvSpPr>
          <p:cNvPr id="120" name="Text 118"/>
          <p:cNvSpPr/>
          <p:nvPr/>
        </p:nvSpPr>
        <p:spPr>
          <a:xfrm>
            <a:off x="9436259" y="7605713"/>
            <a:ext cx="1838166" cy="297180"/>
          </a:xfrm>
          <a:prstGeom prst="rect">
            <a:avLst/>
          </a:prstGeom>
          <a:noFill/>
          <a:ln/>
        </p:spPr>
        <p:txBody>
          <a:bodyPr wrap="square" lIns="25400" tIns="25400" rIns="25400" bIns="25400" rtlCol="0" anchor="t">
            <a:normAutofit/>
          </a:bodyPr>
          <a:lstStyle/>
          <a:p>
            <a:pPr algn="ctr" indent="0" marL="0">
              <a:buNone/>
            </a:pPr>
            <a:r>
              <a:rPr lang="en-US" sz="1800" dirty="0">
                <a:solidFill>
                  <a:srgbClr val="6B6457"/>
                </a:solidFill>
                <a:latin typeface="Arial" pitchFamily="34" charset="0"/>
                <a:ea typeface="Arial" pitchFamily="34" charset="-122"/>
                <a:cs typeface="Arial" pitchFamily="34" charset="-120"/>
              </a:rPr>
              <a:t>2</a:t>
            </a:r>
            <a:endParaRPr lang="en-US" sz="1800" dirty="0"/>
          </a:p>
        </p:txBody>
      </p:sp>
      <p:sp>
        <p:nvSpPr>
          <p:cNvPr id="121" name="Text 119"/>
          <p:cNvSpPr/>
          <p:nvPr/>
        </p:nvSpPr>
        <p:spPr>
          <a:xfrm>
            <a:off x="11198225" y="7605713"/>
            <a:ext cx="1838166" cy="297180"/>
          </a:xfrm>
          <a:prstGeom prst="rect">
            <a:avLst/>
          </a:prstGeom>
          <a:noFill/>
          <a:ln/>
        </p:spPr>
        <p:txBody>
          <a:bodyPr wrap="square" lIns="25400" tIns="25400" rIns="25400" bIns="25400" rtlCol="0" anchor="t">
            <a:normAutofit/>
          </a:bodyPr>
          <a:lstStyle/>
          <a:p>
            <a:pPr algn="ctr" indent="0" marL="0">
              <a:buNone/>
            </a:pPr>
            <a:r>
              <a:rPr lang="en-US" sz="1800" dirty="0">
                <a:solidFill>
                  <a:srgbClr val="6B6457"/>
                </a:solidFill>
                <a:latin typeface="Arial" pitchFamily="34" charset="0"/>
                <a:ea typeface="Arial" pitchFamily="34" charset="-122"/>
                <a:cs typeface="Arial" pitchFamily="34" charset="-120"/>
              </a:rPr>
              <a:t>2</a:t>
            </a:r>
            <a:endParaRPr lang="en-US" sz="1800" dirty="0"/>
          </a:p>
        </p:txBody>
      </p:sp>
      <p:sp>
        <p:nvSpPr>
          <p:cNvPr id="122" name="Text 120"/>
          <p:cNvSpPr/>
          <p:nvPr/>
        </p:nvSpPr>
        <p:spPr>
          <a:xfrm>
            <a:off x="12960191" y="7605713"/>
            <a:ext cx="1838166" cy="297180"/>
          </a:xfrm>
          <a:prstGeom prst="rect">
            <a:avLst/>
          </a:prstGeom>
          <a:noFill/>
          <a:ln/>
        </p:spPr>
        <p:txBody>
          <a:bodyPr wrap="square" lIns="25400" tIns="25400" rIns="25400" bIns="25400" rtlCol="0" anchor="t">
            <a:normAutofit/>
          </a:bodyPr>
          <a:lstStyle/>
          <a:p>
            <a:pPr algn="ctr" indent="0" marL="0">
              <a:buNone/>
            </a:pPr>
            <a:r>
              <a:rPr lang="en-US" sz="1800" dirty="0">
                <a:solidFill>
                  <a:srgbClr val="16140F"/>
                </a:solidFill>
                <a:latin typeface="Arial" pitchFamily="34" charset="0"/>
                <a:ea typeface="Arial" pitchFamily="34" charset="-122"/>
                <a:cs typeface="Arial" pitchFamily="34" charset="-120"/>
              </a:rPr>
              <a:t>4</a:t>
            </a:r>
            <a:endParaRPr lang="en-US" sz="1800" dirty="0"/>
          </a:p>
        </p:txBody>
      </p:sp>
      <p:sp>
        <p:nvSpPr>
          <p:cNvPr id="123" name="Text 121"/>
          <p:cNvSpPr/>
          <p:nvPr/>
        </p:nvSpPr>
        <p:spPr>
          <a:xfrm>
            <a:off x="14684057" y="7582852"/>
            <a:ext cx="2498884" cy="342900"/>
          </a:xfrm>
          <a:prstGeom prst="rect">
            <a:avLst/>
          </a:prstGeom>
          <a:noFill/>
          <a:ln/>
        </p:spPr>
        <p:txBody>
          <a:bodyPr wrap="square" lIns="25400" tIns="25400" rIns="25400" bIns="25400" rtlCol="0" anchor="t">
            <a:normAutofit/>
          </a:bodyPr>
          <a:lstStyle/>
          <a:p>
            <a:pPr algn="r" indent="0" marL="0">
              <a:buNone/>
            </a:pPr>
            <a:r>
              <a:rPr lang="en-US" sz="1800" b="1" dirty="0">
                <a:solidFill>
                  <a:srgbClr val="16140F"/>
                </a:solidFill>
                <a:latin typeface="Arial" pitchFamily="34" charset="0"/>
                <a:ea typeface="Arial" pitchFamily="34" charset="-122"/>
                <a:cs typeface="Arial" pitchFamily="34" charset="-120"/>
              </a:rPr>
              <a:t>2.65</a:t>
            </a:r>
            <a:endParaRPr lang="en-US" sz="1800" dirty="0"/>
          </a:p>
        </p:txBody>
      </p:sp>
      <p:sp>
        <p:nvSpPr>
          <p:cNvPr id="124" name="Shape 122"/>
          <p:cNvSpPr/>
          <p:nvPr/>
        </p:nvSpPr>
        <p:spPr>
          <a:xfrm>
            <a:off x="952500" y="7937182"/>
            <a:ext cx="16383000" cy="396240"/>
          </a:xfrm>
          <a:prstGeom prst="rect">
            <a:avLst/>
          </a:prstGeom>
          <a:solidFill>
            <a:srgbClr val="E9E3D5"/>
          </a:solidFill>
          <a:ln/>
        </p:spPr>
      </p:sp>
      <p:sp>
        <p:nvSpPr>
          <p:cNvPr id="125" name="Shape 123"/>
          <p:cNvSpPr/>
          <p:nvPr/>
        </p:nvSpPr>
        <p:spPr>
          <a:xfrm>
            <a:off x="952500" y="8325802"/>
            <a:ext cx="16383000" cy="9525"/>
          </a:xfrm>
          <a:prstGeom prst="rect">
            <a:avLst/>
          </a:prstGeom>
          <a:solidFill>
            <a:srgbClr val="CDC6B6"/>
          </a:solidFill>
          <a:ln/>
        </p:spPr>
      </p:sp>
      <p:sp>
        <p:nvSpPr>
          <p:cNvPr id="126" name="Text 124"/>
          <p:cNvSpPr/>
          <p:nvPr/>
        </p:nvSpPr>
        <p:spPr>
          <a:xfrm>
            <a:off x="1104900" y="7975282"/>
            <a:ext cx="4990892" cy="350520"/>
          </a:xfrm>
          <a:prstGeom prst="rect">
            <a:avLst/>
          </a:prstGeom>
          <a:noFill/>
          <a:ln/>
        </p:spPr>
        <p:txBody>
          <a:bodyPr wrap="square" lIns="25400" tIns="25400" rIns="25400" bIns="25400" rtlCol="0" anchor="t">
            <a:normAutofit/>
          </a:bodyPr>
          <a:lstStyle/>
          <a:p>
            <a:pPr algn="l" indent="0" marL="0">
              <a:buNone/>
            </a:pPr>
            <a:r>
              <a:rPr lang="en-US" sz="2100" dirty="0">
                <a:solidFill>
                  <a:srgbClr val="16140F"/>
                </a:solidFill>
                <a:latin typeface="Arial" pitchFamily="34" charset="0"/>
                <a:ea typeface="Arial" pitchFamily="34" charset="-122"/>
                <a:cs typeface="Arial" pitchFamily="34" charset="-120"/>
              </a:rPr>
              <a:t>C++</a:t>
            </a:r>
            <a:endParaRPr lang="en-US" sz="2100" dirty="0"/>
          </a:p>
        </p:txBody>
      </p:sp>
      <p:sp>
        <p:nvSpPr>
          <p:cNvPr id="127" name="Text 125"/>
          <p:cNvSpPr/>
          <p:nvPr/>
        </p:nvSpPr>
        <p:spPr>
          <a:xfrm>
            <a:off x="5912326" y="8001952"/>
            <a:ext cx="1838166" cy="297180"/>
          </a:xfrm>
          <a:prstGeom prst="rect">
            <a:avLst/>
          </a:prstGeom>
          <a:noFill/>
          <a:ln/>
        </p:spPr>
        <p:txBody>
          <a:bodyPr wrap="square" lIns="25400" tIns="25400" rIns="25400" bIns="25400" rtlCol="0" anchor="t">
            <a:normAutofit/>
          </a:bodyPr>
          <a:lstStyle/>
          <a:p>
            <a:pPr algn="ctr" indent="0" marL="0">
              <a:buNone/>
            </a:pPr>
            <a:r>
              <a:rPr lang="en-US" sz="1800" dirty="0">
                <a:solidFill>
                  <a:srgbClr val="6B6457"/>
                </a:solidFill>
                <a:latin typeface="Arial" pitchFamily="34" charset="0"/>
                <a:ea typeface="Arial" pitchFamily="34" charset="-122"/>
                <a:cs typeface="Arial" pitchFamily="34" charset="-120"/>
              </a:rPr>
              <a:t>2</a:t>
            </a:r>
            <a:endParaRPr lang="en-US" sz="1800" dirty="0"/>
          </a:p>
        </p:txBody>
      </p:sp>
      <p:sp>
        <p:nvSpPr>
          <p:cNvPr id="128" name="Text 126"/>
          <p:cNvSpPr/>
          <p:nvPr/>
        </p:nvSpPr>
        <p:spPr>
          <a:xfrm>
            <a:off x="7674293" y="8001952"/>
            <a:ext cx="1838166" cy="297180"/>
          </a:xfrm>
          <a:prstGeom prst="rect">
            <a:avLst/>
          </a:prstGeom>
          <a:noFill/>
          <a:ln/>
        </p:spPr>
        <p:txBody>
          <a:bodyPr wrap="square" lIns="25400" tIns="25400" rIns="25400" bIns="25400" rtlCol="0" anchor="t">
            <a:normAutofit/>
          </a:bodyPr>
          <a:lstStyle/>
          <a:p>
            <a:pPr algn="ctr" indent="0" marL="0">
              <a:buNone/>
            </a:pPr>
            <a:r>
              <a:rPr lang="en-US" sz="1800" dirty="0">
                <a:solidFill>
                  <a:srgbClr val="16140F"/>
                </a:solidFill>
                <a:latin typeface="Arial" pitchFamily="34" charset="0"/>
                <a:ea typeface="Arial" pitchFamily="34" charset="-122"/>
                <a:cs typeface="Arial" pitchFamily="34" charset="-120"/>
              </a:rPr>
              <a:t>3</a:t>
            </a:r>
            <a:endParaRPr lang="en-US" sz="1800" dirty="0"/>
          </a:p>
        </p:txBody>
      </p:sp>
      <p:sp>
        <p:nvSpPr>
          <p:cNvPr id="129" name="Text 127"/>
          <p:cNvSpPr/>
          <p:nvPr/>
        </p:nvSpPr>
        <p:spPr>
          <a:xfrm>
            <a:off x="9436259" y="8001952"/>
            <a:ext cx="1838166" cy="297180"/>
          </a:xfrm>
          <a:prstGeom prst="rect">
            <a:avLst/>
          </a:prstGeom>
          <a:noFill/>
          <a:ln/>
        </p:spPr>
        <p:txBody>
          <a:bodyPr wrap="square" lIns="25400" tIns="25400" rIns="25400" bIns="25400" rtlCol="0" anchor="t">
            <a:normAutofit/>
          </a:bodyPr>
          <a:lstStyle/>
          <a:p>
            <a:pPr algn="ctr" indent="0" marL="0">
              <a:buNone/>
            </a:pPr>
            <a:r>
              <a:rPr lang="en-US" sz="1800" dirty="0">
                <a:solidFill>
                  <a:srgbClr val="6B6457"/>
                </a:solidFill>
                <a:latin typeface="Arial" pitchFamily="34" charset="0"/>
                <a:ea typeface="Arial" pitchFamily="34" charset="-122"/>
                <a:cs typeface="Arial" pitchFamily="34" charset="-120"/>
              </a:rPr>
              <a:t>2</a:t>
            </a:r>
            <a:endParaRPr lang="en-US" sz="1800" dirty="0"/>
          </a:p>
        </p:txBody>
      </p:sp>
      <p:sp>
        <p:nvSpPr>
          <p:cNvPr id="130" name="Text 128"/>
          <p:cNvSpPr/>
          <p:nvPr/>
        </p:nvSpPr>
        <p:spPr>
          <a:xfrm>
            <a:off x="11198225" y="8001952"/>
            <a:ext cx="1838166" cy="297180"/>
          </a:xfrm>
          <a:prstGeom prst="rect">
            <a:avLst/>
          </a:prstGeom>
          <a:noFill/>
          <a:ln/>
        </p:spPr>
        <p:txBody>
          <a:bodyPr wrap="square" lIns="25400" tIns="25400" rIns="25400" bIns="25400" rtlCol="0" anchor="t">
            <a:normAutofit/>
          </a:bodyPr>
          <a:lstStyle/>
          <a:p>
            <a:pPr algn="ctr" indent="0" marL="0">
              <a:buNone/>
            </a:pPr>
            <a:r>
              <a:rPr lang="en-US" sz="1800" dirty="0">
                <a:solidFill>
                  <a:srgbClr val="16140F"/>
                </a:solidFill>
                <a:latin typeface="Arial" pitchFamily="34" charset="0"/>
                <a:ea typeface="Arial" pitchFamily="34" charset="-122"/>
                <a:cs typeface="Arial" pitchFamily="34" charset="-120"/>
              </a:rPr>
              <a:t>4</a:t>
            </a:r>
            <a:endParaRPr lang="en-US" sz="1800" dirty="0"/>
          </a:p>
        </p:txBody>
      </p:sp>
      <p:sp>
        <p:nvSpPr>
          <p:cNvPr id="131" name="Text 129"/>
          <p:cNvSpPr/>
          <p:nvPr/>
        </p:nvSpPr>
        <p:spPr>
          <a:xfrm>
            <a:off x="12960191" y="8001952"/>
            <a:ext cx="1838166" cy="297180"/>
          </a:xfrm>
          <a:prstGeom prst="rect">
            <a:avLst/>
          </a:prstGeom>
          <a:noFill/>
          <a:ln/>
        </p:spPr>
        <p:txBody>
          <a:bodyPr wrap="square" lIns="25400" tIns="25400" rIns="25400" bIns="25400" rtlCol="0" anchor="t">
            <a:normAutofit/>
          </a:bodyPr>
          <a:lstStyle/>
          <a:p>
            <a:pPr algn="ctr" indent="0" marL="0">
              <a:buNone/>
            </a:pPr>
            <a:r>
              <a:rPr lang="en-US" sz="1800" dirty="0">
                <a:solidFill>
                  <a:srgbClr val="6B6457"/>
                </a:solidFill>
                <a:latin typeface="Arial" pitchFamily="34" charset="0"/>
                <a:ea typeface="Arial" pitchFamily="34" charset="-122"/>
                <a:cs typeface="Arial" pitchFamily="34" charset="-120"/>
              </a:rPr>
              <a:t>2</a:t>
            </a:r>
            <a:endParaRPr lang="en-US" sz="1800" dirty="0"/>
          </a:p>
        </p:txBody>
      </p:sp>
      <p:sp>
        <p:nvSpPr>
          <p:cNvPr id="132" name="Text 130"/>
          <p:cNvSpPr/>
          <p:nvPr/>
        </p:nvSpPr>
        <p:spPr>
          <a:xfrm>
            <a:off x="14684057" y="7979093"/>
            <a:ext cx="2498884" cy="342900"/>
          </a:xfrm>
          <a:prstGeom prst="rect">
            <a:avLst/>
          </a:prstGeom>
          <a:noFill/>
          <a:ln/>
        </p:spPr>
        <p:txBody>
          <a:bodyPr wrap="square" lIns="25400" tIns="25400" rIns="25400" bIns="25400" rtlCol="0" anchor="t">
            <a:normAutofit/>
          </a:bodyPr>
          <a:lstStyle/>
          <a:p>
            <a:pPr algn="r" indent="0" marL="0">
              <a:buNone/>
            </a:pPr>
            <a:r>
              <a:rPr lang="en-US" sz="1800" b="1" dirty="0">
                <a:solidFill>
                  <a:srgbClr val="16140F"/>
                </a:solidFill>
                <a:latin typeface="Arial" pitchFamily="34" charset="0"/>
                <a:ea typeface="Arial" pitchFamily="34" charset="-122"/>
                <a:cs typeface="Arial" pitchFamily="34" charset="-120"/>
              </a:rPr>
              <a:t>2.65</a:t>
            </a:r>
            <a:endParaRPr lang="en-US" sz="1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3EFE6"/>
        </a:solidFill>
      </p:bgPr>
    </p:bg>
    <p:spTree>
      <p:nvGrpSpPr>
        <p:cNvPr id="1" name=""/>
        <p:cNvGrpSpPr/>
        <p:nvPr/>
      </p:nvGrpSpPr>
      <p:grpSpPr>
        <a:xfrm>
          <a:off x="0" y="0"/>
          <a:ext cx="0" cy="0"/>
          <a:chOff x="0" y="0"/>
          <a:chExt cx="0" cy="0"/>
        </a:xfrm>
      </p:grpSpPr>
      <p:sp>
        <p:nvSpPr>
          <p:cNvPr id="2" name="Text 0"/>
          <p:cNvSpPr/>
          <p:nvPr/>
        </p:nvSpPr>
        <p:spPr>
          <a:xfrm>
            <a:off x="952500" y="952500"/>
            <a:ext cx="2881254" cy="297180"/>
          </a:xfrm>
          <a:prstGeom prst="rect">
            <a:avLst/>
          </a:prstGeom>
          <a:noFill/>
          <a:ln/>
        </p:spPr>
        <p:txBody>
          <a:bodyPr wrap="square" lIns="25400" tIns="25400" rIns="25400" bIns="25400" rtlCol="0" anchor="t">
            <a:normAutofit/>
          </a:bodyPr>
          <a:lstStyle/>
          <a:p>
            <a:pPr algn="l" indent="0" marL="0">
              <a:buNone/>
            </a:pPr>
            <a:r>
              <a:rPr lang="en-US" sz="1800" spc="144" kern="0" dirty="0">
                <a:solidFill>
                  <a:srgbClr val="6B6457"/>
                </a:solidFill>
                <a:latin typeface="Arial" pitchFamily="34" charset="0"/>
                <a:ea typeface="Arial" pitchFamily="34" charset="-122"/>
                <a:cs typeface="Arial" pitchFamily="34" charset="-120"/>
              </a:rPr>
              <a:t>04 · FINDING 01 OF 05</a:t>
            </a:r>
            <a:endParaRPr lang="en-US" sz="1800" dirty="0"/>
          </a:p>
        </p:txBody>
      </p:sp>
      <p:sp>
        <p:nvSpPr>
          <p:cNvPr id="3" name="Text 1"/>
          <p:cNvSpPr/>
          <p:nvPr/>
        </p:nvSpPr>
        <p:spPr>
          <a:xfrm>
            <a:off x="16508571" y="952500"/>
            <a:ext cx="903129" cy="297180"/>
          </a:xfrm>
          <a:prstGeom prst="rect">
            <a:avLst/>
          </a:prstGeom>
          <a:noFill/>
          <a:ln/>
        </p:spPr>
        <p:txBody>
          <a:bodyPr wrap="square" lIns="25400" tIns="25400" rIns="25400" bIns="25400" rtlCol="0" anchor="t">
            <a:normAutofit/>
          </a:bodyPr>
          <a:lstStyle/>
          <a:p>
            <a:pPr algn="l" indent="0" marL="0">
              <a:buNone/>
            </a:pPr>
            <a:r>
              <a:rPr lang="en-US" sz="1800" spc="144" kern="0" dirty="0">
                <a:solidFill>
                  <a:srgbClr val="6B6457"/>
                </a:solidFill>
                <a:latin typeface="Arial" pitchFamily="34" charset="0"/>
                <a:ea typeface="Arial" pitchFamily="34" charset="-122"/>
                <a:cs typeface="Arial" pitchFamily="34" charset="-120"/>
              </a:rPr>
              <a:t>05/14</a:t>
            </a:r>
            <a:endParaRPr lang="en-US" sz="1800" dirty="0"/>
          </a:p>
        </p:txBody>
      </p:sp>
      <p:sp>
        <p:nvSpPr>
          <p:cNvPr id="4" name="Text 2"/>
          <p:cNvSpPr/>
          <p:nvPr/>
        </p:nvSpPr>
        <p:spPr>
          <a:xfrm>
            <a:off x="952500" y="1710690"/>
            <a:ext cx="1562418" cy="289560"/>
          </a:xfrm>
          <a:prstGeom prst="rect">
            <a:avLst/>
          </a:prstGeom>
          <a:noFill/>
          <a:ln/>
        </p:spPr>
        <p:txBody>
          <a:bodyPr wrap="square" lIns="25400" tIns="25400" rIns="25400" bIns="25400" rtlCol="0" anchor="t">
            <a:normAutofit/>
          </a:bodyPr>
          <a:lstStyle/>
          <a:p>
            <a:pPr algn="l" indent="0" marL="0">
              <a:buNone/>
            </a:pPr>
            <a:r>
              <a:rPr lang="en-US" sz="1800" spc="180" kern="0" dirty="0">
                <a:solidFill>
                  <a:srgbClr val="C2410C"/>
                </a:solidFill>
                <a:latin typeface="Arial" pitchFamily="34" charset="0"/>
                <a:ea typeface="Arial" pitchFamily="34" charset="-122"/>
                <a:cs typeface="Arial" pitchFamily="34" charset="-120"/>
              </a:rPr>
              <a:t>FINDING 01</a:t>
            </a:r>
            <a:endParaRPr lang="en-US" sz="1800" dirty="0"/>
          </a:p>
        </p:txBody>
      </p:sp>
      <p:sp>
        <p:nvSpPr>
          <p:cNvPr id="5" name="Text 3"/>
          <p:cNvSpPr/>
          <p:nvPr/>
        </p:nvSpPr>
        <p:spPr>
          <a:xfrm>
            <a:off x="952500" y="2194560"/>
            <a:ext cx="8427925" cy="1558290"/>
          </a:xfrm>
          <a:prstGeom prst="rect">
            <a:avLst/>
          </a:prstGeom>
          <a:noFill/>
          <a:ln/>
        </p:spPr>
        <p:txBody>
          <a:bodyPr wrap="square" lIns="25400" tIns="25400" rIns="25400" bIns="25400" rtlCol="0" anchor="t">
            <a:normAutofit/>
          </a:bodyPr>
          <a:lstStyle/>
          <a:p>
            <a:pPr algn="l" indent="0" marL="0">
              <a:lnSpc>
                <a:spcPct val="105000"/>
              </a:lnSpc>
              <a:buNone/>
            </a:pPr>
            <a:r>
              <a:rPr lang="en-US" sz="5700" spc="-114" kern="0" dirty="0">
                <a:solidFill>
                  <a:srgbClr val="16140F"/>
                </a:solidFill>
                <a:latin typeface="Arial" pitchFamily="34" charset="0"/>
                <a:ea typeface="Arial" pitchFamily="34" charset="-122"/>
                <a:cs typeface="Arial" pitchFamily="34" charset="-120"/>
              </a:rPr>
              <a:t>Agent operability is the most discriminating axis.</a:t>
            </a:r>
            <a:endParaRPr lang="en-US" sz="5700" dirty="0"/>
          </a:p>
        </p:txBody>
      </p:sp>
      <p:sp>
        <p:nvSpPr>
          <p:cNvPr id="6" name="Text 4"/>
          <p:cNvSpPr/>
          <p:nvPr/>
        </p:nvSpPr>
        <p:spPr>
          <a:xfrm>
            <a:off x="952500" y="8149590"/>
            <a:ext cx="5938774" cy="1413510"/>
          </a:xfrm>
          <a:prstGeom prst="rect">
            <a:avLst/>
          </a:prstGeom>
          <a:noFill/>
          <a:ln/>
        </p:spPr>
        <p:txBody>
          <a:bodyPr wrap="square" lIns="25400" tIns="25400" rIns="25400" bIns="25400" rtlCol="0" anchor="t">
            <a:normAutofit/>
          </a:bodyPr>
          <a:lstStyle/>
          <a:p>
            <a:pPr algn="l" indent="0" marL="0">
              <a:lnSpc>
                <a:spcPct val="140000"/>
              </a:lnSpc>
              <a:buNone/>
            </a:pPr>
            <a:r>
              <a:rPr lang="en-US" sz="2550" dirty="0">
                <a:solidFill>
                  <a:srgbClr val="16140F"/>
                </a:solidFill>
                <a:latin typeface="Arial" pitchFamily="34" charset="0"/>
                <a:ea typeface="Arial" pitchFamily="34" charset="-122"/>
                <a:cs typeface="Arial" pitchFamily="34" charset="-120"/>
              </a:rPr>
              <a:t>The pattern tracks</a:t>
            </a:r>
            <a:pPr algn="l" indent="0" marL="0">
              <a:lnSpc>
                <a:spcPct val="140000"/>
              </a:lnSpc>
              <a:buNone/>
            </a:pPr>
            <a:r>
              <a:rPr lang="en-US" sz="2550" i="1" dirty="0">
                <a:solidFill>
                  <a:srgbClr val="16140F"/>
                </a:solidFill>
                <a:latin typeface="Arial" pitchFamily="34" charset="0"/>
                <a:ea typeface="Arial" pitchFamily="34" charset="-122"/>
                <a:cs typeface="Arial" pitchFamily="34" charset="-120"/>
              </a:rPr>
              <a:t>toolchain unification </a:t>
            </a:r>
            <a:pPr algn="l" indent="0" marL="0">
              <a:lnSpc>
                <a:spcPct val="140000"/>
              </a:lnSpc>
              <a:buNone/>
            </a:pPr>
            <a:r>
              <a:rPr lang="en-US" sz="2550" dirty="0">
                <a:solidFill>
                  <a:srgbClr val="16140F"/>
                </a:solidFill>
                <a:latin typeface="Arial" pitchFamily="34" charset="0"/>
                <a:ea typeface="Arial" pitchFamily="34" charset="-122"/>
                <a:cs typeface="Arial" pitchFamily="34" charset="-120"/>
              </a:rPr>
              <a:t>and </a:t>
            </a:r>
            <a:pPr algn="l" indent="0" marL="0">
              <a:lnSpc>
                <a:spcPct val="140000"/>
              </a:lnSpc>
              <a:buNone/>
            </a:pPr>
            <a:r>
              <a:rPr lang="en-US" sz="2550" i="1" dirty="0">
                <a:solidFill>
                  <a:srgbClr val="16140F"/>
                </a:solidFill>
                <a:latin typeface="Arial" pitchFamily="34" charset="0"/>
                <a:ea typeface="Arial" pitchFamily="34" charset="-122"/>
                <a:cs typeface="Arial" pitchFamily="34" charset="-120"/>
              </a:rPr>
              <a:t>LSP-exposed semantic models </a:t>
            </a:r>
            <a:pPr algn="l" indent="0" marL="0">
              <a:lnSpc>
                <a:spcPct val="140000"/>
              </a:lnSpc>
              <a:buNone/>
            </a:pPr>
            <a:r>
              <a:rPr lang="en-US" sz="2550" dirty="0">
                <a:solidFill>
                  <a:srgbClr val="16140F"/>
                </a:solidFill>
                <a:latin typeface="Arial" pitchFamily="34" charset="0"/>
                <a:ea typeface="Arial" pitchFamily="34" charset="-122"/>
                <a:cs typeface="Arial" pitchFamily="34" charset="-120"/>
              </a:rPr>
              <a:t>— not type-system depth.</a:t>
            </a:r>
            <a:endParaRPr lang="en-US" sz="2550" dirty="0"/>
          </a:p>
        </p:txBody>
      </p:sp>
      <p:sp>
        <p:nvSpPr>
          <p:cNvPr id="7" name="Text 5"/>
          <p:cNvSpPr/>
          <p:nvPr/>
        </p:nvSpPr>
        <p:spPr>
          <a:xfrm>
            <a:off x="9896952" y="2388870"/>
            <a:ext cx="7661705" cy="297180"/>
          </a:xfrm>
          <a:prstGeom prst="rect">
            <a:avLst/>
          </a:prstGeom>
          <a:noFill/>
          <a:ln/>
        </p:spPr>
        <p:txBody>
          <a:bodyPr wrap="square" lIns="25400" tIns="25400" rIns="25400" bIns="25400" rtlCol="0" anchor="t">
            <a:normAutofit/>
          </a:bodyPr>
          <a:lstStyle/>
          <a:p>
            <a:pPr algn="l" indent="0" marL="0">
              <a:buNone/>
            </a:pPr>
            <a:r>
              <a:rPr lang="en-US" sz="1800" spc="144" kern="0" dirty="0">
                <a:solidFill>
                  <a:srgbClr val="6B6457"/>
                </a:solidFill>
                <a:latin typeface="Arial" pitchFamily="34" charset="0"/>
                <a:ea typeface="Arial" pitchFamily="34" charset="-122"/>
                <a:cs typeface="Arial" pitchFamily="34" charset="-120"/>
              </a:rPr>
              <a:t>AO SCORE · 1 → 5</a:t>
            </a:r>
            <a:endParaRPr lang="en-US" sz="1800" dirty="0"/>
          </a:p>
        </p:txBody>
      </p:sp>
      <p:sp>
        <p:nvSpPr>
          <p:cNvPr id="8" name="Text 6"/>
          <p:cNvSpPr/>
          <p:nvPr/>
        </p:nvSpPr>
        <p:spPr>
          <a:xfrm>
            <a:off x="9896952" y="2861310"/>
            <a:ext cx="1219200" cy="350520"/>
          </a:xfrm>
          <a:prstGeom prst="rect">
            <a:avLst/>
          </a:prstGeom>
          <a:noFill/>
          <a:ln/>
        </p:spPr>
        <p:txBody>
          <a:bodyPr wrap="square" lIns="25400" tIns="25400" rIns="25400" bIns="25400" rtlCol="0" anchor="t">
            <a:normAutofit/>
          </a:bodyPr>
          <a:lstStyle/>
          <a:p>
            <a:pPr algn="l" indent="0" marL="0">
              <a:buNone/>
            </a:pPr>
            <a:r>
              <a:rPr lang="en-US" sz="2100" dirty="0">
                <a:solidFill>
                  <a:srgbClr val="16140F"/>
                </a:solidFill>
                <a:latin typeface="Arial" pitchFamily="34" charset="0"/>
                <a:ea typeface="Arial" pitchFamily="34" charset="-122"/>
                <a:cs typeface="Arial" pitchFamily="34" charset="-120"/>
              </a:rPr>
              <a:t>Go</a:t>
            </a:r>
            <a:endParaRPr lang="en-US" sz="2100" dirty="0"/>
          </a:p>
        </p:txBody>
      </p:sp>
      <p:sp>
        <p:nvSpPr>
          <p:cNvPr id="9" name="Shape 7"/>
          <p:cNvSpPr/>
          <p:nvPr/>
        </p:nvSpPr>
        <p:spPr>
          <a:xfrm>
            <a:off x="11192352" y="2950845"/>
            <a:ext cx="1106646" cy="133350"/>
          </a:xfrm>
          <a:prstGeom prst="rect">
            <a:avLst/>
          </a:prstGeom>
          <a:solidFill>
            <a:srgbClr val="C2410C"/>
          </a:solidFill>
          <a:ln/>
        </p:spPr>
      </p:sp>
      <p:sp>
        <p:nvSpPr>
          <p:cNvPr id="10" name="Shape 8"/>
          <p:cNvSpPr/>
          <p:nvPr/>
        </p:nvSpPr>
        <p:spPr>
          <a:xfrm>
            <a:off x="12337098" y="2950845"/>
            <a:ext cx="1106805" cy="133350"/>
          </a:xfrm>
          <a:prstGeom prst="rect">
            <a:avLst/>
          </a:prstGeom>
          <a:solidFill>
            <a:srgbClr val="C2410C"/>
          </a:solidFill>
          <a:ln/>
        </p:spPr>
      </p:sp>
      <p:sp>
        <p:nvSpPr>
          <p:cNvPr id="11" name="Shape 9"/>
          <p:cNvSpPr/>
          <p:nvPr/>
        </p:nvSpPr>
        <p:spPr>
          <a:xfrm>
            <a:off x="13482003" y="2950845"/>
            <a:ext cx="1106646" cy="133350"/>
          </a:xfrm>
          <a:prstGeom prst="rect">
            <a:avLst/>
          </a:prstGeom>
          <a:solidFill>
            <a:srgbClr val="C2410C"/>
          </a:solidFill>
          <a:ln/>
        </p:spPr>
      </p:sp>
      <p:sp>
        <p:nvSpPr>
          <p:cNvPr id="12" name="Shape 10"/>
          <p:cNvSpPr/>
          <p:nvPr/>
        </p:nvSpPr>
        <p:spPr>
          <a:xfrm>
            <a:off x="14626749" y="2950845"/>
            <a:ext cx="1106805" cy="133350"/>
          </a:xfrm>
          <a:prstGeom prst="rect">
            <a:avLst/>
          </a:prstGeom>
          <a:solidFill>
            <a:srgbClr val="C2410C"/>
          </a:solidFill>
          <a:ln/>
        </p:spPr>
      </p:sp>
      <p:sp>
        <p:nvSpPr>
          <p:cNvPr id="13" name="Shape 11"/>
          <p:cNvSpPr/>
          <p:nvPr/>
        </p:nvSpPr>
        <p:spPr>
          <a:xfrm>
            <a:off x="15771654" y="2950845"/>
            <a:ext cx="1106646" cy="133350"/>
          </a:xfrm>
          <a:prstGeom prst="rect">
            <a:avLst/>
          </a:prstGeom>
          <a:solidFill>
            <a:srgbClr val="C2410C"/>
          </a:solidFill>
          <a:ln/>
        </p:spPr>
      </p:sp>
      <p:sp>
        <p:nvSpPr>
          <p:cNvPr id="14" name="Text 12"/>
          <p:cNvSpPr/>
          <p:nvPr/>
        </p:nvSpPr>
        <p:spPr>
          <a:xfrm>
            <a:off x="16954500" y="2838450"/>
            <a:ext cx="381000" cy="396240"/>
          </a:xfrm>
          <a:prstGeom prst="rect">
            <a:avLst/>
          </a:prstGeom>
          <a:noFill/>
          <a:ln/>
        </p:spPr>
        <p:txBody>
          <a:bodyPr wrap="square" lIns="25400" tIns="25400" rIns="25400" bIns="25400" rtlCol="0" anchor="t">
            <a:normAutofit/>
          </a:bodyPr>
          <a:lstStyle/>
          <a:p>
            <a:pPr algn="r" indent="0" marL="0">
              <a:buNone/>
            </a:pPr>
            <a:r>
              <a:rPr lang="en-US" sz="2100" b="1" dirty="0">
                <a:solidFill>
                  <a:srgbClr val="16140F"/>
                </a:solidFill>
                <a:latin typeface="Arial" pitchFamily="34" charset="0"/>
                <a:ea typeface="Arial" pitchFamily="34" charset="-122"/>
                <a:cs typeface="Arial" pitchFamily="34" charset="-120"/>
              </a:rPr>
              <a:t>5</a:t>
            </a:r>
            <a:endParaRPr lang="en-US" sz="2100" dirty="0"/>
          </a:p>
        </p:txBody>
      </p:sp>
      <p:sp>
        <p:nvSpPr>
          <p:cNvPr id="15" name="Text 13"/>
          <p:cNvSpPr/>
          <p:nvPr/>
        </p:nvSpPr>
        <p:spPr>
          <a:xfrm>
            <a:off x="9896952" y="3295650"/>
            <a:ext cx="1219200" cy="350520"/>
          </a:xfrm>
          <a:prstGeom prst="rect">
            <a:avLst/>
          </a:prstGeom>
          <a:noFill/>
          <a:ln/>
        </p:spPr>
        <p:txBody>
          <a:bodyPr wrap="square" lIns="25400" tIns="25400" rIns="25400" bIns="25400" rtlCol="0" anchor="t">
            <a:normAutofit/>
          </a:bodyPr>
          <a:lstStyle/>
          <a:p>
            <a:pPr algn="l" indent="0" marL="0">
              <a:buNone/>
            </a:pPr>
            <a:r>
              <a:rPr lang="en-US" sz="2100" dirty="0">
                <a:solidFill>
                  <a:srgbClr val="16140F"/>
                </a:solidFill>
                <a:latin typeface="Arial" pitchFamily="34" charset="0"/>
                <a:ea typeface="Arial" pitchFamily="34" charset="-122"/>
                <a:cs typeface="Arial" pitchFamily="34" charset="-120"/>
              </a:rPr>
              <a:t>TypeScript</a:t>
            </a:r>
            <a:endParaRPr lang="en-US" sz="2100" dirty="0"/>
          </a:p>
        </p:txBody>
      </p:sp>
      <p:sp>
        <p:nvSpPr>
          <p:cNvPr id="16" name="Shape 14"/>
          <p:cNvSpPr/>
          <p:nvPr/>
        </p:nvSpPr>
        <p:spPr>
          <a:xfrm>
            <a:off x="11192352" y="3385185"/>
            <a:ext cx="1106646" cy="133350"/>
          </a:xfrm>
          <a:prstGeom prst="rect">
            <a:avLst/>
          </a:prstGeom>
          <a:solidFill>
            <a:srgbClr val="C2410C"/>
          </a:solidFill>
          <a:ln/>
        </p:spPr>
      </p:sp>
      <p:sp>
        <p:nvSpPr>
          <p:cNvPr id="17" name="Shape 15"/>
          <p:cNvSpPr/>
          <p:nvPr/>
        </p:nvSpPr>
        <p:spPr>
          <a:xfrm>
            <a:off x="12337098" y="3385185"/>
            <a:ext cx="1106805" cy="133350"/>
          </a:xfrm>
          <a:prstGeom prst="rect">
            <a:avLst/>
          </a:prstGeom>
          <a:solidFill>
            <a:srgbClr val="C2410C"/>
          </a:solidFill>
          <a:ln/>
        </p:spPr>
      </p:sp>
      <p:sp>
        <p:nvSpPr>
          <p:cNvPr id="18" name="Shape 16"/>
          <p:cNvSpPr/>
          <p:nvPr/>
        </p:nvSpPr>
        <p:spPr>
          <a:xfrm>
            <a:off x="13482003" y="3385185"/>
            <a:ext cx="1106646" cy="133350"/>
          </a:xfrm>
          <a:prstGeom prst="rect">
            <a:avLst/>
          </a:prstGeom>
          <a:solidFill>
            <a:srgbClr val="C2410C"/>
          </a:solidFill>
          <a:ln/>
        </p:spPr>
      </p:sp>
      <p:sp>
        <p:nvSpPr>
          <p:cNvPr id="19" name="Shape 17"/>
          <p:cNvSpPr/>
          <p:nvPr/>
        </p:nvSpPr>
        <p:spPr>
          <a:xfrm>
            <a:off x="14626749" y="3385185"/>
            <a:ext cx="1106805" cy="133350"/>
          </a:xfrm>
          <a:prstGeom prst="rect">
            <a:avLst/>
          </a:prstGeom>
          <a:solidFill>
            <a:srgbClr val="C2410C"/>
          </a:solidFill>
          <a:ln/>
        </p:spPr>
      </p:sp>
      <p:sp>
        <p:nvSpPr>
          <p:cNvPr id="20" name="Shape 18"/>
          <p:cNvSpPr/>
          <p:nvPr/>
        </p:nvSpPr>
        <p:spPr>
          <a:xfrm>
            <a:off x="15771654" y="3385185"/>
            <a:ext cx="1106646" cy="133350"/>
          </a:xfrm>
          <a:prstGeom prst="rect">
            <a:avLst/>
          </a:prstGeom>
          <a:solidFill>
            <a:srgbClr val="C2410C"/>
          </a:solidFill>
          <a:ln/>
        </p:spPr>
      </p:sp>
      <p:sp>
        <p:nvSpPr>
          <p:cNvPr id="21" name="Text 19"/>
          <p:cNvSpPr/>
          <p:nvPr/>
        </p:nvSpPr>
        <p:spPr>
          <a:xfrm>
            <a:off x="16954500" y="3272790"/>
            <a:ext cx="381000" cy="396240"/>
          </a:xfrm>
          <a:prstGeom prst="rect">
            <a:avLst/>
          </a:prstGeom>
          <a:noFill/>
          <a:ln/>
        </p:spPr>
        <p:txBody>
          <a:bodyPr wrap="square" lIns="25400" tIns="25400" rIns="25400" bIns="25400" rtlCol="0" anchor="t">
            <a:normAutofit/>
          </a:bodyPr>
          <a:lstStyle/>
          <a:p>
            <a:pPr algn="r" indent="0" marL="0">
              <a:buNone/>
            </a:pPr>
            <a:r>
              <a:rPr lang="en-US" sz="2100" b="1" dirty="0">
                <a:solidFill>
                  <a:srgbClr val="16140F"/>
                </a:solidFill>
                <a:latin typeface="Arial" pitchFamily="34" charset="0"/>
                <a:ea typeface="Arial" pitchFamily="34" charset="-122"/>
                <a:cs typeface="Arial" pitchFamily="34" charset="-120"/>
              </a:rPr>
              <a:t>5</a:t>
            </a:r>
            <a:endParaRPr lang="en-US" sz="2100" dirty="0"/>
          </a:p>
        </p:txBody>
      </p:sp>
      <p:sp>
        <p:nvSpPr>
          <p:cNvPr id="22" name="Text 20"/>
          <p:cNvSpPr/>
          <p:nvPr/>
        </p:nvSpPr>
        <p:spPr>
          <a:xfrm>
            <a:off x="9896952" y="3729990"/>
            <a:ext cx="1219200" cy="350520"/>
          </a:xfrm>
          <a:prstGeom prst="rect">
            <a:avLst/>
          </a:prstGeom>
          <a:noFill/>
          <a:ln/>
        </p:spPr>
        <p:txBody>
          <a:bodyPr wrap="square" lIns="25400" tIns="25400" rIns="25400" bIns="25400" rtlCol="0" anchor="t">
            <a:normAutofit/>
          </a:bodyPr>
          <a:lstStyle/>
          <a:p>
            <a:pPr algn="l" indent="0" marL="0">
              <a:buNone/>
            </a:pPr>
            <a:r>
              <a:rPr lang="en-US" sz="2100" dirty="0">
                <a:solidFill>
                  <a:srgbClr val="16140F"/>
                </a:solidFill>
                <a:latin typeface="Arial" pitchFamily="34" charset="0"/>
                <a:ea typeface="Arial" pitchFamily="34" charset="-122"/>
                <a:cs typeface="Arial" pitchFamily="34" charset="-120"/>
              </a:rPr>
              <a:t>.NET</a:t>
            </a:r>
            <a:endParaRPr lang="en-US" sz="2100" dirty="0"/>
          </a:p>
        </p:txBody>
      </p:sp>
      <p:sp>
        <p:nvSpPr>
          <p:cNvPr id="23" name="Shape 21"/>
          <p:cNvSpPr/>
          <p:nvPr/>
        </p:nvSpPr>
        <p:spPr>
          <a:xfrm>
            <a:off x="11192352" y="3819525"/>
            <a:ext cx="1106646" cy="133350"/>
          </a:xfrm>
          <a:prstGeom prst="rect">
            <a:avLst/>
          </a:prstGeom>
          <a:solidFill>
            <a:srgbClr val="16140F"/>
          </a:solidFill>
          <a:ln/>
        </p:spPr>
      </p:sp>
      <p:sp>
        <p:nvSpPr>
          <p:cNvPr id="24" name="Shape 22"/>
          <p:cNvSpPr/>
          <p:nvPr/>
        </p:nvSpPr>
        <p:spPr>
          <a:xfrm>
            <a:off x="12337098" y="3819525"/>
            <a:ext cx="1106805" cy="133350"/>
          </a:xfrm>
          <a:prstGeom prst="rect">
            <a:avLst/>
          </a:prstGeom>
          <a:solidFill>
            <a:srgbClr val="16140F"/>
          </a:solidFill>
          <a:ln/>
        </p:spPr>
      </p:sp>
      <p:sp>
        <p:nvSpPr>
          <p:cNvPr id="25" name="Shape 23"/>
          <p:cNvSpPr/>
          <p:nvPr/>
        </p:nvSpPr>
        <p:spPr>
          <a:xfrm>
            <a:off x="13482003" y="3819525"/>
            <a:ext cx="1106646" cy="133350"/>
          </a:xfrm>
          <a:prstGeom prst="rect">
            <a:avLst/>
          </a:prstGeom>
          <a:solidFill>
            <a:srgbClr val="16140F"/>
          </a:solidFill>
          <a:ln/>
        </p:spPr>
      </p:sp>
      <p:sp>
        <p:nvSpPr>
          <p:cNvPr id="26" name="Shape 24"/>
          <p:cNvSpPr/>
          <p:nvPr/>
        </p:nvSpPr>
        <p:spPr>
          <a:xfrm>
            <a:off x="14626749" y="3819525"/>
            <a:ext cx="1106805" cy="133350"/>
          </a:xfrm>
          <a:prstGeom prst="rect">
            <a:avLst/>
          </a:prstGeom>
          <a:solidFill>
            <a:srgbClr val="16140F"/>
          </a:solidFill>
          <a:ln/>
        </p:spPr>
      </p:sp>
      <p:sp>
        <p:nvSpPr>
          <p:cNvPr id="27" name="Shape 25"/>
          <p:cNvSpPr/>
          <p:nvPr/>
        </p:nvSpPr>
        <p:spPr>
          <a:xfrm>
            <a:off x="15771654" y="3819525"/>
            <a:ext cx="1106646" cy="133350"/>
          </a:xfrm>
          <a:prstGeom prst="rect">
            <a:avLst/>
          </a:prstGeom>
          <a:solidFill>
            <a:srgbClr val="E9E3D5"/>
          </a:solidFill>
          <a:ln/>
        </p:spPr>
      </p:sp>
      <p:sp>
        <p:nvSpPr>
          <p:cNvPr id="28" name="Text 26"/>
          <p:cNvSpPr/>
          <p:nvPr/>
        </p:nvSpPr>
        <p:spPr>
          <a:xfrm>
            <a:off x="16954500" y="3707130"/>
            <a:ext cx="381000" cy="396240"/>
          </a:xfrm>
          <a:prstGeom prst="rect">
            <a:avLst/>
          </a:prstGeom>
          <a:noFill/>
          <a:ln/>
        </p:spPr>
        <p:txBody>
          <a:bodyPr wrap="square" lIns="25400" tIns="25400" rIns="25400" bIns="25400" rtlCol="0" anchor="t">
            <a:normAutofit/>
          </a:bodyPr>
          <a:lstStyle/>
          <a:p>
            <a:pPr algn="r" indent="0" marL="0">
              <a:buNone/>
            </a:pPr>
            <a:r>
              <a:rPr lang="en-US" sz="2100" b="1" dirty="0">
                <a:solidFill>
                  <a:srgbClr val="16140F"/>
                </a:solidFill>
                <a:latin typeface="Arial" pitchFamily="34" charset="0"/>
                <a:ea typeface="Arial" pitchFamily="34" charset="-122"/>
                <a:cs typeface="Arial" pitchFamily="34" charset="-120"/>
              </a:rPr>
              <a:t>4</a:t>
            </a:r>
            <a:endParaRPr lang="en-US" sz="2100" dirty="0"/>
          </a:p>
        </p:txBody>
      </p:sp>
      <p:sp>
        <p:nvSpPr>
          <p:cNvPr id="29" name="Text 27"/>
          <p:cNvSpPr/>
          <p:nvPr/>
        </p:nvSpPr>
        <p:spPr>
          <a:xfrm>
            <a:off x="9896952" y="4164330"/>
            <a:ext cx="1219200" cy="350520"/>
          </a:xfrm>
          <a:prstGeom prst="rect">
            <a:avLst/>
          </a:prstGeom>
          <a:noFill/>
          <a:ln/>
        </p:spPr>
        <p:txBody>
          <a:bodyPr wrap="square" lIns="25400" tIns="25400" rIns="25400" bIns="25400" rtlCol="0" anchor="t">
            <a:normAutofit/>
          </a:bodyPr>
          <a:lstStyle/>
          <a:p>
            <a:pPr algn="l" indent="0" marL="0">
              <a:buNone/>
            </a:pPr>
            <a:r>
              <a:rPr lang="en-US" sz="2100" dirty="0">
                <a:solidFill>
                  <a:srgbClr val="16140F"/>
                </a:solidFill>
                <a:latin typeface="Arial" pitchFamily="34" charset="0"/>
                <a:ea typeface="Arial" pitchFamily="34" charset="-122"/>
                <a:cs typeface="Arial" pitchFamily="34" charset="-120"/>
              </a:rPr>
              <a:t>Kotlin</a:t>
            </a:r>
            <a:endParaRPr lang="en-US" sz="2100" dirty="0"/>
          </a:p>
        </p:txBody>
      </p:sp>
      <p:sp>
        <p:nvSpPr>
          <p:cNvPr id="30" name="Shape 28"/>
          <p:cNvSpPr/>
          <p:nvPr/>
        </p:nvSpPr>
        <p:spPr>
          <a:xfrm>
            <a:off x="11192352" y="4253865"/>
            <a:ext cx="1106646" cy="133350"/>
          </a:xfrm>
          <a:prstGeom prst="rect">
            <a:avLst/>
          </a:prstGeom>
          <a:solidFill>
            <a:srgbClr val="16140F"/>
          </a:solidFill>
          <a:ln/>
        </p:spPr>
      </p:sp>
      <p:sp>
        <p:nvSpPr>
          <p:cNvPr id="31" name="Shape 29"/>
          <p:cNvSpPr/>
          <p:nvPr/>
        </p:nvSpPr>
        <p:spPr>
          <a:xfrm>
            <a:off x="12337098" y="4253865"/>
            <a:ext cx="1106805" cy="133350"/>
          </a:xfrm>
          <a:prstGeom prst="rect">
            <a:avLst/>
          </a:prstGeom>
          <a:solidFill>
            <a:srgbClr val="16140F"/>
          </a:solidFill>
          <a:ln/>
        </p:spPr>
      </p:sp>
      <p:sp>
        <p:nvSpPr>
          <p:cNvPr id="32" name="Shape 30"/>
          <p:cNvSpPr/>
          <p:nvPr/>
        </p:nvSpPr>
        <p:spPr>
          <a:xfrm>
            <a:off x="13482003" y="4253865"/>
            <a:ext cx="1106646" cy="133350"/>
          </a:xfrm>
          <a:prstGeom prst="rect">
            <a:avLst/>
          </a:prstGeom>
          <a:solidFill>
            <a:srgbClr val="16140F"/>
          </a:solidFill>
          <a:ln/>
        </p:spPr>
      </p:sp>
      <p:sp>
        <p:nvSpPr>
          <p:cNvPr id="33" name="Shape 31"/>
          <p:cNvSpPr/>
          <p:nvPr/>
        </p:nvSpPr>
        <p:spPr>
          <a:xfrm>
            <a:off x="14626749" y="4253865"/>
            <a:ext cx="1106805" cy="133350"/>
          </a:xfrm>
          <a:prstGeom prst="rect">
            <a:avLst/>
          </a:prstGeom>
          <a:solidFill>
            <a:srgbClr val="16140F"/>
          </a:solidFill>
          <a:ln/>
        </p:spPr>
      </p:sp>
      <p:sp>
        <p:nvSpPr>
          <p:cNvPr id="34" name="Shape 32"/>
          <p:cNvSpPr/>
          <p:nvPr/>
        </p:nvSpPr>
        <p:spPr>
          <a:xfrm>
            <a:off x="15771654" y="4253865"/>
            <a:ext cx="1106646" cy="133350"/>
          </a:xfrm>
          <a:prstGeom prst="rect">
            <a:avLst/>
          </a:prstGeom>
          <a:solidFill>
            <a:srgbClr val="E9E3D5"/>
          </a:solidFill>
          <a:ln/>
        </p:spPr>
      </p:sp>
      <p:sp>
        <p:nvSpPr>
          <p:cNvPr id="35" name="Text 33"/>
          <p:cNvSpPr/>
          <p:nvPr/>
        </p:nvSpPr>
        <p:spPr>
          <a:xfrm>
            <a:off x="16954500" y="4141470"/>
            <a:ext cx="381000" cy="396240"/>
          </a:xfrm>
          <a:prstGeom prst="rect">
            <a:avLst/>
          </a:prstGeom>
          <a:noFill/>
          <a:ln/>
        </p:spPr>
        <p:txBody>
          <a:bodyPr wrap="square" lIns="25400" tIns="25400" rIns="25400" bIns="25400" rtlCol="0" anchor="t">
            <a:normAutofit/>
          </a:bodyPr>
          <a:lstStyle/>
          <a:p>
            <a:pPr algn="r" indent="0" marL="0">
              <a:buNone/>
            </a:pPr>
            <a:r>
              <a:rPr lang="en-US" sz="2100" b="1" dirty="0">
                <a:solidFill>
                  <a:srgbClr val="16140F"/>
                </a:solidFill>
                <a:latin typeface="Arial" pitchFamily="34" charset="0"/>
                <a:ea typeface="Arial" pitchFamily="34" charset="-122"/>
                <a:cs typeface="Arial" pitchFamily="34" charset="-120"/>
              </a:rPr>
              <a:t>4</a:t>
            </a:r>
            <a:endParaRPr lang="en-US" sz="2100" dirty="0"/>
          </a:p>
        </p:txBody>
      </p:sp>
      <p:sp>
        <p:nvSpPr>
          <p:cNvPr id="36" name="Text 34"/>
          <p:cNvSpPr/>
          <p:nvPr/>
        </p:nvSpPr>
        <p:spPr>
          <a:xfrm>
            <a:off x="9896952" y="4598670"/>
            <a:ext cx="1219200" cy="350520"/>
          </a:xfrm>
          <a:prstGeom prst="rect">
            <a:avLst/>
          </a:prstGeom>
          <a:noFill/>
          <a:ln/>
        </p:spPr>
        <p:txBody>
          <a:bodyPr wrap="square" lIns="25400" tIns="25400" rIns="25400" bIns="25400" rtlCol="0" anchor="t">
            <a:normAutofit/>
          </a:bodyPr>
          <a:lstStyle/>
          <a:p>
            <a:pPr algn="l" indent="0" marL="0">
              <a:buNone/>
            </a:pPr>
            <a:r>
              <a:rPr lang="en-US" sz="2100" dirty="0">
                <a:solidFill>
                  <a:srgbClr val="16140F"/>
                </a:solidFill>
                <a:latin typeface="Arial" pitchFamily="34" charset="0"/>
                <a:ea typeface="Arial" pitchFamily="34" charset="-122"/>
                <a:cs typeface="Arial" pitchFamily="34" charset="-120"/>
              </a:rPr>
              <a:t>Python</a:t>
            </a:r>
            <a:endParaRPr lang="en-US" sz="2100" dirty="0"/>
          </a:p>
        </p:txBody>
      </p:sp>
      <p:sp>
        <p:nvSpPr>
          <p:cNvPr id="37" name="Shape 35"/>
          <p:cNvSpPr/>
          <p:nvPr/>
        </p:nvSpPr>
        <p:spPr>
          <a:xfrm>
            <a:off x="11192352" y="4688205"/>
            <a:ext cx="1106646" cy="133350"/>
          </a:xfrm>
          <a:prstGeom prst="rect">
            <a:avLst/>
          </a:prstGeom>
          <a:solidFill>
            <a:srgbClr val="16140F"/>
          </a:solidFill>
          <a:ln/>
        </p:spPr>
      </p:sp>
      <p:sp>
        <p:nvSpPr>
          <p:cNvPr id="38" name="Shape 36"/>
          <p:cNvSpPr/>
          <p:nvPr/>
        </p:nvSpPr>
        <p:spPr>
          <a:xfrm>
            <a:off x="12337098" y="4688205"/>
            <a:ext cx="1106805" cy="133350"/>
          </a:xfrm>
          <a:prstGeom prst="rect">
            <a:avLst/>
          </a:prstGeom>
          <a:solidFill>
            <a:srgbClr val="16140F"/>
          </a:solidFill>
          <a:ln/>
        </p:spPr>
      </p:sp>
      <p:sp>
        <p:nvSpPr>
          <p:cNvPr id="39" name="Shape 37"/>
          <p:cNvSpPr/>
          <p:nvPr/>
        </p:nvSpPr>
        <p:spPr>
          <a:xfrm>
            <a:off x="13482003" y="4688205"/>
            <a:ext cx="1106646" cy="133350"/>
          </a:xfrm>
          <a:prstGeom prst="rect">
            <a:avLst/>
          </a:prstGeom>
          <a:solidFill>
            <a:srgbClr val="16140F"/>
          </a:solidFill>
          <a:ln/>
        </p:spPr>
      </p:sp>
      <p:sp>
        <p:nvSpPr>
          <p:cNvPr id="40" name="Shape 38"/>
          <p:cNvSpPr/>
          <p:nvPr/>
        </p:nvSpPr>
        <p:spPr>
          <a:xfrm>
            <a:off x="14626749" y="4688205"/>
            <a:ext cx="1106805" cy="133350"/>
          </a:xfrm>
          <a:prstGeom prst="rect">
            <a:avLst/>
          </a:prstGeom>
          <a:solidFill>
            <a:srgbClr val="16140F"/>
          </a:solidFill>
          <a:ln/>
        </p:spPr>
      </p:sp>
      <p:sp>
        <p:nvSpPr>
          <p:cNvPr id="41" name="Shape 39"/>
          <p:cNvSpPr/>
          <p:nvPr/>
        </p:nvSpPr>
        <p:spPr>
          <a:xfrm>
            <a:off x="15771654" y="4688205"/>
            <a:ext cx="1106646" cy="133350"/>
          </a:xfrm>
          <a:prstGeom prst="rect">
            <a:avLst/>
          </a:prstGeom>
          <a:solidFill>
            <a:srgbClr val="E9E3D5"/>
          </a:solidFill>
          <a:ln/>
        </p:spPr>
      </p:sp>
      <p:sp>
        <p:nvSpPr>
          <p:cNvPr id="42" name="Text 40"/>
          <p:cNvSpPr/>
          <p:nvPr/>
        </p:nvSpPr>
        <p:spPr>
          <a:xfrm>
            <a:off x="16954500" y="4575810"/>
            <a:ext cx="381000" cy="396240"/>
          </a:xfrm>
          <a:prstGeom prst="rect">
            <a:avLst/>
          </a:prstGeom>
          <a:noFill/>
          <a:ln/>
        </p:spPr>
        <p:txBody>
          <a:bodyPr wrap="square" lIns="25400" tIns="25400" rIns="25400" bIns="25400" rtlCol="0" anchor="t">
            <a:normAutofit/>
          </a:bodyPr>
          <a:lstStyle/>
          <a:p>
            <a:pPr algn="r" indent="0" marL="0">
              <a:buNone/>
            </a:pPr>
            <a:r>
              <a:rPr lang="en-US" sz="2100" b="1" dirty="0">
                <a:solidFill>
                  <a:srgbClr val="16140F"/>
                </a:solidFill>
                <a:latin typeface="Arial" pitchFamily="34" charset="0"/>
                <a:ea typeface="Arial" pitchFamily="34" charset="-122"/>
                <a:cs typeface="Arial" pitchFamily="34" charset="-120"/>
              </a:rPr>
              <a:t>4</a:t>
            </a:r>
            <a:endParaRPr lang="en-US" sz="2100" dirty="0"/>
          </a:p>
        </p:txBody>
      </p:sp>
      <p:sp>
        <p:nvSpPr>
          <p:cNvPr id="43" name="Text 41"/>
          <p:cNvSpPr/>
          <p:nvPr/>
        </p:nvSpPr>
        <p:spPr>
          <a:xfrm>
            <a:off x="9896952" y="5033010"/>
            <a:ext cx="1219200" cy="350520"/>
          </a:xfrm>
          <a:prstGeom prst="rect">
            <a:avLst/>
          </a:prstGeom>
          <a:noFill/>
          <a:ln/>
        </p:spPr>
        <p:txBody>
          <a:bodyPr wrap="square" lIns="25400" tIns="25400" rIns="25400" bIns="25400" rtlCol="0" anchor="t">
            <a:normAutofit/>
          </a:bodyPr>
          <a:lstStyle/>
          <a:p>
            <a:pPr algn="l" indent="0" marL="0">
              <a:buNone/>
            </a:pPr>
            <a:r>
              <a:rPr lang="en-US" sz="2100" dirty="0">
                <a:solidFill>
                  <a:srgbClr val="16140F"/>
                </a:solidFill>
                <a:latin typeface="Arial" pitchFamily="34" charset="0"/>
                <a:ea typeface="Arial" pitchFamily="34" charset="-122"/>
                <a:cs typeface="Arial" pitchFamily="34" charset="-120"/>
              </a:rPr>
              <a:t>Rust</a:t>
            </a:r>
            <a:endParaRPr lang="en-US" sz="2100" dirty="0"/>
          </a:p>
        </p:txBody>
      </p:sp>
      <p:sp>
        <p:nvSpPr>
          <p:cNvPr id="44" name="Shape 42"/>
          <p:cNvSpPr/>
          <p:nvPr/>
        </p:nvSpPr>
        <p:spPr>
          <a:xfrm>
            <a:off x="11192352" y="5122545"/>
            <a:ext cx="1106646" cy="133350"/>
          </a:xfrm>
          <a:prstGeom prst="rect">
            <a:avLst/>
          </a:prstGeom>
          <a:solidFill>
            <a:srgbClr val="16140F"/>
          </a:solidFill>
          <a:ln/>
        </p:spPr>
      </p:sp>
      <p:sp>
        <p:nvSpPr>
          <p:cNvPr id="45" name="Shape 43"/>
          <p:cNvSpPr/>
          <p:nvPr/>
        </p:nvSpPr>
        <p:spPr>
          <a:xfrm>
            <a:off x="12337098" y="5122545"/>
            <a:ext cx="1106805" cy="133350"/>
          </a:xfrm>
          <a:prstGeom prst="rect">
            <a:avLst/>
          </a:prstGeom>
          <a:solidFill>
            <a:srgbClr val="16140F"/>
          </a:solidFill>
          <a:ln/>
        </p:spPr>
      </p:sp>
      <p:sp>
        <p:nvSpPr>
          <p:cNvPr id="46" name="Shape 44"/>
          <p:cNvSpPr/>
          <p:nvPr/>
        </p:nvSpPr>
        <p:spPr>
          <a:xfrm>
            <a:off x="13482003" y="5122545"/>
            <a:ext cx="1106646" cy="133350"/>
          </a:xfrm>
          <a:prstGeom prst="rect">
            <a:avLst/>
          </a:prstGeom>
          <a:solidFill>
            <a:srgbClr val="16140F"/>
          </a:solidFill>
          <a:ln/>
        </p:spPr>
      </p:sp>
      <p:sp>
        <p:nvSpPr>
          <p:cNvPr id="47" name="Shape 45"/>
          <p:cNvSpPr/>
          <p:nvPr/>
        </p:nvSpPr>
        <p:spPr>
          <a:xfrm>
            <a:off x="14626749" y="5122545"/>
            <a:ext cx="1106805" cy="133350"/>
          </a:xfrm>
          <a:prstGeom prst="rect">
            <a:avLst/>
          </a:prstGeom>
          <a:solidFill>
            <a:srgbClr val="16140F"/>
          </a:solidFill>
          <a:ln/>
        </p:spPr>
      </p:sp>
      <p:sp>
        <p:nvSpPr>
          <p:cNvPr id="48" name="Shape 46"/>
          <p:cNvSpPr/>
          <p:nvPr/>
        </p:nvSpPr>
        <p:spPr>
          <a:xfrm>
            <a:off x="15771654" y="5122545"/>
            <a:ext cx="1106646" cy="133350"/>
          </a:xfrm>
          <a:prstGeom prst="rect">
            <a:avLst/>
          </a:prstGeom>
          <a:solidFill>
            <a:srgbClr val="E9E3D5"/>
          </a:solidFill>
          <a:ln/>
        </p:spPr>
      </p:sp>
      <p:sp>
        <p:nvSpPr>
          <p:cNvPr id="49" name="Text 47"/>
          <p:cNvSpPr/>
          <p:nvPr/>
        </p:nvSpPr>
        <p:spPr>
          <a:xfrm>
            <a:off x="16954500" y="5010150"/>
            <a:ext cx="381000" cy="396240"/>
          </a:xfrm>
          <a:prstGeom prst="rect">
            <a:avLst/>
          </a:prstGeom>
          <a:noFill/>
          <a:ln/>
        </p:spPr>
        <p:txBody>
          <a:bodyPr wrap="square" lIns="25400" tIns="25400" rIns="25400" bIns="25400" rtlCol="0" anchor="t">
            <a:normAutofit/>
          </a:bodyPr>
          <a:lstStyle/>
          <a:p>
            <a:pPr algn="r" indent="0" marL="0">
              <a:buNone/>
            </a:pPr>
            <a:r>
              <a:rPr lang="en-US" sz="2100" b="1" dirty="0">
                <a:solidFill>
                  <a:srgbClr val="16140F"/>
                </a:solidFill>
                <a:latin typeface="Arial" pitchFamily="34" charset="0"/>
                <a:ea typeface="Arial" pitchFamily="34" charset="-122"/>
                <a:cs typeface="Arial" pitchFamily="34" charset="-120"/>
              </a:rPr>
              <a:t>4</a:t>
            </a:r>
            <a:endParaRPr lang="en-US" sz="2100" dirty="0"/>
          </a:p>
        </p:txBody>
      </p:sp>
      <p:sp>
        <p:nvSpPr>
          <p:cNvPr id="50" name="Text 48"/>
          <p:cNvSpPr/>
          <p:nvPr/>
        </p:nvSpPr>
        <p:spPr>
          <a:xfrm>
            <a:off x="9896952" y="5467350"/>
            <a:ext cx="1219200" cy="350520"/>
          </a:xfrm>
          <a:prstGeom prst="rect">
            <a:avLst/>
          </a:prstGeom>
          <a:noFill/>
          <a:ln/>
        </p:spPr>
        <p:txBody>
          <a:bodyPr wrap="square" lIns="25400" tIns="25400" rIns="25400" bIns="25400" rtlCol="0" anchor="t">
            <a:normAutofit/>
          </a:bodyPr>
          <a:lstStyle/>
          <a:p>
            <a:pPr algn="l" indent="0" marL="0">
              <a:buNone/>
            </a:pPr>
            <a:r>
              <a:rPr lang="en-US" sz="2100" dirty="0">
                <a:solidFill>
                  <a:srgbClr val="16140F"/>
                </a:solidFill>
                <a:latin typeface="Arial" pitchFamily="34" charset="0"/>
                <a:ea typeface="Arial" pitchFamily="34" charset="-122"/>
                <a:cs typeface="Arial" pitchFamily="34" charset="-120"/>
              </a:rPr>
              <a:t>Swift</a:t>
            </a:r>
            <a:endParaRPr lang="en-US" sz="2100" dirty="0"/>
          </a:p>
        </p:txBody>
      </p:sp>
      <p:sp>
        <p:nvSpPr>
          <p:cNvPr id="51" name="Shape 49"/>
          <p:cNvSpPr/>
          <p:nvPr/>
        </p:nvSpPr>
        <p:spPr>
          <a:xfrm>
            <a:off x="11192352" y="5556885"/>
            <a:ext cx="1106646" cy="133350"/>
          </a:xfrm>
          <a:prstGeom prst="rect">
            <a:avLst/>
          </a:prstGeom>
          <a:solidFill>
            <a:srgbClr val="16140F"/>
          </a:solidFill>
          <a:ln/>
        </p:spPr>
      </p:sp>
      <p:sp>
        <p:nvSpPr>
          <p:cNvPr id="52" name="Shape 50"/>
          <p:cNvSpPr/>
          <p:nvPr/>
        </p:nvSpPr>
        <p:spPr>
          <a:xfrm>
            <a:off x="12337098" y="5556885"/>
            <a:ext cx="1106805" cy="133350"/>
          </a:xfrm>
          <a:prstGeom prst="rect">
            <a:avLst/>
          </a:prstGeom>
          <a:solidFill>
            <a:srgbClr val="16140F"/>
          </a:solidFill>
          <a:ln/>
        </p:spPr>
      </p:sp>
      <p:sp>
        <p:nvSpPr>
          <p:cNvPr id="53" name="Shape 51"/>
          <p:cNvSpPr/>
          <p:nvPr/>
        </p:nvSpPr>
        <p:spPr>
          <a:xfrm>
            <a:off x="13482003" y="5556885"/>
            <a:ext cx="1106646" cy="133350"/>
          </a:xfrm>
          <a:prstGeom prst="rect">
            <a:avLst/>
          </a:prstGeom>
          <a:solidFill>
            <a:srgbClr val="16140F"/>
          </a:solidFill>
          <a:ln/>
        </p:spPr>
      </p:sp>
      <p:sp>
        <p:nvSpPr>
          <p:cNvPr id="54" name="Shape 52"/>
          <p:cNvSpPr/>
          <p:nvPr/>
        </p:nvSpPr>
        <p:spPr>
          <a:xfrm>
            <a:off x="14626749" y="5556885"/>
            <a:ext cx="1106805" cy="133350"/>
          </a:xfrm>
          <a:prstGeom prst="rect">
            <a:avLst/>
          </a:prstGeom>
          <a:solidFill>
            <a:srgbClr val="E9E3D5"/>
          </a:solidFill>
          <a:ln/>
        </p:spPr>
      </p:sp>
      <p:sp>
        <p:nvSpPr>
          <p:cNvPr id="55" name="Shape 53"/>
          <p:cNvSpPr/>
          <p:nvPr/>
        </p:nvSpPr>
        <p:spPr>
          <a:xfrm>
            <a:off x="15771654" y="5556885"/>
            <a:ext cx="1106646" cy="133350"/>
          </a:xfrm>
          <a:prstGeom prst="rect">
            <a:avLst/>
          </a:prstGeom>
          <a:solidFill>
            <a:srgbClr val="E9E3D5"/>
          </a:solidFill>
          <a:ln/>
        </p:spPr>
      </p:sp>
      <p:sp>
        <p:nvSpPr>
          <p:cNvPr id="56" name="Text 54"/>
          <p:cNvSpPr/>
          <p:nvPr/>
        </p:nvSpPr>
        <p:spPr>
          <a:xfrm>
            <a:off x="16954500" y="5444490"/>
            <a:ext cx="381000" cy="396240"/>
          </a:xfrm>
          <a:prstGeom prst="rect">
            <a:avLst/>
          </a:prstGeom>
          <a:noFill/>
          <a:ln/>
        </p:spPr>
        <p:txBody>
          <a:bodyPr wrap="square" lIns="25400" tIns="25400" rIns="25400" bIns="25400" rtlCol="0" anchor="t">
            <a:normAutofit/>
          </a:bodyPr>
          <a:lstStyle/>
          <a:p>
            <a:pPr algn="r" indent="0" marL="0">
              <a:buNone/>
            </a:pPr>
            <a:r>
              <a:rPr lang="en-US" sz="2100" b="1" dirty="0">
                <a:solidFill>
                  <a:srgbClr val="16140F"/>
                </a:solidFill>
                <a:latin typeface="Arial" pitchFamily="34" charset="0"/>
                <a:ea typeface="Arial" pitchFamily="34" charset="-122"/>
                <a:cs typeface="Arial" pitchFamily="34" charset="-120"/>
              </a:rPr>
              <a:t>3</a:t>
            </a:r>
            <a:endParaRPr lang="en-US" sz="2100" dirty="0"/>
          </a:p>
        </p:txBody>
      </p:sp>
      <p:sp>
        <p:nvSpPr>
          <p:cNvPr id="57" name="Text 55"/>
          <p:cNvSpPr/>
          <p:nvPr/>
        </p:nvSpPr>
        <p:spPr>
          <a:xfrm>
            <a:off x="9896952" y="5901690"/>
            <a:ext cx="1219200" cy="350520"/>
          </a:xfrm>
          <a:prstGeom prst="rect">
            <a:avLst/>
          </a:prstGeom>
          <a:noFill/>
          <a:ln/>
        </p:spPr>
        <p:txBody>
          <a:bodyPr wrap="square" lIns="25400" tIns="25400" rIns="25400" bIns="25400" rtlCol="0" anchor="t">
            <a:normAutofit/>
          </a:bodyPr>
          <a:lstStyle/>
          <a:p>
            <a:pPr algn="l" indent="0" marL="0">
              <a:buNone/>
            </a:pPr>
            <a:r>
              <a:rPr lang="en-US" sz="2100" dirty="0">
                <a:solidFill>
                  <a:srgbClr val="16140F"/>
                </a:solidFill>
                <a:latin typeface="Arial" pitchFamily="34" charset="0"/>
                <a:ea typeface="Arial" pitchFamily="34" charset="-122"/>
                <a:cs typeface="Arial" pitchFamily="34" charset="-120"/>
              </a:rPr>
              <a:t>Java</a:t>
            </a:r>
            <a:endParaRPr lang="en-US" sz="2100" dirty="0"/>
          </a:p>
        </p:txBody>
      </p:sp>
      <p:sp>
        <p:nvSpPr>
          <p:cNvPr id="58" name="Shape 56"/>
          <p:cNvSpPr/>
          <p:nvPr/>
        </p:nvSpPr>
        <p:spPr>
          <a:xfrm>
            <a:off x="11192352" y="5991225"/>
            <a:ext cx="1106646" cy="133350"/>
          </a:xfrm>
          <a:prstGeom prst="rect">
            <a:avLst/>
          </a:prstGeom>
          <a:solidFill>
            <a:srgbClr val="16140F"/>
          </a:solidFill>
          <a:ln/>
        </p:spPr>
      </p:sp>
      <p:sp>
        <p:nvSpPr>
          <p:cNvPr id="59" name="Shape 57"/>
          <p:cNvSpPr/>
          <p:nvPr/>
        </p:nvSpPr>
        <p:spPr>
          <a:xfrm>
            <a:off x="12337098" y="5991225"/>
            <a:ext cx="1106805" cy="133350"/>
          </a:xfrm>
          <a:prstGeom prst="rect">
            <a:avLst/>
          </a:prstGeom>
          <a:solidFill>
            <a:srgbClr val="16140F"/>
          </a:solidFill>
          <a:ln/>
        </p:spPr>
      </p:sp>
      <p:sp>
        <p:nvSpPr>
          <p:cNvPr id="60" name="Shape 58"/>
          <p:cNvSpPr/>
          <p:nvPr/>
        </p:nvSpPr>
        <p:spPr>
          <a:xfrm>
            <a:off x="13482003" y="5991225"/>
            <a:ext cx="1106646" cy="133350"/>
          </a:xfrm>
          <a:prstGeom prst="rect">
            <a:avLst/>
          </a:prstGeom>
          <a:solidFill>
            <a:srgbClr val="16140F"/>
          </a:solidFill>
          <a:ln/>
        </p:spPr>
      </p:sp>
      <p:sp>
        <p:nvSpPr>
          <p:cNvPr id="61" name="Shape 59"/>
          <p:cNvSpPr/>
          <p:nvPr/>
        </p:nvSpPr>
        <p:spPr>
          <a:xfrm>
            <a:off x="14626749" y="5991225"/>
            <a:ext cx="1106805" cy="133350"/>
          </a:xfrm>
          <a:prstGeom prst="rect">
            <a:avLst/>
          </a:prstGeom>
          <a:solidFill>
            <a:srgbClr val="E9E3D5"/>
          </a:solidFill>
          <a:ln/>
        </p:spPr>
      </p:sp>
      <p:sp>
        <p:nvSpPr>
          <p:cNvPr id="62" name="Shape 60"/>
          <p:cNvSpPr/>
          <p:nvPr/>
        </p:nvSpPr>
        <p:spPr>
          <a:xfrm>
            <a:off x="15771654" y="5991225"/>
            <a:ext cx="1106646" cy="133350"/>
          </a:xfrm>
          <a:prstGeom prst="rect">
            <a:avLst/>
          </a:prstGeom>
          <a:solidFill>
            <a:srgbClr val="E9E3D5"/>
          </a:solidFill>
          <a:ln/>
        </p:spPr>
      </p:sp>
      <p:sp>
        <p:nvSpPr>
          <p:cNvPr id="63" name="Text 61"/>
          <p:cNvSpPr/>
          <p:nvPr/>
        </p:nvSpPr>
        <p:spPr>
          <a:xfrm>
            <a:off x="16954500" y="5878830"/>
            <a:ext cx="381000" cy="396240"/>
          </a:xfrm>
          <a:prstGeom prst="rect">
            <a:avLst/>
          </a:prstGeom>
          <a:noFill/>
          <a:ln/>
        </p:spPr>
        <p:txBody>
          <a:bodyPr wrap="square" lIns="25400" tIns="25400" rIns="25400" bIns="25400" rtlCol="0" anchor="t">
            <a:normAutofit/>
          </a:bodyPr>
          <a:lstStyle/>
          <a:p>
            <a:pPr algn="r" indent="0" marL="0">
              <a:buNone/>
            </a:pPr>
            <a:r>
              <a:rPr lang="en-US" sz="2100" b="1" dirty="0">
                <a:solidFill>
                  <a:srgbClr val="16140F"/>
                </a:solidFill>
                <a:latin typeface="Arial" pitchFamily="34" charset="0"/>
                <a:ea typeface="Arial" pitchFamily="34" charset="-122"/>
                <a:cs typeface="Arial" pitchFamily="34" charset="-120"/>
              </a:rPr>
              <a:t>3</a:t>
            </a:r>
            <a:endParaRPr lang="en-US" sz="2100" dirty="0"/>
          </a:p>
        </p:txBody>
      </p:sp>
      <p:sp>
        <p:nvSpPr>
          <p:cNvPr id="64" name="Text 62"/>
          <p:cNvSpPr/>
          <p:nvPr/>
        </p:nvSpPr>
        <p:spPr>
          <a:xfrm>
            <a:off x="9896952" y="6336030"/>
            <a:ext cx="1219200" cy="350520"/>
          </a:xfrm>
          <a:prstGeom prst="rect">
            <a:avLst/>
          </a:prstGeom>
          <a:noFill/>
          <a:ln/>
        </p:spPr>
        <p:txBody>
          <a:bodyPr wrap="square" lIns="25400" tIns="25400" rIns="25400" bIns="25400" rtlCol="0" anchor="t">
            <a:normAutofit/>
          </a:bodyPr>
          <a:lstStyle/>
          <a:p>
            <a:pPr algn="l" indent="0" marL="0">
              <a:buNone/>
            </a:pPr>
            <a:r>
              <a:rPr lang="en-US" sz="2100" dirty="0">
                <a:solidFill>
                  <a:srgbClr val="16140F"/>
                </a:solidFill>
                <a:latin typeface="Arial" pitchFamily="34" charset="0"/>
                <a:ea typeface="Arial" pitchFamily="34" charset="-122"/>
                <a:cs typeface="Arial" pitchFamily="34" charset="-120"/>
              </a:rPr>
              <a:t>Elixir</a:t>
            </a:r>
            <a:endParaRPr lang="en-US" sz="2100" dirty="0"/>
          </a:p>
        </p:txBody>
      </p:sp>
      <p:sp>
        <p:nvSpPr>
          <p:cNvPr id="65" name="Shape 63"/>
          <p:cNvSpPr/>
          <p:nvPr/>
        </p:nvSpPr>
        <p:spPr>
          <a:xfrm>
            <a:off x="11192352" y="6425565"/>
            <a:ext cx="1106646" cy="133350"/>
          </a:xfrm>
          <a:prstGeom prst="rect">
            <a:avLst/>
          </a:prstGeom>
          <a:solidFill>
            <a:srgbClr val="16140F"/>
          </a:solidFill>
          <a:ln/>
        </p:spPr>
      </p:sp>
      <p:sp>
        <p:nvSpPr>
          <p:cNvPr id="66" name="Shape 64"/>
          <p:cNvSpPr/>
          <p:nvPr/>
        </p:nvSpPr>
        <p:spPr>
          <a:xfrm>
            <a:off x="12337098" y="6425565"/>
            <a:ext cx="1106805" cy="133350"/>
          </a:xfrm>
          <a:prstGeom prst="rect">
            <a:avLst/>
          </a:prstGeom>
          <a:solidFill>
            <a:srgbClr val="16140F"/>
          </a:solidFill>
          <a:ln/>
        </p:spPr>
      </p:sp>
      <p:sp>
        <p:nvSpPr>
          <p:cNvPr id="67" name="Shape 65"/>
          <p:cNvSpPr/>
          <p:nvPr/>
        </p:nvSpPr>
        <p:spPr>
          <a:xfrm>
            <a:off x="13482003" y="6425565"/>
            <a:ext cx="1106646" cy="133350"/>
          </a:xfrm>
          <a:prstGeom prst="rect">
            <a:avLst/>
          </a:prstGeom>
          <a:solidFill>
            <a:srgbClr val="16140F"/>
          </a:solidFill>
          <a:ln/>
        </p:spPr>
      </p:sp>
      <p:sp>
        <p:nvSpPr>
          <p:cNvPr id="68" name="Shape 66"/>
          <p:cNvSpPr/>
          <p:nvPr/>
        </p:nvSpPr>
        <p:spPr>
          <a:xfrm>
            <a:off x="14626749" y="6425565"/>
            <a:ext cx="1106805" cy="133350"/>
          </a:xfrm>
          <a:prstGeom prst="rect">
            <a:avLst/>
          </a:prstGeom>
          <a:solidFill>
            <a:srgbClr val="E9E3D5"/>
          </a:solidFill>
          <a:ln/>
        </p:spPr>
      </p:sp>
      <p:sp>
        <p:nvSpPr>
          <p:cNvPr id="69" name="Shape 67"/>
          <p:cNvSpPr/>
          <p:nvPr/>
        </p:nvSpPr>
        <p:spPr>
          <a:xfrm>
            <a:off x="15771654" y="6425565"/>
            <a:ext cx="1106646" cy="133350"/>
          </a:xfrm>
          <a:prstGeom prst="rect">
            <a:avLst/>
          </a:prstGeom>
          <a:solidFill>
            <a:srgbClr val="E9E3D5"/>
          </a:solidFill>
          <a:ln/>
        </p:spPr>
      </p:sp>
      <p:sp>
        <p:nvSpPr>
          <p:cNvPr id="70" name="Text 68"/>
          <p:cNvSpPr/>
          <p:nvPr/>
        </p:nvSpPr>
        <p:spPr>
          <a:xfrm>
            <a:off x="16954500" y="6313170"/>
            <a:ext cx="381000" cy="396240"/>
          </a:xfrm>
          <a:prstGeom prst="rect">
            <a:avLst/>
          </a:prstGeom>
          <a:noFill/>
          <a:ln/>
        </p:spPr>
        <p:txBody>
          <a:bodyPr wrap="square" lIns="25400" tIns="25400" rIns="25400" bIns="25400" rtlCol="0" anchor="t">
            <a:normAutofit/>
          </a:bodyPr>
          <a:lstStyle/>
          <a:p>
            <a:pPr algn="r" indent="0" marL="0">
              <a:buNone/>
            </a:pPr>
            <a:r>
              <a:rPr lang="en-US" sz="2100" b="1" dirty="0">
                <a:solidFill>
                  <a:srgbClr val="16140F"/>
                </a:solidFill>
                <a:latin typeface="Arial" pitchFamily="34" charset="0"/>
                <a:ea typeface="Arial" pitchFamily="34" charset="-122"/>
                <a:cs typeface="Arial" pitchFamily="34" charset="-120"/>
              </a:rPr>
              <a:t>3</a:t>
            </a:r>
            <a:endParaRPr lang="en-US" sz="2100" dirty="0"/>
          </a:p>
        </p:txBody>
      </p:sp>
      <p:sp>
        <p:nvSpPr>
          <p:cNvPr id="71" name="Text 69"/>
          <p:cNvSpPr/>
          <p:nvPr/>
        </p:nvSpPr>
        <p:spPr>
          <a:xfrm>
            <a:off x="9896952" y="6770370"/>
            <a:ext cx="1219200" cy="350520"/>
          </a:xfrm>
          <a:prstGeom prst="rect">
            <a:avLst/>
          </a:prstGeom>
          <a:noFill/>
          <a:ln/>
        </p:spPr>
        <p:txBody>
          <a:bodyPr wrap="square" lIns="25400" tIns="25400" rIns="25400" bIns="25400" rtlCol="0" anchor="t">
            <a:normAutofit/>
          </a:bodyPr>
          <a:lstStyle/>
          <a:p>
            <a:pPr algn="l" indent="0" marL="0">
              <a:buNone/>
            </a:pPr>
            <a:r>
              <a:rPr lang="en-US" sz="2100" dirty="0">
                <a:solidFill>
                  <a:srgbClr val="16140F"/>
                </a:solidFill>
                <a:latin typeface="Arial" pitchFamily="34" charset="0"/>
                <a:ea typeface="Arial" pitchFamily="34" charset="-122"/>
                <a:cs typeface="Arial" pitchFamily="34" charset="-120"/>
              </a:rPr>
              <a:t>Zig</a:t>
            </a:r>
            <a:endParaRPr lang="en-US" sz="2100" dirty="0"/>
          </a:p>
        </p:txBody>
      </p:sp>
      <p:sp>
        <p:nvSpPr>
          <p:cNvPr id="72" name="Shape 70"/>
          <p:cNvSpPr/>
          <p:nvPr/>
        </p:nvSpPr>
        <p:spPr>
          <a:xfrm>
            <a:off x="11192352" y="6859905"/>
            <a:ext cx="1106646" cy="133350"/>
          </a:xfrm>
          <a:prstGeom prst="rect">
            <a:avLst/>
          </a:prstGeom>
          <a:solidFill>
            <a:srgbClr val="16140F"/>
          </a:solidFill>
          <a:ln/>
        </p:spPr>
      </p:sp>
      <p:sp>
        <p:nvSpPr>
          <p:cNvPr id="73" name="Shape 71"/>
          <p:cNvSpPr/>
          <p:nvPr/>
        </p:nvSpPr>
        <p:spPr>
          <a:xfrm>
            <a:off x="12337098" y="6859905"/>
            <a:ext cx="1106805" cy="133350"/>
          </a:xfrm>
          <a:prstGeom prst="rect">
            <a:avLst/>
          </a:prstGeom>
          <a:solidFill>
            <a:srgbClr val="16140F"/>
          </a:solidFill>
          <a:ln/>
        </p:spPr>
      </p:sp>
      <p:sp>
        <p:nvSpPr>
          <p:cNvPr id="74" name="Shape 72"/>
          <p:cNvSpPr/>
          <p:nvPr/>
        </p:nvSpPr>
        <p:spPr>
          <a:xfrm>
            <a:off x="13482003" y="6859905"/>
            <a:ext cx="1106646" cy="133350"/>
          </a:xfrm>
          <a:prstGeom prst="rect">
            <a:avLst/>
          </a:prstGeom>
          <a:solidFill>
            <a:srgbClr val="16140F"/>
          </a:solidFill>
          <a:ln/>
        </p:spPr>
      </p:sp>
      <p:sp>
        <p:nvSpPr>
          <p:cNvPr id="75" name="Shape 73"/>
          <p:cNvSpPr/>
          <p:nvPr/>
        </p:nvSpPr>
        <p:spPr>
          <a:xfrm>
            <a:off x="14626749" y="6859905"/>
            <a:ext cx="1106805" cy="133350"/>
          </a:xfrm>
          <a:prstGeom prst="rect">
            <a:avLst/>
          </a:prstGeom>
          <a:solidFill>
            <a:srgbClr val="E9E3D5"/>
          </a:solidFill>
          <a:ln/>
        </p:spPr>
      </p:sp>
      <p:sp>
        <p:nvSpPr>
          <p:cNvPr id="76" name="Shape 74"/>
          <p:cNvSpPr/>
          <p:nvPr/>
        </p:nvSpPr>
        <p:spPr>
          <a:xfrm>
            <a:off x="15771654" y="6859905"/>
            <a:ext cx="1106646" cy="133350"/>
          </a:xfrm>
          <a:prstGeom prst="rect">
            <a:avLst/>
          </a:prstGeom>
          <a:solidFill>
            <a:srgbClr val="E9E3D5"/>
          </a:solidFill>
          <a:ln/>
        </p:spPr>
      </p:sp>
      <p:sp>
        <p:nvSpPr>
          <p:cNvPr id="77" name="Text 75"/>
          <p:cNvSpPr/>
          <p:nvPr/>
        </p:nvSpPr>
        <p:spPr>
          <a:xfrm>
            <a:off x="16954500" y="6747510"/>
            <a:ext cx="381000" cy="396240"/>
          </a:xfrm>
          <a:prstGeom prst="rect">
            <a:avLst/>
          </a:prstGeom>
          <a:noFill/>
          <a:ln/>
        </p:spPr>
        <p:txBody>
          <a:bodyPr wrap="square" lIns="25400" tIns="25400" rIns="25400" bIns="25400" rtlCol="0" anchor="t">
            <a:normAutofit/>
          </a:bodyPr>
          <a:lstStyle/>
          <a:p>
            <a:pPr algn="r" indent="0" marL="0">
              <a:buNone/>
            </a:pPr>
            <a:r>
              <a:rPr lang="en-US" sz="2100" b="1" dirty="0">
                <a:solidFill>
                  <a:srgbClr val="16140F"/>
                </a:solidFill>
                <a:latin typeface="Arial" pitchFamily="34" charset="0"/>
                <a:ea typeface="Arial" pitchFamily="34" charset="-122"/>
                <a:cs typeface="Arial" pitchFamily="34" charset="-120"/>
              </a:rPr>
              <a:t>3</a:t>
            </a:r>
            <a:endParaRPr lang="en-US" sz="2100" dirty="0"/>
          </a:p>
        </p:txBody>
      </p:sp>
      <p:sp>
        <p:nvSpPr>
          <p:cNvPr id="78" name="Text 76"/>
          <p:cNvSpPr/>
          <p:nvPr/>
        </p:nvSpPr>
        <p:spPr>
          <a:xfrm>
            <a:off x="9896952" y="7204710"/>
            <a:ext cx="1219200" cy="350520"/>
          </a:xfrm>
          <a:prstGeom prst="rect">
            <a:avLst/>
          </a:prstGeom>
          <a:noFill/>
          <a:ln/>
        </p:spPr>
        <p:txBody>
          <a:bodyPr wrap="square" lIns="25400" tIns="25400" rIns="25400" bIns="25400" rtlCol="0" anchor="t">
            <a:normAutofit/>
          </a:bodyPr>
          <a:lstStyle/>
          <a:p>
            <a:pPr algn="l" indent="0" marL="0">
              <a:buNone/>
            </a:pPr>
            <a:r>
              <a:rPr lang="en-US" sz="2100" dirty="0">
                <a:solidFill>
                  <a:srgbClr val="16140F"/>
                </a:solidFill>
                <a:latin typeface="Arial" pitchFamily="34" charset="0"/>
                <a:ea typeface="Arial" pitchFamily="34" charset="-122"/>
                <a:cs typeface="Arial" pitchFamily="34" charset="-120"/>
              </a:rPr>
              <a:t>Haskell</a:t>
            </a:r>
            <a:endParaRPr lang="en-US" sz="2100" dirty="0"/>
          </a:p>
        </p:txBody>
      </p:sp>
      <p:sp>
        <p:nvSpPr>
          <p:cNvPr id="79" name="Shape 77"/>
          <p:cNvSpPr/>
          <p:nvPr/>
        </p:nvSpPr>
        <p:spPr>
          <a:xfrm>
            <a:off x="11192352" y="7294245"/>
            <a:ext cx="1106646" cy="133350"/>
          </a:xfrm>
          <a:prstGeom prst="rect">
            <a:avLst/>
          </a:prstGeom>
          <a:solidFill>
            <a:srgbClr val="16140F"/>
          </a:solidFill>
          <a:ln/>
        </p:spPr>
      </p:sp>
      <p:sp>
        <p:nvSpPr>
          <p:cNvPr id="80" name="Shape 78"/>
          <p:cNvSpPr/>
          <p:nvPr/>
        </p:nvSpPr>
        <p:spPr>
          <a:xfrm>
            <a:off x="12337098" y="7294245"/>
            <a:ext cx="1106805" cy="133350"/>
          </a:xfrm>
          <a:prstGeom prst="rect">
            <a:avLst/>
          </a:prstGeom>
          <a:solidFill>
            <a:srgbClr val="16140F"/>
          </a:solidFill>
          <a:ln/>
        </p:spPr>
      </p:sp>
      <p:sp>
        <p:nvSpPr>
          <p:cNvPr id="81" name="Shape 79"/>
          <p:cNvSpPr/>
          <p:nvPr/>
        </p:nvSpPr>
        <p:spPr>
          <a:xfrm>
            <a:off x="13482003" y="7294245"/>
            <a:ext cx="1106646" cy="133350"/>
          </a:xfrm>
          <a:prstGeom prst="rect">
            <a:avLst/>
          </a:prstGeom>
          <a:solidFill>
            <a:srgbClr val="E9E3D5"/>
          </a:solidFill>
          <a:ln/>
        </p:spPr>
      </p:sp>
      <p:sp>
        <p:nvSpPr>
          <p:cNvPr id="82" name="Shape 80"/>
          <p:cNvSpPr/>
          <p:nvPr/>
        </p:nvSpPr>
        <p:spPr>
          <a:xfrm>
            <a:off x="14626749" y="7294245"/>
            <a:ext cx="1106805" cy="133350"/>
          </a:xfrm>
          <a:prstGeom prst="rect">
            <a:avLst/>
          </a:prstGeom>
          <a:solidFill>
            <a:srgbClr val="E9E3D5"/>
          </a:solidFill>
          <a:ln/>
        </p:spPr>
      </p:sp>
      <p:sp>
        <p:nvSpPr>
          <p:cNvPr id="83" name="Shape 81"/>
          <p:cNvSpPr/>
          <p:nvPr/>
        </p:nvSpPr>
        <p:spPr>
          <a:xfrm>
            <a:off x="15771654" y="7294245"/>
            <a:ext cx="1106646" cy="133350"/>
          </a:xfrm>
          <a:prstGeom prst="rect">
            <a:avLst/>
          </a:prstGeom>
          <a:solidFill>
            <a:srgbClr val="E9E3D5"/>
          </a:solidFill>
          <a:ln/>
        </p:spPr>
      </p:sp>
      <p:sp>
        <p:nvSpPr>
          <p:cNvPr id="84" name="Text 82"/>
          <p:cNvSpPr/>
          <p:nvPr/>
        </p:nvSpPr>
        <p:spPr>
          <a:xfrm>
            <a:off x="16954500" y="7181850"/>
            <a:ext cx="381000" cy="396240"/>
          </a:xfrm>
          <a:prstGeom prst="rect">
            <a:avLst/>
          </a:prstGeom>
          <a:noFill/>
          <a:ln/>
        </p:spPr>
        <p:txBody>
          <a:bodyPr wrap="square" lIns="25400" tIns="25400" rIns="25400" bIns="25400" rtlCol="0" anchor="t">
            <a:normAutofit/>
          </a:bodyPr>
          <a:lstStyle/>
          <a:p>
            <a:pPr algn="r" indent="0" marL="0">
              <a:buNone/>
            </a:pPr>
            <a:r>
              <a:rPr lang="en-US" sz="2100" b="1" dirty="0">
                <a:solidFill>
                  <a:srgbClr val="16140F"/>
                </a:solidFill>
                <a:latin typeface="Arial" pitchFamily="34" charset="0"/>
                <a:ea typeface="Arial" pitchFamily="34" charset="-122"/>
                <a:cs typeface="Arial" pitchFamily="34" charset="-120"/>
              </a:rPr>
              <a:t>2</a:t>
            </a:r>
            <a:endParaRPr lang="en-US" sz="2100" dirty="0"/>
          </a:p>
        </p:txBody>
      </p:sp>
      <p:sp>
        <p:nvSpPr>
          <p:cNvPr id="85" name="Text 83"/>
          <p:cNvSpPr/>
          <p:nvPr/>
        </p:nvSpPr>
        <p:spPr>
          <a:xfrm>
            <a:off x="9896952" y="7639050"/>
            <a:ext cx="1219200" cy="350520"/>
          </a:xfrm>
          <a:prstGeom prst="rect">
            <a:avLst/>
          </a:prstGeom>
          <a:noFill/>
          <a:ln/>
        </p:spPr>
        <p:txBody>
          <a:bodyPr wrap="square" lIns="25400" tIns="25400" rIns="25400" bIns="25400" rtlCol="0" anchor="t">
            <a:normAutofit/>
          </a:bodyPr>
          <a:lstStyle/>
          <a:p>
            <a:pPr algn="l" indent="0" marL="0">
              <a:buNone/>
            </a:pPr>
            <a:r>
              <a:rPr lang="en-US" sz="2100" dirty="0">
                <a:solidFill>
                  <a:srgbClr val="16140F"/>
                </a:solidFill>
                <a:latin typeface="Arial" pitchFamily="34" charset="0"/>
                <a:ea typeface="Arial" pitchFamily="34" charset="-122"/>
                <a:cs typeface="Arial" pitchFamily="34" charset="-120"/>
              </a:rPr>
              <a:t>Julia</a:t>
            </a:r>
            <a:endParaRPr lang="en-US" sz="2100" dirty="0"/>
          </a:p>
        </p:txBody>
      </p:sp>
      <p:sp>
        <p:nvSpPr>
          <p:cNvPr id="86" name="Shape 84"/>
          <p:cNvSpPr/>
          <p:nvPr/>
        </p:nvSpPr>
        <p:spPr>
          <a:xfrm>
            <a:off x="11192352" y="7728585"/>
            <a:ext cx="1106646" cy="133350"/>
          </a:xfrm>
          <a:prstGeom prst="rect">
            <a:avLst/>
          </a:prstGeom>
          <a:solidFill>
            <a:srgbClr val="16140F"/>
          </a:solidFill>
          <a:ln/>
        </p:spPr>
      </p:sp>
      <p:sp>
        <p:nvSpPr>
          <p:cNvPr id="87" name="Shape 85"/>
          <p:cNvSpPr/>
          <p:nvPr/>
        </p:nvSpPr>
        <p:spPr>
          <a:xfrm>
            <a:off x="12337098" y="7728585"/>
            <a:ext cx="1106805" cy="133350"/>
          </a:xfrm>
          <a:prstGeom prst="rect">
            <a:avLst/>
          </a:prstGeom>
          <a:solidFill>
            <a:srgbClr val="16140F"/>
          </a:solidFill>
          <a:ln/>
        </p:spPr>
      </p:sp>
      <p:sp>
        <p:nvSpPr>
          <p:cNvPr id="88" name="Shape 86"/>
          <p:cNvSpPr/>
          <p:nvPr/>
        </p:nvSpPr>
        <p:spPr>
          <a:xfrm>
            <a:off x="13482003" y="7728585"/>
            <a:ext cx="1106646" cy="133350"/>
          </a:xfrm>
          <a:prstGeom prst="rect">
            <a:avLst/>
          </a:prstGeom>
          <a:solidFill>
            <a:srgbClr val="E9E3D5"/>
          </a:solidFill>
          <a:ln/>
        </p:spPr>
      </p:sp>
      <p:sp>
        <p:nvSpPr>
          <p:cNvPr id="89" name="Shape 87"/>
          <p:cNvSpPr/>
          <p:nvPr/>
        </p:nvSpPr>
        <p:spPr>
          <a:xfrm>
            <a:off x="14626749" y="7728585"/>
            <a:ext cx="1106805" cy="133350"/>
          </a:xfrm>
          <a:prstGeom prst="rect">
            <a:avLst/>
          </a:prstGeom>
          <a:solidFill>
            <a:srgbClr val="E9E3D5"/>
          </a:solidFill>
          <a:ln/>
        </p:spPr>
      </p:sp>
      <p:sp>
        <p:nvSpPr>
          <p:cNvPr id="90" name="Shape 88"/>
          <p:cNvSpPr/>
          <p:nvPr/>
        </p:nvSpPr>
        <p:spPr>
          <a:xfrm>
            <a:off x="15771654" y="7728585"/>
            <a:ext cx="1106646" cy="133350"/>
          </a:xfrm>
          <a:prstGeom prst="rect">
            <a:avLst/>
          </a:prstGeom>
          <a:solidFill>
            <a:srgbClr val="E9E3D5"/>
          </a:solidFill>
          <a:ln/>
        </p:spPr>
      </p:sp>
      <p:sp>
        <p:nvSpPr>
          <p:cNvPr id="91" name="Text 89"/>
          <p:cNvSpPr/>
          <p:nvPr/>
        </p:nvSpPr>
        <p:spPr>
          <a:xfrm>
            <a:off x="16954500" y="7616190"/>
            <a:ext cx="381000" cy="396240"/>
          </a:xfrm>
          <a:prstGeom prst="rect">
            <a:avLst/>
          </a:prstGeom>
          <a:noFill/>
          <a:ln/>
        </p:spPr>
        <p:txBody>
          <a:bodyPr wrap="square" lIns="25400" tIns="25400" rIns="25400" bIns="25400" rtlCol="0" anchor="t">
            <a:normAutofit/>
          </a:bodyPr>
          <a:lstStyle/>
          <a:p>
            <a:pPr algn="r" indent="0" marL="0">
              <a:buNone/>
            </a:pPr>
            <a:r>
              <a:rPr lang="en-US" sz="2100" b="1" dirty="0">
                <a:solidFill>
                  <a:srgbClr val="16140F"/>
                </a:solidFill>
                <a:latin typeface="Arial" pitchFamily="34" charset="0"/>
                <a:ea typeface="Arial" pitchFamily="34" charset="-122"/>
                <a:cs typeface="Arial" pitchFamily="34" charset="-120"/>
              </a:rPr>
              <a:t>2</a:t>
            </a:r>
            <a:endParaRPr lang="en-US" sz="2100" dirty="0"/>
          </a:p>
        </p:txBody>
      </p:sp>
      <p:sp>
        <p:nvSpPr>
          <p:cNvPr id="92" name="Text 90"/>
          <p:cNvSpPr/>
          <p:nvPr/>
        </p:nvSpPr>
        <p:spPr>
          <a:xfrm>
            <a:off x="9896952" y="8073390"/>
            <a:ext cx="1219200" cy="350520"/>
          </a:xfrm>
          <a:prstGeom prst="rect">
            <a:avLst/>
          </a:prstGeom>
          <a:noFill/>
          <a:ln/>
        </p:spPr>
        <p:txBody>
          <a:bodyPr wrap="square" lIns="25400" tIns="25400" rIns="25400" bIns="25400" rtlCol="0" anchor="t">
            <a:normAutofit/>
          </a:bodyPr>
          <a:lstStyle/>
          <a:p>
            <a:pPr algn="l" indent="0" marL="0">
              <a:buNone/>
            </a:pPr>
            <a:r>
              <a:rPr lang="en-US" sz="2100" dirty="0">
                <a:solidFill>
                  <a:srgbClr val="16140F"/>
                </a:solidFill>
                <a:latin typeface="Arial" pitchFamily="34" charset="0"/>
                <a:ea typeface="Arial" pitchFamily="34" charset="-122"/>
                <a:cs typeface="Arial" pitchFamily="34" charset="-120"/>
              </a:rPr>
              <a:t>Mojo</a:t>
            </a:r>
            <a:endParaRPr lang="en-US" sz="2100" dirty="0"/>
          </a:p>
        </p:txBody>
      </p:sp>
      <p:sp>
        <p:nvSpPr>
          <p:cNvPr id="93" name="Shape 91"/>
          <p:cNvSpPr/>
          <p:nvPr/>
        </p:nvSpPr>
        <p:spPr>
          <a:xfrm>
            <a:off x="11192352" y="8162925"/>
            <a:ext cx="1106646" cy="133350"/>
          </a:xfrm>
          <a:prstGeom prst="rect">
            <a:avLst/>
          </a:prstGeom>
          <a:solidFill>
            <a:srgbClr val="16140F"/>
          </a:solidFill>
          <a:ln/>
        </p:spPr>
      </p:sp>
      <p:sp>
        <p:nvSpPr>
          <p:cNvPr id="94" name="Shape 92"/>
          <p:cNvSpPr/>
          <p:nvPr/>
        </p:nvSpPr>
        <p:spPr>
          <a:xfrm>
            <a:off x="12337098" y="8162925"/>
            <a:ext cx="1106805" cy="133350"/>
          </a:xfrm>
          <a:prstGeom prst="rect">
            <a:avLst/>
          </a:prstGeom>
          <a:solidFill>
            <a:srgbClr val="16140F"/>
          </a:solidFill>
          <a:ln/>
        </p:spPr>
      </p:sp>
      <p:sp>
        <p:nvSpPr>
          <p:cNvPr id="95" name="Shape 93"/>
          <p:cNvSpPr/>
          <p:nvPr/>
        </p:nvSpPr>
        <p:spPr>
          <a:xfrm>
            <a:off x="13482003" y="8162925"/>
            <a:ext cx="1106646" cy="133350"/>
          </a:xfrm>
          <a:prstGeom prst="rect">
            <a:avLst/>
          </a:prstGeom>
          <a:solidFill>
            <a:srgbClr val="E9E3D5"/>
          </a:solidFill>
          <a:ln/>
        </p:spPr>
      </p:sp>
      <p:sp>
        <p:nvSpPr>
          <p:cNvPr id="96" name="Shape 94"/>
          <p:cNvSpPr/>
          <p:nvPr/>
        </p:nvSpPr>
        <p:spPr>
          <a:xfrm>
            <a:off x="14626749" y="8162925"/>
            <a:ext cx="1106805" cy="133350"/>
          </a:xfrm>
          <a:prstGeom prst="rect">
            <a:avLst/>
          </a:prstGeom>
          <a:solidFill>
            <a:srgbClr val="E9E3D5"/>
          </a:solidFill>
          <a:ln/>
        </p:spPr>
      </p:sp>
      <p:sp>
        <p:nvSpPr>
          <p:cNvPr id="97" name="Shape 95"/>
          <p:cNvSpPr/>
          <p:nvPr/>
        </p:nvSpPr>
        <p:spPr>
          <a:xfrm>
            <a:off x="15771654" y="8162925"/>
            <a:ext cx="1106646" cy="133350"/>
          </a:xfrm>
          <a:prstGeom prst="rect">
            <a:avLst/>
          </a:prstGeom>
          <a:solidFill>
            <a:srgbClr val="E9E3D5"/>
          </a:solidFill>
          <a:ln/>
        </p:spPr>
      </p:sp>
      <p:sp>
        <p:nvSpPr>
          <p:cNvPr id="98" name="Text 96"/>
          <p:cNvSpPr/>
          <p:nvPr/>
        </p:nvSpPr>
        <p:spPr>
          <a:xfrm>
            <a:off x="16954500" y="8050530"/>
            <a:ext cx="381000" cy="396240"/>
          </a:xfrm>
          <a:prstGeom prst="rect">
            <a:avLst/>
          </a:prstGeom>
          <a:noFill/>
          <a:ln/>
        </p:spPr>
        <p:txBody>
          <a:bodyPr wrap="square" lIns="25400" tIns="25400" rIns="25400" bIns="25400" rtlCol="0" anchor="t">
            <a:normAutofit/>
          </a:bodyPr>
          <a:lstStyle/>
          <a:p>
            <a:pPr algn="r" indent="0" marL="0">
              <a:buNone/>
            </a:pPr>
            <a:r>
              <a:rPr lang="en-US" sz="2100" b="1" dirty="0">
                <a:solidFill>
                  <a:srgbClr val="16140F"/>
                </a:solidFill>
                <a:latin typeface="Arial" pitchFamily="34" charset="0"/>
                <a:ea typeface="Arial" pitchFamily="34" charset="-122"/>
                <a:cs typeface="Arial" pitchFamily="34" charset="-120"/>
              </a:rPr>
              <a:t>2</a:t>
            </a:r>
            <a:endParaRPr lang="en-US" sz="2100" dirty="0"/>
          </a:p>
        </p:txBody>
      </p:sp>
      <p:sp>
        <p:nvSpPr>
          <p:cNvPr id="99" name="Text 97"/>
          <p:cNvSpPr/>
          <p:nvPr/>
        </p:nvSpPr>
        <p:spPr>
          <a:xfrm>
            <a:off x="9896952" y="8507730"/>
            <a:ext cx="1219200" cy="350520"/>
          </a:xfrm>
          <a:prstGeom prst="rect">
            <a:avLst/>
          </a:prstGeom>
          <a:noFill/>
          <a:ln/>
        </p:spPr>
        <p:txBody>
          <a:bodyPr wrap="square" lIns="25400" tIns="25400" rIns="25400" bIns="25400" rtlCol="0" anchor="t">
            <a:normAutofit/>
          </a:bodyPr>
          <a:lstStyle/>
          <a:p>
            <a:pPr algn="l" indent="0" marL="0">
              <a:buNone/>
            </a:pPr>
            <a:r>
              <a:rPr lang="en-US" sz="2100" dirty="0">
                <a:solidFill>
                  <a:srgbClr val="16140F"/>
                </a:solidFill>
                <a:latin typeface="Arial" pitchFamily="34" charset="0"/>
                <a:ea typeface="Arial" pitchFamily="34" charset="-122"/>
                <a:cs typeface="Arial" pitchFamily="34" charset="-120"/>
              </a:rPr>
              <a:t>C++</a:t>
            </a:r>
            <a:endParaRPr lang="en-US" sz="2100" dirty="0"/>
          </a:p>
        </p:txBody>
      </p:sp>
      <p:sp>
        <p:nvSpPr>
          <p:cNvPr id="100" name="Shape 98"/>
          <p:cNvSpPr/>
          <p:nvPr/>
        </p:nvSpPr>
        <p:spPr>
          <a:xfrm>
            <a:off x="11192352" y="8597265"/>
            <a:ext cx="1106646" cy="133350"/>
          </a:xfrm>
          <a:prstGeom prst="rect">
            <a:avLst/>
          </a:prstGeom>
          <a:solidFill>
            <a:srgbClr val="16140F"/>
          </a:solidFill>
          <a:ln/>
        </p:spPr>
      </p:sp>
      <p:sp>
        <p:nvSpPr>
          <p:cNvPr id="101" name="Shape 99"/>
          <p:cNvSpPr/>
          <p:nvPr/>
        </p:nvSpPr>
        <p:spPr>
          <a:xfrm>
            <a:off x="12337098" y="8597265"/>
            <a:ext cx="1106805" cy="133350"/>
          </a:xfrm>
          <a:prstGeom prst="rect">
            <a:avLst/>
          </a:prstGeom>
          <a:solidFill>
            <a:srgbClr val="16140F"/>
          </a:solidFill>
          <a:ln/>
        </p:spPr>
      </p:sp>
      <p:sp>
        <p:nvSpPr>
          <p:cNvPr id="102" name="Shape 100"/>
          <p:cNvSpPr/>
          <p:nvPr/>
        </p:nvSpPr>
        <p:spPr>
          <a:xfrm>
            <a:off x="13482003" y="8597265"/>
            <a:ext cx="1106646" cy="133350"/>
          </a:xfrm>
          <a:prstGeom prst="rect">
            <a:avLst/>
          </a:prstGeom>
          <a:solidFill>
            <a:srgbClr val="E9E3D5"/>
          </a:solidFill>
          <a:ln/>
        </p:spPr>
      </p:sp>
      <p:sp>
        <p:nvSpPr>
          <p:cNvPr id="103" name="Shape 101"/>
          <p:cNvSpPr/>
          <p:nvPr/>
        </p:nvSpPr>
        <p:spPr>
          <a:xfrm>
            <a:off x="14626749" y="8597265"/>
            <a:ext cx="1106805" cy="133350"/>
          </a:xfrm>
          <a:prstGeom prst="rect">
            <a:avLst/>
          </a:prstGeom>
          <a:solidFill>
            <a:srgbClr val="E9E3D5"/>
          </a:solidFill>
          <a:ln/>
        </p:spPr>
      </p:sp>
      <p:sp>
        <p:nvSpPr>
          <p:cNvPr id="104" name="Shape 102"/>
          <p:cNvSpPr/>
          <p:nvPr/>
        </p:nvSpPr>
        <p:spPr>
          <a:xfrm>
            <a:off x="15771654" y="8597265"/>
            <a:ext cx="1106646" cy="133350"/>
          </a:xfrm>
          <a:prstGeom prst="rect">
            <a:avLst/>
          </a:prstGeom>
          <a:solidFill>
            <a:srgbClr val="E9E3D5"/>
          </a:solidFill>
          <a:ln/>
        </p:spPr>
      </p:sp>
      <p:sp>
        <p:nvSpPr>
          <p:cNvPr id="105" name="Text 103"/>
          <p:cNvSpPr/>
          <p:nvPr/>
        </p:nvSpPr>
        <p:spPr>
          <a:xfrm>
            <a:off x="16954500" y="8484870"/>
            <a:ext cx="381000" cy="396240"/>
          </a:xfrm>
          <a:prstGeom prst="rect">
            <a:avLst/>
          </a:prstGeom>
          <a:noFill/>
          <a:ln/>
        </p:spPr>
        <p:txBody>
          <a:bodyPr wrap="square" lIns="25400" tIns="25400" rIns="25400" bIns="25400" rtlCol="0" anchor="t">
            <a:normAutofit/>
          </a:bodyPr>
          <a:lstStyle/>
          <a:p>
            <a:pPr algn="r" indent="0" marL="0">
              <a:buNone/>
            </a:pPr>
            <a:r>
              <a:rPr lang="en-US" sz="2100" b="1" dirty="0">
                <a:solidFill>
                  <a:srgbClr val="16140F"/>
                </a:solidFill>
                <a:latin typeface="Arial" pitchFamily="34" charset="0"/>
                <a:ea typeface="Arial" pitchFamily="34" charset="-122"/>
                <a:cs typeface="Arial" pitchFamily="34" charset="-120"/>
              </a:rPr>
              <a:t>2</a:t>
            </a:r>
            <a:endParaRPr lang="en-US" sz="2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3EFE6"/>
        </a:solidFill>
      </p:bgPr>
    </p:bg>
    <p:spTree>
      <p:nvGrpSpPr>
        <p:cNvPr id="1" name=""/>
        <p:cNvGrpSpPr/>
        <p:nvPr/>
      </p:nvGrpSpPr>
      <p:grpSpPr>
        <a:xfrm>
          <a:off x="0" y="0"/>
          <a:ext cx="0" cy="0"/>
          <a:chOff x="0" y="0"/>
          <a:chExt cx="0" cy="0"/>
        </a:xfrm>
      </p:grpSpPr>
      <p:sp>
        <p:nvSpPr>
          <p:cNvPr id="2" name="Text 0"/>
          <p:cNvSpPr/>
          <p:nvPr/>
        </p:nvSpPr>
        <p:spPr>
          <a:xfrm>
            <a:off x="952500" y="952500"/>
            <a:ext cx="2881254" cy="297180"/>
          </a:xfrm>
          <a:prstGeom prst="rect">
            <a:avLst/>
          </a:prstGeom>
          <a:noFill/>
          <a:ln/>
        </p:spPr>
        <p:txBody>
          <a:bodyPr wrap="square" lIns="25400" tIns="25400" rIns="25400" bIns="25400" rtlCol="0" anchor="t">
            <a:normAutofit/>
          </a:bodyPr>
          <a:lstStyle/>
          <a:p>
            <a:pPr algn="l" indent="0" marL="0">
              <a:buNone/>
            </a:pPr>
            <a:r>
              <a:rPr lang="en-US" sz="1800" spc="144" kern="0" dirty="0">
                <a:solidFill>
                  <a:srgbClr val="6B6457"/>
                </a:solidFill>
                <a:latin typeface="Arial" pitchFamily="34" charset="0"/>
                <a:ea typeface="Arial" pitchFamily="34" charset="-122"/>
                <a:cs typeface="Arial" pitchFamily="34" charset="-120"/>
              </a:rPr>
              <a:t>04 · FINDING 02 OF 05</a:t>
            </a:r>
            <a:endParaRPr lang="en-US" sz="1800" dirty="0"/>
          </a:p>
        </p:txBody>
      </p:sp>
      <p:sp>
        <p:nvSpPr>
          <p:cNvPr id="3" name="Text 1"/>
          <p:cNvSpPr/>
          <p:nvPr/>
        </p:nvSpPr>
        <p:spPr>
          <a:xfrm>
            <a:off x="16508571" y="952500"/>
            <a:ext cx="903129" cy="297180"/>
          </a:xfrm>
          <a:prstGeom prst="rect">
            <a:avLst/>
          </a:prstGeom>
          <a:noFill/>
          <a:ln/>
        </p:spPr>
        <p:txBody>
          <a:bodyPr wrap="square" lIns="25400" tIns="25400" rIns="25400" bIns="25400" rtlCol="0" anchor="t">
            <a:normAutofit/>
          </a:bodyPr>
          <a:lstStyle/>
          <a:p>
            <a:pPr algn="l" indent="0" marL="0">
              <a:buNone/>
            </a:pPr>
            <a:r>
              <a:rPr lang="en-US" sz="1800" spc="144" kern="0" dirty="0">
                <a:solidFill>
                  <a:srgbClr val="6B6457"/>
                </a:solidFill>
                <a:latin typeface="Arial" pitchFamily="34" charset="0"/>
                <a:ea typeface="Arial" pitchFamily="34" charset="-122"/>
                <a:cs typeface="Arial" pitchFamily="34" charset="-120"/>
              </a:rPr>
              <a:t>06/14</a:t>
            </a:r>
            <a:endParaRPr lang="en-US" sz="1800" dirty="0"/>
          </a:p>
        </p:txBody>
      </p:sp>
      <p:sp>
        <p:nvSpPr>
          <p:cNvPr id="4" name="Text 2"/>
          <p:cNvSpPr/>
          <p:nvPr/>
        </p:nvSpPr>
        <p:spPr>
          <a:xfrm>
            <a:off x="952500" y="1706880"/>
            <a:ext cx="16874490" cy="297180"/>
          </a:xfrm>
          <a:prstGeom prst="rect">
            <a:avLst/>
          </a:prstGeom>
          <a:noFill/>
          <a:ln/>
        </p:spPr>
        <p:txBody>
          <a:bodyPr wrap="square" lIns="25400" tIns="25400" rIns="25400" bIns="25400" rtlCol="0" anchor="t">
            <a:normAutofit/>
          </a:bodyPr>
          <a:lstStyle/>
          <a:p>
            <a:pPr algn="l" indent="0" marL="0">
              <a:buNone/>
            </a:pPr>
            <a:r>
              <a:rPr lang="en-US" sz="1800" spc="180" kern="0" dirty="0">
                <a:solidFill>
                  <a:srgbClr val="C2410C"/>
                </a:solidFill>
                <a:latin typeface="Arial" pitchFamily="34" charset="0"/>
                <a:ea typeface="Arial" pitchFamily="34" charset="-122"/>
                <a:cs typeface="Arial" pitchFamily="34" charset="-120"/>
              </a:rPr>
              <a:t>FINDING 02</a:t>
            </a:r>
            <a:endParaRPr lang="en-US" sz="1800" dirty="0"/>
          </a:p>
        </p:txBody>
      </p:sp>
      <p:sp>
        <p:nvSpPr>
          <p:cNvPr id="5" name="Text 3"/>
          <p:cNvSpPr/>
          <p:nvPr/>
        </p:nvSpPr>
        <p:spPr>
          <a:xfrm>
            <a:off x="952500" y="2194560"/>
            <a:ext cx="9122690" cy="1581150"/>
          </a:xfrm>
          <a:prstGeom prst="rect">
            <a:avLst/>
          </a:prstGeom>
          <a:noFill/>
          <a:ln/>
        </p:spPr>
        <p:txBody>
          <a:bodyPr wrap="square" lIns="25400" tIns="25400" rIns="25400" bIns="25400" rtlCol="0" anchor="t">
            <a:normAutofit/>
          </a:bodyPr>
          <a:lstStyle/>
          <a:p>
            <a:pPr algn="l" indent="0" marL="0">
              <a:lnSpc>
                <a:spcPct val="105000"/>
              </a:lnSpc>
              <a:buNone/>
            </a:pPr>
            <a:r>
              <a:rPr lang="en-US" sz="5700" spc="-114" kern="0" dirty="0">
                <a:solidFill>
                  <a:srgbClr val="16140F"/>
                </a:solidFill>
                <a:latin typeface="Arial" pitchFamily="34" charset="0"/>
                <a:ea typeface="Arial" pitchFamily="34" charset="-122"/>
                <a:cs typeface="Arial" pitchFamily="34" charset="-120"/>
              </a:rPr>
              <a:t>AI raises the value of </a:t>
            </a:r>
            <a:pPr algn="l" indent="0" marL="0">
              <a:lnSpc>
                <a:spcPct val="105000"/>
              </a:lnSpc>
              <a:buNone/>
            </a:pPr>
            <a:r>
              <a:rPr lang="en-US" sz="5700" i="1" spc="-114" kern="0" dirty="0">
                <a:solidFill>
                  <a:srgbClr val="C2410C"/>
                </a:solidFill>
                <a:latin typeface="Arial" pitchFamily="34" charset="0"/>
                <a:ea typeface="Arial" pitchFamily="34" charset="-122"/>
                <a:cs typeface="Arial" pitchFamily="34" charset="-120"/>
              </a:rPr>
              <a:t>cheap verification </a:t>
            </a:r>
            <a:pPr algn="l" indent="0" marL="0">
              <a:lnSpc>
                <a:spcPct val="105000"/>
              </a:lnSpc>
              <a:buNone/>
            </a:pPr>
            <a:r>
              <a:rPr lang="en-US" sz="5700" spc="-114" kern="0" dirty="0">
                <a:solidFill>
                  <a:srgbClr val="16140F"/>
                </a:solidFill>
                <a:latin typeface="Arial" pitchFamily="34" charset="0"/>
                <a:ea typeface="Arial" pitchFamily="34" charset="-122"/>
                <a:cs typeface="Arial" pitchFamily="34" charset="-120"/>
              </a:rPr>
              <a:t>.</a:t>
            </a:r>
            <a:endParaRPr lang="en-US" sz="5700" dirty="0"/>
          </a:p>
        </p:txBody>
      </p:sp>
      <p:sp>
        <p:nvSpPr>
          <p:cNvPr id="6" name="Text 4"/>
          <p:cNvSpPr/>
          <p:nvPr/>
        </p:nvSpPr>
        <p:spPr>
          <a:xfrm>
            <a:off x="952500" y="4280535"/>
            <a:ext cx="4246910" cy="849630"/>
          </a:xfrm>
          <a:prstGeom prst="rect">
            <a:avLst/>
          </a:prstGeom>
          <a:noFill/>
          <a:ln/>
        </p:spPr>
        <p:txBody>
          <a:bodyPr wrap="square" lIns="25400" tIns="25400" rIns="25400" bIns="25400" rtlCol="0" anchor="t">
            <a:normAutofit/>
          </a:bodyPr>
          <a:lstStyle/>
          <a:p>
            <a:pPr algn="l" indent="0" marL="0">
              <a:lnSpc>
                <a:spcPct val="140000"/>
              </a:lnSpc>
              <a:buNone/>
            </a:pPr>
            <a:r>
              <a:rPr lang="en-US" sz="2550" dirty="0">
                <a:solidFill>
                  <a:srgbClr val="16140F"/>
                </a:solidFill>
                <a:latin typeface="Arial" pitchFamily="34" charset="0"/>
                <a:ea typeface="Arial" pitchFamily="34" charset="-122"/>
                <a:cs typeface="Arial" pitchFamily="34" charset="-120"/>
              </a:rPr>
              <a:t>Agents write more code than humans can read.</a:t>
            </a:r>
            <a:endParaRPr lang="en-US" sz="2550" dirty="0"/>
          </a:p>
        </p:txBody>
      </p:sp>
      <p:sp>
        <p:nvSpPr>
          <p:cNvPr id="7" name="Text 5"/>
          <p:cNvSpPr/>
          <p:nvPr/>
        </p:nvSpPr>
        <p:spPr>
          <a:xfrm>
            <a:off x="952500" y="4733925"/>
            <a:ext cx="4952140" cy="857250"/>
          </a:xfrm>
          <a:prstGeom prst="rect">
            <a:avLst/>
          </a:prstGeom>
          <a:noFill/>
          <a:ln/>
        </p:spPr>
        <p:txBody>
          <a:bodyPr wrap="square" lIns="25400" tIns="25400" rIns="25400" bIns="25400" rtlCol="0" anchor="t">
            <a:normAutofit/>
          </a:bodyPr>
          <a:lstStyle/>
          <a:p>
            <a:pPr algn="l" indent="0" marL="0">
              <a:lnSpc>
                <a:spcPct val="140000"/>
              </a:lnSpc>
              <a:buNone/>
            </a:pPr>
            <a:r>
              <a:rPr lang="en-US" sz="2550" dirty="0">
                <a:solidFill>
                  <a:srgbClr val="16140F"/>
                </a:solidFill>
                <a:latin typeface="Arial" pitchFamily="34" charset="0"/>
                <a:ea typeface="Arial" pitchFamily="34" charset="-122"/>
                <a:cs typeface="Arial" pitchFamily="34" charset="-120"/>
              </a:rPr>
              <a:t>The bottleneck shifts from</a:t>
            </a:r>
            <a:endParaRPr lang="en-US" sz="2550" dirty="0"/>
          </a:p>
        </p:txBody>
      </p:sp>
      <p:sp>
        <p:nvSpPr>
          <p:cNvPr id="8" name="Text 6"/>
          <p:cNvSpPr/>
          <p:nvPr/>
        </p:nvSpPr>
        <p:spPr>
          <a:xfrm>
            <a:off x="2536190" y="5164455"/>
            <a:ext cx="1606391" cy="441960"/>
          </a:xfrm>
          <a:prstGeom prst="rect">
            <a:avLst/>
          </a:prstGeom>
          <a:noFill/>
          <a:ln/>
        </p:spPr>
        <p:txBody>
          <a:bodyPr wrap="square" lIns="25400" tIns="25400" rIns="25400" bIns="25400" rtlCol="0" anchor="t">
            <a:normAutofit/>
          </a:bodyPr>
          <a:lstStyle/>
          <a:p>
            <a:pPr algn="l" indent="0" marL="0">
              <a:lnSpc>
                <a:spcPct val="140000"/>
              </a:lnSpc>
              <a:buNone/>
            </a:pPr>
            <a:r>
              <a:rPr lang="en-US" sz="2550" i="1" dirty="0">
                <a:solidFill>
                  <a:srgbClr val="16140F"/>
                </a:solidFill>
                <a:latin typeface="Arial" pitchFamily="34" charset="0"/>
                <a:ea typeface="Arial" pitchFamily="34" charset="-122"/>
                <a:cs typeface="Arial" pitchFamily="34" charset="-120"/>
              </a:rPr>
              <a:t>generation</a:t>
            </a:r>
            <a:endParaRPr lang="en-US" sz="2550" dirty="0"/>
          </a:p>
        </p:txBody>
      </p:sp>
      <p:sp>
        <p:nvSpPr>
          <p:cNvPr id="9" name="Text 7"/>
          <p:cNvSpPr/>
          <p:nvPr/>
        </p:nvSpPr>
        <p:spPr>
          <a:xfrm>
            <a:off x="4066381" y="5194935"/>
            <a:ext cx="436404" cy="396240"/>
          </a:xfrm>
          <a:prstGeom prst="rect">
            <a:avLst/>
          </a:prstGeom>
          <a:noFill/>
          <a:ln/>
        </p:spPr>
        <p:txBody>
          <a:bodyPr wrap="square" lIns="25400" tIns="25400" rIns="25400" bIns="25400" rtlCol="0" anchor="t">
            <a:normAutofit/>
          </a:bodyPr>
          <a:lstStyle/>
          <a:p>
            <a:pPr algn="l" indent="0" marL="0">
              <a:lnSpc>
                <a:spcPct val="140000"/>
              </a:lnSpc>
              <a:buNone/>
            </a:pPr>
            <a:r>
              <a:rPr lang="en-US" sz="2550" dirty="0">
                <a:solidFill>
                  <a:srgbClr val="16140F"/>
                </a:solidFill>
                <a:latin typeface="Arial" pitchFamily="34" charset="0"/>
                <a:ea typeface="Arial" pitchFamily="34" charset="-122"/>
                <a:cs typeface="Arial" pitchFamily="34" charset="-120"/>
              </a:rPr>
              <a:t>to</a:t>
            </a:r>
            <a:endParaRPr lang="en-US" sz="2550" dirty="0"/>
          </a:p>
        </p:txBody>
      </p:sp>
      <p:sp>
        <p:nvSpPr>
          <p:cNvPr id="10" name="Text 8"/>
          <p:cNvSpPr/>
          <p:nvPr/>
        </p:nvSpPr>
        <p:spPr>
          <a:xfrm>
            <a:off x="952500" y="5625465"/>
            <a:ext cx="1536541" cy="441960"/>
          </a:xfrm>
          <a:prstGeom prst="rect">
            <a:avLst/>
          </a:prstGeom>
          <a:noFill/>
          <a:ln/>
        </p:spPr>
        <p:txBody>
          <a:bodyPr wrap="square" lIns="25400" tIns="25400" rIns="25400" bIns="25400" rtlCol="0" anchor="t">
            <a:normAutofit/>
          </a:bodyPr>
          <a:lstStyle/>
          <a:p>
            <a:pPr algn="l" indent="0" marL="0">
              <a:lnSpc>
                <a:spcPct val="140000"/>
              </a:lnSpc>
              <a:buNone/>
            </a:pPr>
            <a:r>
              <a:rPr lang="en-US" sz="2550" i="1" dirty="0">
                <a:solidFill>
                  <a:srgbClr val="16140F"/>
                </a:solidFill>
                <a:latin typeface="Arial" pitchFamily="34" charset="0"/>
                <a:ea typeface="Arial" pitchFamily="34" charset="-122"/>
                <a:cs typeface="Arial" pitchFamily="34" charset="-120"/>
              </a:rPr>
              <a:t>validation</a:t>
            </a:r>
            <a:endParaRPr lang="en-US" sz="2550" dirty="0"/>
          </a:p>
        </p:txBody>
      </p:sp>
      <p:sp>
        <p:nvSpPr>
          <p:cNvPr id="11" name="Text 9"/>
          <p:cNvSpPr/>
          <p:nvPr/>
        </p:nvSpPr>
        <p:spPr>
          <a:xfrm>
            <a:off x="2412841" y="5655945"/>
            <a:ext cx="166211" cy="396240"/>
          </a:xfrm>
          <a:prstGeom prst="rect">
            <a:avLst/>
          </a:prstGeom>
          <a:noFill/>
          <a:ln/>
        </p:spPr>
        <p:txBody>
          <a:bodyPr wrap="square" lIns="25400" tIns="25400" rIns="25400" bIns="25400" rtlCol="0" anchor="t">
            <a:normAutofit/>
          </a:bodyPr>
          <a:lstStyle/>
          <a:p>
            <a:pPr algn="l" indent="0" marL="0">
              <a:lnSpc>
                <a:spcPct val="140000"/>
              </a:lnSpc>
              <a:buNone/>
            </a:pPr>
            <a:r>
              <a:rPr lang="en-US" sz="2550" dirty="0">
                <a:solidFill>
                  <a:srgbClr val="16140F"/>
                </a:solidFill>
                <a:latin typeface="Arial" pitchFamily="34" charset="0"/>
                <a:ea typeface="Arial" pitchFamily="34" charset="-122"/>
                <a:cs typeface="Arial" pitchFamily="34" charset="-120"/>
              </a:rPr>
              <a:t>.</a:t>
            </a:r>
            <a:endParaRPr lang="en-US" sz="2550" dirty="0"/>
          </a:p>
        </p:txBody>
      </p:sp>
      <p:sp>
        <p:nvSpPr>
          <p:cNvPr id="12" name="Text 10"/>
          <p:cNvSpPr/>
          <p:nvPr/>
        </p:nvSpPr>
        <p:spPr>
          <a:xfrm>
            <a:off x="952500" y="6442710"/>
            <a:ext cx="5196427" cy="1238250"/>
          </a:xfrm>
          <a:prstGeom prst="rect">
            <a:avLst/>
          </a:prstGeom>
          <a:noFill/>
          <a:ln/>
        </p:spPr>
        <p:txBody>
          <a:bodyPr wrap="square" lIns="25400" tIns="25400" rIns="25400" bIns="25400" rtlCol="0" anchor="t">
            <a:normAutofit/>
          </a:bodyPr>
          <a:lstStyle/>
          <a:p>
            <a:pPr algn="l" indent="0" marL="0">
              <a:lnSpc>
                <a:spcPct val="150000"/>
              </a:lnSpc>
              <a:buNone/>
            </a:pPr>
            <a:r>
              <a:rPr lang="en-US" sz="2100" dirty="0">
                <a:solidFill>
                  <a:srgbClr val="6B6457"/>
                </a:solidFill>
                <a:latin typeface="Arial" pitchFamily="34" charset="0"/>
                <a:ea typeface="Arial" pitchFamily="34" charset="-122"/>
                <a:cs typeface="Arial" pitchFamily="34" charset="-120"/>
              </a:rPr>
              <a:t>Compilers that can falsify a candidate change without execution gain proportional value.</a:t>
            </a:r>
            <a:endParaRPr lang="en-US" sz="2100" dirty="0"/>
          </a:p>
        </p:txBody>
      </p:sp>
      <p:sp>
        <p:nvSpPr>
          <p:cNvPr id="13" name="Text 11"/>
          <p:cNvSpPr/>
          <p:nvPr/>
        </p:nvSpPr>
        <p:spPr>
          <a:xfrm>
            <a:off x="8814911" y="4236720"/>
            <a:ext cx="5065618" cy="289560"/>
          </a:xfrm>
          <a:prstGeom prst="rect">
            <a:avLst/>
          </a:prstGeom>
          <a:noFill/>
          <a:ln/>
        </p:spPr>
        <p:txBody>
          <a:bodyPr wrap="square" lIns="25400" tIns="25400" rIns="25400" bIns="25400" rtlCol="0" anchor="t">
            <a:normAutofit/>
          </a:bodyPr>
          <a:lstStyle/>
          <a:p>
            <a:pPr algn="l" indent="0" marL="0">
              <a:buNone/>
            </a:pPr>
            <a:r>
              <a:rPr lang="en-US" sz="1800" spc="144" kern="0" dirty="0">
                <a:solidFill>
                  <a:srgbClr val="6B6457"/>
                </a:solidFill>
                <a:latin typeface="Arial" pitchFamily="34" charset="0"/>
                <a:ea typeface="Arial" pitchFamily="34" charset="-122"/>
                <a:cs typeface="Arial" pitchFamily="34" charset="-120"/>
              </a:rPr>
              <a:t>STRONGEST VERIFICATION CLUSTERS</a:t>
            </a:r>
            <a:endParaRPr lang="en-US" sz="1800" dirty="0"/>
          </a:p>
        </p:txBody>
      </p:sp>
      <p:sp>
        <p:nvSpPr>
          <p:cNvPr id="14" name="Shape 12"/>
          <p:cNvSpPr/>
          <p:nvPr/>
        </p:nvSpPr>
        <p:spPr>
          <a:xfrm>
            <a:off x="8814911" y="5444490"/>
            <a:ext cx="8520589" cy="9525"/>
          </a:xfrm>
          <a:prstGeom prst="rect">
            <a:avLst/>
          </a:prstGeom>
          <a:solidFill>
            <a:srgbClr val="CDC6B6"/>
          </a:solidFill>
          <a:ln/>
        </p:spPr>
      </p:sp>
      <p:sp>
        <p:nvSpPr>
          <p:cNvPr id="15" name="Shape 13"/>
          <p:cNvSpPr/>
          <p:nvPr/>
        </p:nvSpPr>
        <p:spPr>
          <a:xfrm>
            <a:off x="8814911" y="4682490"/>
            <a:ext cx="8520589" cy="9525"/>
          </a:xfrm>
          <a:prstGeom prst="rect">
            <a:avLst/>
          </a:prstGeom>
          <a:solidFill>
            <a:srgbClr val="CDC6B6"/>
          </a:solidFill>
          <a:ln/>
        </p:spPr>
      </p:sp>
      <p:sp>
        <p:nvSpPr>
          <p:cNvPr id="16" name="Text 14"/>
          <p:cNvSpPr/>
          <p:nvPr/>
        </p:nvSpPr>
        <p:spPr>
          <a:xfrm>
            <a:off x="8814911" y="4926330"/>
            <a:ext cx="457200" cy="350520"/>
          </a:xfrm>
          <a:prstGeom prst="rect">
            <a:avLst/>
          </a:prstGeom>
          <a:noFill/>
          <a:ln/>
        </p:spPr>
        <p:txBody>
          <a:bodyPr wrap="square" lIns="25400" tIns="25400" rIns="25400" bIns="25400" rtlCol="0" anchor="t">
            <a:normAutofit/>
          </a:bodyPr>
          <a:lstStyle/>
          <a:p>
            <a:pPr algn="l" indent="0" marL="0">
              <a:buNone/>
            </a:pPr>
            <a:r>
              <a:rPr lang="en-US" sz="2100" dirty="0">
                <a:solidFill>
                  <a:srgbClr val="C2410C"/>
                </a:solidFill>
                <a:latin typeface="Arial" pitchFamily="34" charset="0"/>
                <a:ea typeface="Arial" pitchFamily="34" charset="-122"/>
                <a:cs typeface="Arial" pitchFamily="34" charset="-120"/>
              </a:rPr>
              <a:t>01</a:t>
            </a:r>
            <a:endParaRPr lang="en-US" sz="2100" dirty="0"/>
          </a:p>
        </p:txBody>
      </p:sp>
      <p:sp>
        <p:nvSpPr>
          <p:cNvPr id="17" name="Text 15"/>
          <p:cNvSpPr/>
          <p:nvPr/>
        </p:nvSpPr>
        <p:spPr>
          <a:xfrm>
            <a:off x="9195911" y="4880610"/>
            <a:ext cx="2171700" cy="411480"/>
          </a:xfrm>
          <a:prstGeom prst="rect">
            <a:avLst/>
          </a:prstGeom>
          <a:noFill/>
          <a:ln/>
        </p:spPr>
        <p:txBody>
          <a:bodyPr wrap="square" lIns="25400" tIns="25400" rIns="25400" bIns="25400" rtlCol="0" anchor="t">
            <a:normAutofit/>
          </a:bodyPr>
          <a:lstStyle/>
          <a:p>
            <a:pPr algn="l" indent="0" marL="0">
              <a:buNone/>
            </a:pPr>
            <a:r>
              <a:rPr lang="en-US" sz="2550" dirty="0">
                <a:solidFill>
                  <a:srgbClr val="16140F"/>
                </a:solidFill>
                <a:latin typeface="Arial" pitchFamily="34" charset="0"/>
                <a:ea typeface="Arial" pitchFamily="34" charset="-122"/>
                <a:cs typeface="Arial" pitchFamily="34" charset="-120"/>
              </a:rPr>
              <a:t>Rust</a:t>
            </a:r>
            <a:endParaRPr lang="en-US" sz="2550" dirty="0"/>
          </a:p>
        </p:txBody>
      </p:sp>
      <p:sp>
        <p:nvSpPr>
          <p:cNvPr id="18" name="Text 16"/>
          <p:cNvSpPr/>
          <p:nvPr/>
        </p:nvSpPr>
        <p:spPr>
          <a:xfrm>
            <a:off x="11291411" y="4926330"/>
            <a:ext cx="6225411" cy="350520"/>
          </a:xfrm>
          <a:prstGeom prst="rect">
            <a:avLst/>
          </a:prstGeom>
          <a:noFill/>
          <a:ln/>
        </p:spPr>
        <p:txBody>
          <a:bodyPr wrap="square" lIns="25400" tIns="25400" rIns="25400" bIns="25400" rtlCol="0" anchor="t">
            <a:normAutofit/>
          </a:bodyPr>
          <a:lstStyle/>
          <a:p>
            <a:pPr algn="l" indent="0" marL="0">
              <a:buNone/>
            </a:pPr>
            <a:r>
              <a:rPr lang="en-US" sz="2100" dirty="0">
                <a:solidFill>
                  <a:srgbClr val="6B6457"/>
                </a:solidFill>
                <a:latin typeface="Arial" pitchFamily="34" charset="0"/>
                <a:ea typeface="Arial" pitchFamily="34" charset="-122"/>
                <a:cs typeface="Arial" pitchFamily="34" charset="-120"/>
              </a:rPr>
              <a:t>Ownership rules · exhaustive match</a:t>
            </a:r>
            <a:endParaRPr lang="en-US" sz="2100" dirty="0"/>
          </a:p>
        </p:txBody>
      </p:sp>
      <p:sp>
        <p:nvSpPr>
          <p:cNvPr id="19" name="Shape 17"/>
          <p:cNvSpPr/>
          <p:nvPr/>
        </p:nvSpPr>
        <p:spPr>
          <a:xfrm>
            <a:off x="8814911" y="6206490"/>
            <a:ext cx="8520589" cy="9525"/>
          </a:xfrm>
          <a:prstGeom prst="rect">
            <a:avLst/>
          </a:prstGeom>
          <a:solidFill>
            <a:srgbClr val="CDC6B6"/>
          </a:solidFill>
          <a:ln/>
        </p:spPr>
      </p:sp>
      <p:sp>
        <p:nvSpPr>
          <p:cNvPr id="20" name="Text 18"/>
          <p:cNvSpPr/>
          <p:nvPr/>
        </p:nvSpPr>
        <p:spPr>
          <a:xfrm>
            <a:off x="8814911" y="5688330"/>
            <a:ext cx="457200" cy="350520"/>
          </a:xfrm>
          <a:prstGeom prst="rect">
            <a:avLst/>
          </a:prstGeom>
          <a:noFill/>
          <a:ln/>
        </p:spPr>
        <p:txBody>
          <a:bodyPr wrap="square" lIns="25400" tIns="25400" rIns="25400" bIns="25400" rtlCol="0" anchor="t">
            <a:normAutofit/>
          </a:bodyPr>
          <a:lstStyle/>
          <a:p>
            <a:pPr algn="l" indent="0" marL="0">
              <a:buNone/>
            </a:pPr>
            <a:r>
              <a:rPr lang="en-US" sz="2100" dirty="0">
                <a:solidFill>
                  <a:srgbClr val="C2410C"/>
                </a:solidFill>
                <a:latin typeface="Arial" pitchFamily="34" charset="0"/>
                <a:ea typeface="Arial" pitchFamily="34" charset="-122"/>
                <a:cs typeface="Arial" pitchFamily="34" charset="-120"/>
              </a:rPr>
              <a:t>02</a:t>
            </a:r>
            <a:endParaRPr lang="en-US" sz="2100" dirty="0"/>
          </a:p>
        </p:txBody>
      </p:sp>
      <p:sp>
        <p:nvSpPr>
          <p:cNvPr id="21" name="Text 19"/>
          <p:cNvSpPr/>
          <p:nvPr/>
        </p:nvSpPr>
        <p:spPr>
          <a:xfrm>
            <a:off x="9195911" y="5642610"/>
            <a:ext cx="2171700" cy="411480"/>
          </a:xfrm>
          <a:prstGeom prst="rect">
            <a:avLst/>
          </a:prstGeom>
          <a:noFill/>
          <a:ln/>
        </p:spPr>
        <p:txBody>
          <a:bodyPr wrap="square" lIns="25400" tIns="25400" rIns="25400" bIns="25400" rtlCol="0" anchor="t">
            <a:normAutofit/>
          </a:bodyPr>
          <a:lstStyle/>
          <a:p>
            <a:pPr algn="l" indent="0" marL="0">
              <a:buNone/>
            </a:pPr>
            <a:r>
              <a:rPr lang="en-US" sz="2550" dirty="0">
                <a:solidFill>
                  <a:srgbClr val="16140F"/>
                </a:solidFill>
                <a:latin typeface="Arial" pitchFamily="34" charset="0"/>
                <a:ea typeface="Arial" pitchFamily="34" charset="-122"/>
                <a:cs typeface="Arial" pitchFamily="34" charset="-120"/>
              </a:rPr>
              <a:t>Haskell</a:t>
            </a:r>
            <a:endParaRPr lang="en-US" sz="2550" dirty="0"/>
          </a:p>
        </p:txBody>
      </p:sp>
      <p:sp>
        <p:nvSpPr>
          <p:cNvPr id="22" name="Text 20"/>
          <p:cNvSpPr/>
          <p:nvPr/>
        </p:nvSpPr>
        <p:spPr>
          <a:xfrm>
            <a:off x="11291411" y="5688330"/>
            <a:ext cx="6225411" cy="350520"/>
          </a:xfrm>
          <a:prstGeom prst="rect">
            <a:avLst/>
          </a:prstGeom>
          <a:noFill/>
          <a:ln/>
        </p:spPr>
        <p:txBody>
          <a:bodyPr wrap="square" lIns="25400" tIns="25400" rIns="25400" bIns="25400" rtlCol="0" anchor="t">
            <a:normAutofit/>
          </a:bodyPr>
          <a:lstStyle/>
          <a:p>
            <a:pPr algn="l" indent="0" marL="0">
              <a:buNone/>
            </a:pPr>
            <a:r>
              <a:rPr lang="en-US" sz="2100" dirty="0">
                <a:solidFill>
                  <a:srgbClr val="6B6457"/>
                </a:solidFill>
                <a:latin typeface="Arial" pitchFamily="34" charset="0"/>
                <a:ea typeface="Arial" pitchFamily="34" charset="-122"/>
                <a:cs typeface="Arial" pitchFamily="34" charset="-120"/>
              </a:rPr>
              <a:t>Hindley–Milner · Liquid Haskell</a:t>
            </a:r>
            <a:endParaRPr lang="en-US" sz="2100" dirty="0"/>
          </a:p>
        </p:txBody>
      </p:sp>
      <p:sp>
        <p:nvSpPr>
          <p:cNvPr id="23" name="Shape 21"/>
          <p:cNvSpPr/>
          <p:nvPr/>
        </p:nvSpPr>
        <p:spPr>
          <a:xfrm>
            <a:off x="8814911" y="6968490"/>
            <a:ext cx="8520589" cy="9525"/>
          </a:xfrm>
          <a:prstGeom prst="rect">
            <a:avLst/>
          </a:prstGeom>
          <a:solidFill>
            <a:srgbClr val="CDC6B6"/>
          </a:solidFill>
          <a:ln/>
        </p:spPr>
      </p:sp>
      <p:sp>
        <p:nvSpPr>
          <p:cNvPr id="24" name="Text 22"/>
          <p:cNvSpPr/>
          <p:nvPr/>
        </p:nvSpPr>
        <p:spPr>
          <a:xfrm>
            <a:off x="8814911" y="6450330"/>
            <a:ext cx="457200" cy="350520"/>
          </a:xfrm>
          <a:prstGeom prst="rect">
            <a:avLst/>
          </a:prstGeom>
          <a:noFill/>
          <a:ln/>
        </p:spPr>
        <p:txBody>
          <a:bodyPr wrap="square" lIns="25400" tIns="25400" rIns="25400" bIns="25400" rtlCol="0" anchor="t">
            <a:normAutofit/>
          </a:bodyPr>
          <a:lstStyle/>
          <a:p>
            <a:pPr algn="l" indent="0" marL="0">
              <a:buNone/>
            </a:pPr>
            <a:r>
              <a:rPr lang="en-US" sz="2100" dirty="0">
                <a:solidFill>
                  <a:srgbClr val="C2410C"/>
                </a:solidFill>
                <a:latin typeface="Arial" pitchFamily="34" charset="0"/>
                <a:ea typeface="Arial" pitchFamily="34" charset="-122"/>
                <a:cs typeface="Arial" pitchFamily="34" charset="-120"/>
              </a:rPr>
              <a:t>03</a:t>
            </a:r>
            <a:endParaRPr lang="en-US" sz="2100" dirty="0"/>
          </a:p>
        </p:txBody>
      </p:sp>
      <p:sp>
        <p:nvSpPr>
          <p:cNvPr id="25" name="Text 23"/>
          <p:cNvSpPr/>
          <p:nvPr/>
        </p:nvSpPr>
        <p:spPr>
          <a:xfrm>
            <a:off x="9195911" y="6404610"/>
            <a:ext cx="2171700" cy="411480"/>
          </a:xfrm>
          <a:prstGeom prst="rect">
            <a:avLst/>
          </a:prstGeom>
          <a:noFill/>
          <a:ln/>
        </p:spPr>
        <p:txBody>
          <a:bodyPr wrap="square" lIns="25400" tIns="25400" rIns="25400" bIns="25400" rtlCol="0" anchor="t">
            <a:normAutofit/>
          </a:bodyPr>
          <a:lstStyle/>
          <a:p>
            <a:pPr algn="l" indent="0" marL="0">
              <a:buNone/>
            </a:pPr>
            <a:r>
              <a:rPr lang="en-US" sz="2550" dirty="0">
                <a:solidFill>
                  <a:srgbClr val="16140F"/>
                </a:solidFill>
                <a:latin typeface="Arial" pitchFamily="34" charset="0"/>
                <a:ea typeface="Arial" pitchFamily="34" charset="-122"/>
                <a:cs typeface="Arial" pitchFamily="34" charset="-120"/>
              </a:rPr>
              <a:t>Kotlin</a:t>
            </a:r>
            <a:endParaRPr lang="en-US" sz="2550" dirty="0"/>
          </a:p>
        </p:txBody>
      </p:sp>
      <p:sp>
        <p:nvSpPr>
          <p:cNvPr id="26" name="Text 24"/>
          <p:cNvSpPr/>
          <p:nvPr/>
        </p:nvSpPr>
        <p:spPr>
          <a:xfrm>
            <a:off x="11291411" y="6450330"/>
            <a:ext cx="6225411" cy="350520"/>
          </a:xfrm>
          <a:prstGeom prst="rect">
            <a:avLst/>
          </a:prstGeom>
          <a:noFill/>
          <a:ln/>
        </p:spPr>
        <p:txBody>
          <a:bodyPr wrap="square" lIns="25400" tIns="25400" rIns="25400" bIns="25400" rtlCol="0" anchor="t">
            <a:normAutofit/>
          </a:bodyPr>
          <a:lstStyle/>
          <a:p>
            <a:pPr algn="l" indent="0" marL="0">
              <a:buNone/>
            </a:pPr>
            <a:r>
              <a:rPr lang="en-US" sz="2100" dirty="0">
                <a:solidFill>
                  <a:srgbClr val="6B6457"/>
                </a:solidFill>
                <a:latin typeface="Arial" pitchFamily="34" charset="0"/>
                <a:ea typeface="Arial" pitchFamily="34" charset="-122"/>
                <a:cs typeface="Arial" pitchFamily="34" charset="-120"/>
              </a:rPr>
              <a:t>Nullables · sealed when</a:t>
            </a:r>
            <a:endParaRPr lang="en-US" sz="2100" dirty="0"/>
          </a:p>
        </p:txBody>
      </p:sp>
      <p:sp>
        <p:nvSpPr>
          <p:cNvPr id="27" name="Shape 25"/>
          <p:cNvSpPr/>
          <p:nvPr/>
        </p:nvSpPr>
        <p:spPr>
          <a:xfrm>
            <a:off x="8814911" y="7730490"/>
            <a:ext cx="8520589" cy="9525"/>
          </a:xfrm>
          <a:prstGeom prst="rect">
            <a:avLst/>
          </a:prstGeom>
          <a:solidFill>
            <a:srgbClr val="CDC6B6"/>
          </a:solidFill>
          <a:ln/>
        </p:spPr>
      </p:sp>
      <p:sp>
        <p:nvSpPr>
          <p:cNvPr id="28" name="Text 26"/>
          <p:cNvSpPr/>
          <p:nvPr/>
        </p:nvSpPr>
        <p:spPr>
          <a:xfrm>
            <a:off x="8814911" y="7212330"/>
            <a:ext cx="457200" cy="350520"/>
          </a:xfrm>
          <a:prstGeom prst="rect">
            <a:avLst/>
          </a:prstGeom>
          <a:noFill/>
          <a:ln/>
        </p:spPr>
        <p:txBody>
          <a:bodyPr wrap="square" lIns="25400" tIns="25400" rIns="25400" bIns="25400" rtlCol="0" anchor="t">
            <a:normAutofit/>
          </a:bodyPr>
          <a:lstStyle/>
          <a:p>
            <a:pPr algn="l" indent="0" marL="0">
              <a:buNone/>
            </a:pPr>
            <a:r>
              <a:rPr lang="en-US" sz="2100" dirty="0">
                <a:solidFill>
                  <a:srgbClr val="C2410C"/>
                </a:solidFill>
                <a:latin typeface="Arial" pitchFamily="34" charset="0"/>
                <a:ea typeface="Arial" pitchFamily="34" charset="-122"/>
                <a:cs typeface="Arial" pitchFamily="34" charset="-120"/>
              </a:rPr>
              <a:t>04</a:t>
            </a:r>
            <a:endParaRPr lang="en-US" sz="2100" dirty="0"/>
          </a:p>
        </p:txBody>
      </p:sp>
      <p:sp>
        <p:nvSpPr>
          <p:cNvPr id="29" name="Text 27"/>
          <p:cNvSpPr/>
          <p:nvPr/>
        </p:nvSpPr>
        <p:spPr>
          <a:xfrm>
            <a:off x="9195911" y="7166610"/>
            <a:ext cx="2171700" cy="411480"/>
          </a:xfrm>
          <a:prstGeom prst="rect">
            <a:avLst/>
          </a:prstGeom>
          <a:noFill/>
          <a:ln/>
        </p:spPr>
        <p:txBody>
          <a:bodyPr wrap="square" lIns="25400" tIns="25400" rIns="25400" bIns="25400" rtlCol="0" anchor="t">
            <a:normAutofit/>
          </a:bodyPr>
          <a:lstStyle/>
          <a:p>
            <a:pPr algn="l" indent="0" marL="0">
              <a:buNone/>
            </a:pPr>
            <a:r>
              <a:rPr lang="en-US" sz="2550" dirty="0">
                <a:solidFill>
                  <a:srgbClr val="16140F"/>
                </a:solidFill>
                <a:latin typeface="Arial" pitchFamily="34" charset="0"/>
                <a:ea typeface="Arial" pitchFamily="34" charset="-122"/>
                <a:cs typeface="Arial" pitchFamily="34" charset="-120"/>
              </a:rPr>
              <a:t>.NET / C#</a:t>
            </a:r>
            <a:endParaRPr lang="en-US" sz="2550" dirty="0"/>
          </a:p>
        </p:txBody>
      </p:sp>
      <p:sp>
        <p:nvSpPr>
          <p:cNvPr id="30" name="Text 28"/>
          <p:cNvSpPr/>
          <p:nvPr/>
        </p:nvSpPr>
        <p:spPr>
          <a:xfrm>
            <a:off x="11291411" y="7212330"/>
            <a:ext cx="6225411" cy="350520"/>
          </a:xfrm>
          <a:prstGeom prst="rect">
            <a:avLst/>
          </a:prstGeom>
          <a:noFill/>
          <a:ln/>
        </p:spPr>
        <p:txBody>
          <a:bodyPr wrap="square" lIns="25400" tIns="25400" rIns="25400" bIns="25400" rtlCol="0" anchor="t">
            <a:normAutofit/>
          </a:bodyPr>
          <a:lstStyle/>
          <a:p>
            <a:pPr algn="l" indent="0" marL="0">
              <a:buNone/>
            </a:pPr>
            <a:r>
              <a:rPr lang="en-US" sz="2100" dirty="0">
                <a:solidFill>
                  <a:srgbClr val="6B6457"/>
                </a:solidFill>
                <a:latin typeface="Arial" pitchFamily="34" charset="0"/>
                <a:ea typeface="Arial" pitchFamily="34" charset="-122"/>
                <a:cs typeface="Arial" pitchFamily="34" charset="-120"/>
              </a:rPr>
              <a:t>Nullable-reference flow analysis</a:t>
            </a:r>
            <a:endParaRPr lang="en-US" sz="2100" dirty="0"/>
          </a:p>
        </p:txBody>
      </p:sp>
      <p:sp>
        <p:nvSpPr>
          <p:cNvPr id="31" name="Shape 29"/>
          <p:cNvSpPr/>
          <p:nvPr/>
        </p:nvSpPr>
        <p:spPr>
          <a:xfrm>
            <a:off x="8814911" y="8492490"/>
            <a:ext cx="8520589" cy="9525"/>
          </a:xfrm>
          <a:prstGeom prst="rect">
            <a:avLst/>
          </a:prstGeom>
          <a:solidFill>
            <a:srgbClr val="CDC6B6"/>
          </a:solidFill>
          <a:ln/>
        </p:spPr>
      </p:sp>
      <p:sp>
        <p:nvSpPr>
          <p:cNvPr id="32" name="Text 30"/>
          <p:cNvSpPr/>
          <p:nvPr/>
        </p:nvSpPr>
        <p:spPr>
          <a:xfrm>
            <a:off x="8814911" y="7974330"/>
            <a:ext cx="457200" cy="350520"/>
          </a:xfrm>
          <a:prstGeom prst="rect">
            <a:avLst/>
          </a:prstGeom>
          <a:noFill/>
          <a:ln/>
        </p:spPr>
        <p:txBody>
          <a:bodyPr wrap="square" lIns="25400" tIns="25400" rIns="25400" bIns="25400" rtlCol="0" anchor="t">
            <a:normAutofit/>
          </a:bodyPr>
          <a:lstStyle/>
          <a:p>
            <a:pPr algn="l" indent="0" marL="0">
              <a:buNone/>
            </a:pPr>
            <a:r>
              <a:rPr lang="en-US" sz="2100" dirty="0">
                <a:solidFill>
                  <a:srgbClr val="C2410C"/>
                </a:solidFill>
                <a:latin typeface="Arial" pitchFamily="34" charset="0"/>
                <a:ea typeface="Arial" pitchFamily="34" charset="-122"/>
                <a:cs typeface="Arial" pitchFamily="34" charset="-120"/>
              </a:rPr>
              <a:t>05</a:t>
            </a:r>
            <a:endParaRPr lang="en-US" sz="2100" dirty="0"/>
          </a:p>
        </p:txBody>
      </p:sp>
      <p:sp>
        <p:nvSpPr>
          <p:cNvPr id="33" name="Text 31"/>
          <p:cNvSpPr/>
          <p:nvPr/>
        </p:nvSpPr>
        <p:spPr>
          <a:xfrm>
            <a:off x="9195911" y="7928610"/>
            <a:ext cx="2171700" cy="411480"/>
          </a:xfrm>
          <a:prstGeom prst="rect">
            <a:avLst/>
          </a:prstGeom>
          <a:noFill/>
          <a:ln/>
        </p:spPr>
        <p:txBody>
          <a:bodyPr wrap="square" lIns="25400" tIns="25400" rIns="25400" bIns="25400" rtlCol="0" anchor="t">
            <a:normAutofit/>
          </a:bodyPr>
          <a:lstStyle/>
          <a:p>
            <a:pPr algn="l" indent="0" marL="0">
              <a:buNone/>
            </a:pPr>
            <a:r>
              <a:rPr lang="en-US" sz="2550" dirty="0">
                <a:solidFill>
                  <a:srgbClr val="16140F"/>
                </a:solidFill>
                <a:latin typeface="Arial" pitchFamily="34" charset="0"/>
                <a:ea typeface="Arial" pitchFamily="34" charset="-122"/>
                <a:cs typeface="Arial" pitchFamily="34" charset="-120"/>
              </a:rPr>
              <a:t>Swift</a:t>
            </a:r>
            <a:endParaRPr lang="en-US" sz="2550" dirty="0"/>
          </a:p>
        </p:txBody>
      </p:sp>
      <p:sp>
        <p:nvSpPr>
          <p:cNvPr id="34" name="Text 32"/>
          <p:cNvSpPr/>
          <p:nvPr/>
        </p:nvSpPr>
        <p:spPr>
          <a:xfrm>
            <a:off x="11291411" y="7974330"/>
            <a:ext cx="6225411" cy="350520"/>
          </a:xfrm>
          <a:prstGeom prst="rect">
            <a:avLst/>
          </a:prstGeom>
          <a:noFill/>
          <a:ln/>
        </p:spPr>
        <p:txBody>
          <a:bodyPr wrap="square" lIns="25400" tIns="25400" rIns="25400" bIns="25400" rtlCol="0" anchor="t">
            <a:normAutofit/>
          </a:bodyPr>
          <a:lstStyle/>
          <a:p>
            <a:pPr algn="l" indent="0" marL="0">
              <a:buNone/>
            </a:pPr>
            <a:r>
              <a:rPr lang="en-US" sz="2100" dirty="0">
                <a:solidFill>
                  <a:srgbClr val="6B6457"/>
                </a:solidFill>
                <a:latin typeface="Arial" pitchFamily="34" charset="0"/>
                <a:ea typeface="Arial" pitchFamily="34" charset="-122"/>
                <a:cs typeface="Arial" pitchFamily="34" charset="-120"/>
              </a:rPr>
              <a:t>Optionals · access rules</a:t>
            </a:r>
            <a:endParaRPr lang="en-US" sz="2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6140F"/>
        </a:solidFill>
      </p:bgPr>
    </p:bg>
    <p:spTree>
      <p:nvGrpSpPr>
        <p:cNvPr id="1" name=""/>
        <p:cNvGrpSpPr/>
        <p:nvPr/>
      </p:nvGrpSpPr>
      <p:grpSpPr>
        <a:xfrm>
          <a:off x="0" y="0"/>
          <a:ext cx="0" cy="0"/>
          <a:chOff x="0" y="0"/>
          <a:chExt cx="0" cy="0"/>
        </a:xfrm>
      </p:grpSpPr>
      <p:sp>
        <p:nvSpPr>
          <p:cNvPr id="2" name="Text 0"/>
          <p:cNvSpPr/>
          <p:nvPr/>
        </p:nvSpPr>
        <p:spPr>
          <a:xfrm>
            <a:off x="952500" y="762000"/>
            <a:ext cx="2881254" cy="297180"/>
          </a:xfrm>
          <a:prstGeom prst="rect">
            <a:avLst/>
          </a:prstGeom>
          <a:noFill/>
          <a:ln/>
        </p:spPr>
        <p:txBody>
          <a:bodyPr wrap="square" lIns="25400" tIns="25400" rIns="25400" bIns="25400" rtlCol="0" anchor="t">
            <a:normAutofit/>
          </a:bodyPr>
          <a:lstStyle/>
          <a:p>
            <a:pPr algn="l" indent="0" marL="0">
              <a:buNone/>
            </a:pPr>
            <a:r>
              <a:rPr lang="en-US" sz="1800" spc="144" kern="0" dirty="0">
                <a:solidFill>
                  <a:srgbClr val="6B6457"/>
                </a:solidFill>
                <a:latin typeface="Arial" pitchFamily="34" charset="0"/>
                <a:ea typeface="Arial" pitchFamily="34" charset="-122"/>
                <a:cs typeface="Arial" pitchFamily="34" charset="-120"/>
              </a:rPr>
              <a:t>04 · FINDING 03 OF 05</a:t>
            </a:r>
            <a:endParaRPr lang="en-US" sz="1800" dirty="0"/>
          </a:p>
        </p:txBody>
      </p:sp>
      <p:sp>
        <p:nvSpPr>
          <p:cNvPr id="3" name="Text 1"/>
          <p:cNvSpPr/>
          <p:nvPr/>
        </p:nvSpPr>
        <p:spPr>
          <a:xfrm>
            <a:off x="16508571" y="762000"/>
            <a:ext cx="903129" cy="297180"/>
          </a:xfrm>
          <a:prstGeom prst="rect">
            <a:avLst/>
          </a:prstGeom>
          <a:noFill/>
          <a:ln/>
        </p:spPr>
        <p:txBody>
          <a:bodyPr wrap="square" lIns="25400" tIns="25400" rIns="25400" bIns="25400" rtlCol="0" anchor="t">
            <a:normAutofit/>
          </a:bodyPr>
          <a:lstStyle/>
          <a:p>
            <a:pPr algn="l" indent="0" marL="0">
              <a:buNone/>
            </a:pPr>
            <a:r>
              <a:rPr lang="en-US" sz="1800" spc="144" kern="0" dirty="0">
                <a:solidFill>
                  <a:srgbClr val="6B6457"/>
                </a:solidFill>
                <a:latin typeface="Arial" pitchFamily="34" charset="0"/>
                <a:ea typeface="Arial" pitchFamily="34" charset="-122"/>
                <a:cs typeface="Arial" pitchFamily="34" charset="-120"/>
              </a:rPr>
              <a:t>07/14</a:t>
            </a:r>
            <a:endParaRPr lang="en-US" sz="1800" dirty="0"/>
          </a:p>
        </p:txBody>
      </p:sp>
      <p:sp>
        <p:nvSpPr>
          <p:cNvPr id="4" name="Text 2"/>
          <p:cNvSpPr/>
          <p:nvPr/>
        </p:nvSpPr>
        <p:spPr>
          <a:xfrm>
            <a:off x="952500" y="1516380"/>
            <a:ext cx="16874490" cy="297180"/>
          </a:xfrm>
          <a:prstGeom prst="rect">
            <a:avLst/>
          </a:prstGeom>
          <a:noFill/>
          <a:ln/>
        </p:spPr>
        <p:txBody>
          <a:bodyPr wrap="square" lIns="25400" tIns="25400" rIns="25400" bIns="25400" rtlCol="0" anchor="t">
            <a:normAutofit/>
          </a:bodyPr>
          <a:lstStyle/>
          <a:p>
            <a:pPr algn="l" indent="0" marL="0">
              <a:buNone/>
            </a:pPr>
            <a:r>
              <a:rPr lang="en-US" sz="1800" spc="180" kern="0" dirty="0">
                <a:solidFill>
                  <a:srgbClr val="C2410C"/>
                </a:solidFill>
                <a:latin typeface="Arial" pitchFamily="34" charset="0"/>
                <a:ea typeface="Arial" pitchFamily="34" charset="-122"/>
                <a:cs typeface="Arial" pitchFamily="34" charset="-120"/>
              </a:rPr>
              <a:t>FINDING 03</a:t>
            </a:r>
            <a:endParaRPr lang="en-US" sz="1800" dirty="0"/>
          </a:p>
        </p:txBody>
      </p:sp>
      <p:sp>
        <p:nvSpPr>
          <p:cNvPr id="5" name="Text 3"/>
          <p:cNvSpPr/>
          <p:nvPr/>
        </p:nvSpPr>
        <p:spPr>
          <a:xfrm>
            <a:off x="952500" y="1927860"/>
            <a:ext cx="7856448" cy="1245870"/>
          </a:xfrm>
          <a:prstGeom prst="rect">
            <a:avLst/>
          </a:prstGeom>
          <a:noFill/>
          <a:ln/>
        </p:spPr>
        <p:txBody>
          <a:bodyPr wrap="square" lIns="25400" tIns="25400" rIns="25400" bIns="25400" rtlCol="0" anchor="t">
            <a:normAutofit/>
          </a:bodyPr>
          <a:lstStyle/>
          <a:p>
            <a:pPr algn="l" indent="0" marL="0">
              <a:lnSpc>
                <a:spcPct val="105000"/>
              </a:lnSpc>
              <a:buNone/>
            </a:pPr>
            <a:r>
              <a:rPr lang="en-US" sz="4500" spc="-90" kern="0" dirty="0">
                <a:solidFill>
                  <a:srgbClr val="F3EFE6"/>
                </a:solidFill>
                <a:latin typeface="Arial" pitchFamily="34" charset="0"/>
                <a:ea typeface="Arial" pitchFamily="34" charset="-122"/>
                <a:cs typeface="Arial" pitchFamily="34" charset="-120"/>
              </a:rPr>
              <a:t>Safety pressure has crossed into </a:t>
            </a:r>
            <a:pPr algn="l" indent="0" marL="0">
              <a:lnSpc>
                <a:spcPct val="105000"/>
              </a:lnSpc>
              <a:buNone/>
            </a:pPr>
            <a:r>
              <a:rPr lang="en-US" sz="4500" i="1" spc="-90" kern="0" dirty="0">
                <a:solidFill>
                  <a:srgbClr val="C2410C"/>
                </a:solidFill>
                <a:latin typeface="Arial" pitchFamily="34" charset="0"/>
                <a:ea typeface="Arial" pitchFamily="34" charset="-122"/>
                <a:cs typeface="Arial" pitchFamily="34" charset="-120"/>
              </a:rPr>
              <a:t>regulatory territory</a:t>
            </a:r>
            <a:pPr algn="l" indent="0" marL="0">
              <a:lnSpc>
                <a:spcPct val="105000"/>
              </a:lnSpc>
              <a:buNone/>
            </a:pPr>
            <a:r>
              <a:rPr lang="en-US" sz="4500" spc="-90" kern="0" dirty="0">
                <a:solidFill>
                  <a:srgbClr val="F3EFE6"/>
                </a:solidFill>
                <a:latin typeface="Arial" pitchFamily="34" charset="0"/>
                <a:ea typeface="Arial" pitchFamily="34" charset="-122"/>
                <a:cs typeface="Arial" pitchFamily="34" charset="-120"/>
              </a:rPr>
              <a:t>.</a:t>
            </a:r>
            <a:endParaRPr lang="en-US" sz="4500" dirty="0"/>
          </a:p>
        </p:txBody>
      </p:sp>
      <p:sp>
        <p:nvSpPr>
          <p:cNvPr id="6" name="Shape 4"/>
          <p:cNvSpPr/>
          <p:nvPr/>
        </p:nvSpPr>
        <p:spPr>
          <a:xfrm>
            <a:off x="952500" y="3478530"/>
            <a:ext cx="3867150" cy="9525"/>
          </a:xfrm>
          <a:prstGeom prst="rect">
            <a:avLst/>
          </a:prstGeom>
          <a:solidFill>
            <a:srgbClr val="F3EFE6">
              <a:alpha val="95000"/>
            </a:srgbClr>
          </a:solidFill>
          <a:ln/>
        </p:spPr>
      </p:sp>
      <p:sp>
        <p:nvSpPr>
          <p:cNvPr id="7" name="Text 5"/>
          <p:cNvSpPr/>
          <p:nvPr/>
        </p:nvSpPr>
        <p:spPr>
          <a:xfrm>
            <a:off x="952500" y="3714750"/>
            <a:ext cx="3983165" cy="914400"/>
          </a:xfrm>
          <a:prstGeom prst="rect">
            <a:avLst/>
          </a:prstGeom>
          <a:noFill/>
          <a:ln/>
        </p:spPr>
        <p:txBody>
          <a:bodyPr wrap="square" lIns="25400" tIns="25400" rIns="25400" bIns="25400" rtlCol="0" anchor="t">
            <a:normAutofit/>
          </a:bodyPr>
          <a:lstStyle/>
          <a:p>
            <a:pPr algn="l" indent="0" marL="0">
              <a:lnSpc>
                <a:spcPct val="100000"/>
              </a:lnSpc>
              <a:buNone/>
            </a:pPr>
            <a:r>
              <a:rPr lang="en-US" sz="6900" spc="-207" kern="0" dirty="0">
                <a:solidFill>
                  <a:srgbClr val="C2410C"/>
                </a:solidFill>
                <a:latin typeface="Arial" pitchFamily="34" charset="0"/>
                <a:ea typeface="Arial" pitchFamily="34" charset="-122"/>
                <a:cs typeface="Arial" pitchFamily="34" charset="-120"/>
              </a:rPr>
              <a:t>~70%</a:t>
            </a:r>
            <a:endParaRPr lang="en-US" sz="6900" dirty="0"/>
          </a:p>
        </p:txBody>
      </p:sp>
      <p:sp>
        <p:nvSpPr>
          <p:cNvPr id="8" name="Text 6"/>
          <p:cNvSpPr/>
          <p:nvPr/>
        </p:nvSpPr>
        <p:spPr>
          <a:xfrm>
            <a:off x="952500" y="7890510"/>
            <a:ext cx="3253081" cy="548640"/>
          </a:xfrm>
          <a:prstGeom prst="rect">
            <a:avLst/>
          </a:prstGeom>
          <a:noFill/>
          <a:ln/>
        </p:spPr>
        <p:txBody>
          <a:bodyPr wrap="square" lIns="25400" tIns="25400" rIns="25400" bIns="25400" rtlCol="0" anchor="t">
            <a:normAutofit/>
          </a:bodyPr>
          <a:lstStyle/>
          <a:p>
            <a:pPr algn="l" indent="0" marL="0">
              <a:buNone/>
            </a:pPr>
            <a:r>
              <a:rPr lang="en-US" sz="1800" spc="72" kern="0" dirty="0">
                <a:solidFill>
                  <a:srgbClr val="F3EFE6"/>
                </a:solidFill>
                <a:latin typeface="Arial" pitchFamily="34" charset="0"/>
                <a:ea typeface="Arial" pitchFamily="34" charset="-122"/>
                <a:cs typeface="Arial" pitchFamily="34" charset="-120"/>
              </a:rPr>
              <a:t>Microsoft Security Response Center</a:t>
            </a:r>
            <a:endParaRPr lang="en-US" sz="1800" dirty="0"/>
          </a:p>
        </p:txBody>
      </p:sp>
      <p:sp>
        <p:nvSpPr>
          <p:cNvPr id="9" name="Text 7"/>
          <p:cNvSpPr/>
          <p:nvPr/>
        </p:nvSpPr>
        <p:spPr>
          <a:xfrm>
            <a:off x="952500" y="8481060"/>
            <a:ext cx="3983165" cy="731520"/>
          </a:xfrm>
          <a:prstGeom prst="rect">
            <a:avLst/>
          </a:prstGeom>
          <a:noFill/>
          <a:ln/>
        </p:spPr>
        <p:txBody>
          <a:bodyPr wrap="square" lIns="25400" tIns="25400" rIns="25400" bIns="25400" rtlCol="0" anchor="t">
            <a:normAutofit/>
          </a:bodyPr>
          <a:lstStyle/>
          <a:p>
            <a:pPr algn="l" indent="0" marL="0">
              <a:lnSpc>
                <a:spcPct val="130000"/>
              </a:lnSpc>
              <a:buNone/>
            </a:pPr>
            <a:r>
              <a:rPr lang="en-US" sz="2100" dirty="0">
                <a:solidFill>
                  <a:srgbClr val="F3EFE6"/>
                </a:solidFill>
                <a:latin typeface="Arial" pitchFamily="34" charset="0"/>
                <a:ea typeface="Arial" pitchFamily="34" charset="-122"/>
                <a:cs typeface="Arial" pitchFamily="34" charset="-120"/>
              </a:rPr>
              <a:t>of MS-assigned CVEs are memory-safety issues.</a:t>
            </a:r>
            <a:endParaRPr lang="en-US" sz="2100" dirty="0"/>
          </a:p>
        </p:txBody>
      </p:sp>
      <p:sp>
        <p:nvSpPr>
          <p:cNvPr id="10" name="Shape 8"/>
          <p:cNvSpPr/>
          <p:nvPr/>
        </p:nvSpPr>
        <p:spPr>
          <a:xfrm>
            <a:off x="5124450" y="3478530"/>
            <a:ext cx="3867150" cy="9525"/>
          </a:xfrm>
          <a:prstGeom prst="rect">
            <a:avLst/>
          </a:prstGeom>
          <a:solidFill>
            <a:srgbClr val="F3EFE6">
              <a:alpha val="95000"/>
            </a:srgbClr>
          </a:solidFill>
          <a:ln/>
        </p:spPr>
      </p:sp>
      <p:sp>
        <p:nvSpPr>
          <p:cNvPr id="11" name="Text 9"/>
          <p:cNvSpPr/>
          <p:nvPr/>
        </p:nvSpPr>
        <p:spPr>
          <a:xfrm>
            <a:off x="5124450" y="3714750"/>
            <a:ext cx="3983165" cy="914400"/>
          </a:xfrm>
          <a:prstGeom prst="rect">
            <a:avLst/>
          </a:prstGeom>
          <a:noFill/>
          <a:ln/>
        </p:spPr>
        <p:txBody>
          <a:bodyPr wrap="square" lIns="25400" tIns="25400" rIns="25400" bIns="25400" rtlCol="0" anchor="t">
            <a:normAutofit/>
          </a:bodyPr>
          <a:lstStyle/>
          <a:p>
            <a:pPr algn="l" indent="0" marL="0">
              <a:lnSpc>
                <a:spcPct val="100000"/>
              </a:lnSpc>
              <a:buNone/>
            </a:pPr>
            <a:r>
              <a:rPr lang="en-US" sz="6900" spc="-207" kern="0" dirty="0">
                <a:solidFill>
                  <a:srgbClr val="C2410C"/>
                </a:solidFill>
                <a:latin typeface="Arial" pitchFamily="34" charset="0"/>
                <a:ea typeface="Arial" pitchFamily="34" charset="-122"/>
                <a:cs typeface="Arial" pitchFamily="34" charset="-120"/>
              </a:rPr>
              <a:t>~70%</a:t>
            </a:r>
            <a:endParaRPr lang="en-US" sz="6900" dirty="0"/>
          </a:p>
        </p:txBody>
      </p:sp>
      <p:sp>
        <p:nvSpPr>
          <p:cNvPr id="12" name="Text 10"/>
          <p:cNvSpPr/>
          <p:nvPr/>
        </p:nvSpPr>
        <p:spPr>
          <a:xfrm>
            <a:off x="5124450" y="8149590"/>
            <a:ext cx="1204436" cy="289560"/>
          </a:xfrm>
          <a:prstGeom prst="rect">
            <a:avLst/>
          </a:prstGeom>
          <a:noFill/>
          <a:ln/>
        </p:spPr>
        <p:txBody>
          <a:bodyPr wrap="square" lIns="25400" tIns="25400" rIns="25400" bIns="25400" rtlCol="0" anchor="t">
            <a:normAutofit/>
          </a:bodyPr>
          <a:lstStyle/>
          <a:p>
            <a:pPr algn="l" indent="0" marL="0">
              <a:buNone/>
            </a:pPr>
            <a:r>
              <a:rPr lang="en-US" sz="1800" spc="72" kern="0" dirty="0">
                <a:solidFill>
                  <a:srgbClr val="F3EFE6"/>
                </a:solidFill>
                <a:latin typeface="Arial" pitchFamily="34" charset="0"/>
                <a:ea typeface="Arial" pitchFamily="34" charset="-122"/>
                <a:cs typeface="Arial" pitchFamily="34" charset="-120"/>
              </a:rPr>
              <a:t>Chromium</a:t>
            </a:r>
            <a:endParaRPr lang="en-US" sz="1800" dirty="0"/>
          </a:p>
        </p:txBody>
      </p:sp>
      <p:sp>
        <p:nvSpPr>
          <p:cNvPr id="13" name="Text 11"/>
          <p:cNvSpPr/>
          <p:nvPr/>
        </p:nvSpPr>
        <p:spPr>
          <a:xfrm>
            <a:off x="5124450" y="8481060"/>
            <a:ext cx="3983165" cy="731520"/>
          </a:xfrm>
          <a:prstGeom prst="rect">
            <a:avLst/>
          </a:prstGeom>
          <a:noFill/>
          <a:ln/>
        </p:spPr>
        <p:txBody>
          <a:bodyPr wrap="square" lIns="25400" tIns="25400" rIns="25400" bIns="25400" rtlCol="0" anchor="t">
            <a:normAutofit/>
          </a:bodyPr>
          <a:lstStyle/>
          <a:p>
            <a:pPr algn="l" indent="0" marL="0">
              <a:lnSpc>
                <a:spcPct val="130000"/>
              </a:lnSpc>
              <a:buNone/>
            </a:pPr>
            <a:r>
              <a:rPr lang="en-US" sz="2100" dirty="0">
                <a:solidFill>
                  <a:srgbClr val="F3EFE6"/>
                </a:solidFill>
                <a:latin typeface="Arial" pitchFamily="34" charset="0"/>
                <a:ea typeface="Arial" pitchFamily="34" charset="-122"/>
                <a:cs typeface="Arial" pitchFamily="34" charset="-120"/>
              </a:rPr>
              <a:t>of high-severity bugs are memory-safety bugs.</a:t>
            </a:r>
            <a:endParaRPr lang="en-US" sz="2100" dirty="0"/>
          </a:p>
        </p:txBody>
      </p:sp>
      <p:sp>
        <p:nvSpPr>
          <p:cNvPr id="14" name="Shape 12"/>
          <p:cNvSpPr/>
          <p:nvPr/>
        </p:nvSpPr>
        <p:spPr>
          <a:xfrm>
            <a:off x="9296400" y="3478530"/>
            <a:ext cx="3867150" cy="9525"/>
          </a:xfrm>
          <a:prstGeom prst="rect">
            <a:avLst/>
          </a:prstGeom>
          <a:solidFill>
            <a:srgbClr val="F3EFE6">
              <a:alpha val="95000"/>
            </a:srgbClr>
          </a:solidFill>
          <a:ln/>
        </p:spPr>
      </p:sp>
      <p:sp>
        <p:nvSpPr>
          <p:cNvPr id="15" name="Text 13"/>
          <p:cNvSpPr/>
          <p:nvPr/>
        </p:nvSpPr>
        <p:spPr>
          <a:xfrm>
            <a:off x="9296400" y="3714750"/>
            <a:ext cx="3983165" cy="914400"/>
          </a:xfrm>
          <a:prstGeom prst="rect">
            <a:avLst/>
          </a:prstGeom>
          <a:noFill/>
          <a:ln/>
        </p:spPr>
        <p:txBody>
          <a:bodyPr wrap="square" lIns="25400" tIns="25400" rIns="25400" bIns="25400" rtlCol="0" anchor="t">
            <a:normAutofit/>
          </a:bodyPr>
          <a:lstStyle/>
          <a:p>
            <a:pPr algn="l" indent="0" marL="0">
              <a:lnSpc>
                <a:spcPct val="100000"/>
              </a:lnSpc>
              <a:buNone/>
            </a:pPr>
            <a:r>
              <a:rPr lang="en-US" sz="6900" spc="-207" kern="0" dirty="0">
                <a:solidFill>
                  <a:srgbClr val="C2410C"/>
                </a:solidFill>
                <a:latin typeface="Arial" pitchFamily="34" charset="0"/>
                <a:ea typeface="Arial" pitchFamily="34" charset="-122"/>
                <a:cs typeface="Arial" pitchFamily="34" charset="-120"/>
              </a:rPr>
              <a:t>NSA</a:t>
            </a:r>
            <a:endParaRPr lang="en-US" sz="6900" dirty="0"/>
          </a:p>
        </p:txBody>
      </p:sp>
      <p:sp>
        <p:nvSpPr>
          <p:cNvPr id="16" name="Text 14"/>
          <p:cNvSpPr/>
          <p:nvPr/>
        </p:nvSpPr>
        <p:spPr>
          <a:xfrm>
            <a:off x="9296400" y="8496300"/>
            <a:ext cx="2786743" cy="289560"/>
          </a:xfrm>
          <a:prstGeom prst="rect">
            <a:avLst/>
          </a:prstGeom>
          <a:noFill/>
          <a:ln/>
        </p:spPr>
        <p:txBody>
          <a:bodyPr wrap="square" lIns="25400" tIns="25400" rIns="25400" bIns="25400" rtlCol="0" anchor="t">
            <a:normAutofit/>
          </a:bodyPr>
          <a:lstStyle/>
          <a:p>
            <a:pPr algn="l" indent="0" marL="0">
              <a:buNone/>
            </a:pPr>
            <a:r>
              <a:rPr lang="en-US" sz="1800" spc="72" kern="0" dirty="0">
                <a:solidFill>
                  <a:srgbClr val="F3EFE6"/>
                </a:solidFill>
                <a:latin typeface="Arial" pitchFamily="34" charset="0"/>
                <a:ea typeface="Arial" pitchFamily="34" charset="-122"/>
                <a:cs typeface="Arial" pitchFamily="34" charset="-120"/>
              </a:rPr>
              <a:t>Software Memory Safety</a:t>
            </a:r>
            <a:endParaRPr lang="en-US" sz="1800" dirty="0"/>
          </a:p>
        </p:txBody>
      </p:sp>
      <p:sp>
        <p:nvSpPr>
          <p:cNvPr id="17" name="Text 15"/>
          <p:cNvSpPr/>
          <p:nvPr/>
        </p:nvSpPr>
        <p:spPr>
          <a:xfrm>
            <a:off x="9296400" y="8827770"/>
            <a:ext cx="3983165" cy="384810"/>
          </a:xfrm>
          <a:prstGeom prst="rect">
            <a:avLst/>
          </a:prstGeom>
          <a:noFill/>
          <a:ln/>
        </p:spPr>
        <p:txBody>
          <a:bodyPr wrap="square" lIns="25400" tIns="25400" rIns="25400" bIns="25400" rtlCol="0" anchor="t">
            <a:normAutofit/>
          </a:bodyPr>
          <a:lstStyle/>
          <a:p>
            <a:pPr algn="l" indent="0" marL="0">
              <a:lnSpc>
                <a:spcPct val="130000"/>
              </a:lnSpc>
              <a:buNone/>
            </a:pPr>
            <a:r>
              <a:rPr lang="en-US" sz="2100" dirty="0">
                <a:solidFill>
                  <a:srgbClr val="F3EFE6"/>
                </a:solidFill>
                <a:latin typeface="Arial" pitchFamily="34" charset="0"/>
                <a:ea typeface="Arial" pitchFamily="34" charset="-122"/>
                <a:cs typeface="Arial" pitchFamily="34" charset="-120"/>
              </a:rPr>
              <a:t>Names C and C++ explicitly.</a:t>
            </a:r>
            <a:endParaRPr lang="en-US" sz="2100" dirty="0"/>
          </a:p>
        </p:txBody>
      </p:sp>
      <p:sp>
        <p:nvSpPr>
          <p:cNvPr id="18" name="Shape 16"/>
          <p:cNvSpPr/>
          <p:nvPr/>
        </p:nvSpPr>
        <p:spPr>
          <a:xfrm>
            <a:off x="13468350" y="3478530"/>
            <a:ext cx="3867150" cy="9525"/>
          </a:xfrm>
          <a:prstGeom prst="rect">
            <a:avLst/>
          </a:prstGeom>
          <a:solidFill>
            <a:srgbClr val="F3EFE6">
              <a:alpha val="95000"/>
            </a:srgbClr>
          </a:solidFill>
          <a:ln/>
        </p:spPr>
      </p:sp>
      <p:sp>
        <p:nvSpPr>
          <p:cNvPr id="19" name="Text 17"/>
          <p:cNvSpPr/>
          <p:nvPr/>
        </p:nvSpPr>
        <p:spPr>
          <a:xfrm>
            <a:off x="13468350" y="3714750"/>
            <a:ext cx="3983165" cy="914400"/>
          </a:xfrm>
          <a:prstGeom prst="rect">
            <a:avLst/>
          </a:prstGeom>
          <a:noFill/>
          <a:ln/>
        </p:spPr>
        <p:txBody>
          <a:bodyPr wrap="square" lIns="25400" tIns="25400" rIns="25400" bIns="25400" rtlCol="0" anchor="t">
            <a:normAutofit/>
          </a:bodyPr>
          <a:lstStyle/>
          <a:p>
            <a:pPr algn="l" indent="0" marL="0">
              <a:lnSpc>
                <a:spcPct val="100000"/>
              </a:lnSpc>
              <a:buNone/>
            </a:pPr>
            <a:r>
              <a:rPr lang="en-US" sz="6900" spc="-207" kern="0" dirty="0">
                <a:solidFill>
                  <a:srgbClr val="C2410C"/>
                </a:solidFill>
                <a:latin typeface="Arial" pitchFamily="34" charset="0"/>
                <a:ea typeface="Arial" pitchFamily="34" charset="-122"/>
                <a:cs typeface="Arial" pitchFamily="34" charset="-120"/>
              </a:rPr>
              <a:t>ONCD</a:t>
            </a:r>
            <a:endParaRPr lang="en-US" sz="6900" dirty="0"/>
          </a:p>
        </p:txBody>
      </p:sp>
      <p:sp>
        <p:nvSpPr>
          <p:cNvPr id="20" name="Text 18"/>
          <p:cNvSpPr/>
          <p:nvPr/>
        </p:nvSpPr>
        <p:spPr>
          <a:xfrm>
            <a:off x="13468350" y="8149590"/>
            <a:ext cx="3895685" cy="289560"/>
          </a:xfrm>
          <a:prstGeom prst="rect">
            <a:avLst/>
          </a:prstGeom>
          <a:noFill/>
          <a:ln/>
        </p:spPr>
        <p:txBody>
          <a:bodyPr wrap="square" lIns="25400" tIns="25400" rIns="25400" bIns="25400" rtlCol="0" anchor="t">
            <a:normAutofit/>
          </a:bodyPr>
          <a:lstStyle/>
          <a:p>
            <a:pPr algn="l" indent="0" marL="0">
              <a:buNone/>
            </a:pPr>
            <a:r>
              <a:rPr lang="en-US" sz="1800" spc="72" kern="0" dirty="0">
                <a:solidFill>
                  <a:srgbClr val="F3EFE6"/>
                </a:solidFill>
                <a:latin typeface="Arial" pitchFamily="34" charset="0"/>
                <a:ea typeface="Arial" pitchFamily="34" charset="-122"/>
                <a:cs typeface="Arial" pitchFamily="34" charset="-120"/>
              </a:rPr>
              <a:t>Back to the Building Blocks · 2024</a:t>
            </a:r>
            <a:endParaRPr lang="en-US" sz="1800" dirty="0"/>
          </a:p>
        </p:txBody>
      </p:sp>
      <p:sp>
        <p:nvSpPr>
          <p:cNvPr id="21" name="Text 19"/>
          <p:cNvSpPr/>
          <p:nvPr/>
        </p:nvSpPr>
        <p:spPr>
          <a:xfrm>
            <a:off x="13468350" y="8481060"/>
            <a:ext cx="3983165" cy="731520"/>
          </a:xfrm>
          <a:prstGeom prst="rect">
            <a:avLst/>
          </a:prstGeom>
          <a:noFill/>
          <a:ln/>
        </p:spPr>
        <p:txBody>
          <a:bodyPr wrap="square" lIns="25400" tIns="25400" rIns="25400" bIns="25400" rtlCol="0" anchor="t">
            <a:normAutofit/>
          </a:bodyPr>
          <a:lstStyle/>
          <a:p>
            <a:pPr algn="l" indent="0" marL="0">
              <a:lnSpc>
                <a:spcPct val="130000"/>
              </a:lnSpc>
              <a:buNone/>
            </a:pPr>
            <a:r>
              <a:rPr lang="en-US" sz="2100" dirty="0">
                <a:solidFill>
                  <a:srgbClr val="F3EFE6"/>
                </a:solidFill>
                <a:latin typeface="Arial" pitchFamily="34" charset="0"/>
                <a:ea typeface="Arial" pitchFamily="34" charset="-122"/>
                <a:cs typeface="Arial" pitchFamily="34" charset="-120"/>
              </a:rPr>
              <a:t>Repeats the recommendation from the White House.</a:t>
            </a:r>
            <a:endParaRPr lang="en-US" sz="2100" dirty="0"/>
          </a:p>
        </p:txBody>
      </p:sp>
      <p:sp>
        <p:nvSpPr>
          <p:cNvPr id="22" name="Text 20"/>
          <p:cNvSpPr/>
          <p:nvPr/>
        </p:nvSpPr>
        <p:spPr>
          <a:xfrm>
            <a:off x="952500" y="9403080"/>
            <a:ext cx="16874490" cy="350520"/>
          </a:xfrm>
          <a:prstGeom prst="rect">
            <a:avLst/>
          </a:prstGeom>
          <a:noFill/>
          <a:ln/>
        </p:spPr>
        <p:txBody>
          <a:bodyPr wrap="square" lIns="25400" tIns="25400" rIns="25400" bIns="25400" rtlCol="0" anchor="t">
            <a:normAutofit/>
          </a:bodyPr>
          <a:lstStyle/>
          <a:p>
            <a:pPr algn="l" indent="0" marL="0">
              <a:buNone/>
            </a:pPr>
            <a:r>
              <a:rPr lang="en-US" sz="2100" dirty="0">
                <a:solidFill>
                  <a:srgbClr val="6B6457"/>
                </a:solidFill>
                <a:latin typeface="Arial" pitchFamily="34" charset="0"/>
                <a:ea typeface="Arial" pitchFamily="34" charset="-122"/>
                <a:cs typeface="Arial" pitchFamily="34" charset="-120"/>
              </a:rPr>
              <a:t>C++ is alone in the exposed tier.</a:t>
            </a:r>
            <a:endParaRPr lang="en-US" sz="2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3EFE6"/>
        </a:solidFill>
      </p:bgPr>
    </p:bg>
    <p:spTree>
      <p:nvGrpSpPr>
        <p:cNvPr id="1" name=""/>
        <p:cNvGrpSpPr/>
        <p:nvPr/>
      </p:nvGrpSpPr>
      <p:grpSpPr>
        <a:xfrm>
          <a:off x="0" y="0"/>
          <a:ext cx="0" cy="0"/>
          <a:chOff x="0" y="0"/>
          <a:chExt cx="0" cy="0"/>
        </a:xfrm>
      </p:grpSpPr>
      <p:sp>
        <p:nvSpPr>
          <p:cNvPr id="2" name="Text 0"/>
          <p:cNvSpPr/>
          <p:nvPr/>
        </p:nvSpPr>
        <p:spPr>
          <a:xfrm>
            <a:off x="952500" y="762000"/>
            <a:ext cx="2881254" cy="297180"/>
          </a:xfrm>
          <a:prstGeom prst="rect">
            <a:avLst/>
          </a:prstGeom>
          <a:noFill/>
          <a:ln/>
        </p:spPr>
        <p:txBody>
          <a:bodyPr wrap="square" lIns="25400" tIns="25400" rIns="25400" bIns="25400" rtlCol="0" anchor="t">
            <a:normAutofit/>
          </a:bodyPr>
          <a:lstStyle/>
          <a:p>
            <a:pPr algn="l" indent="0" marL="0">
              <a:buNone/>
            </a:pPr>
            <a:r>
              <a:rPr lang="en-US" sz="1800" spc="144" kern="0" dirty="0">
                <a:solidFill>
                  <a:srgbClr val="6B6457"/>
                </a:solidFill>
                <a:latin typeface="Arial" pitchFamily="34" charset="0"/>
                <a:ea typeface="Arial" pitchFamily="34" charset="-122"/>
                <a:cs typeface="Arial" pitchFamily="34" charset="-120"/>
              </a:rPr>
              <a:t>04 · FINDING 04 OF 05</a:t>
            </a:r>
            <a:endParaRPr lang="en-US" sz="1800" dirty="0"/>
          </a:p>
        </p:txBody>
      </p:sp>
      <p:sp>
        <p:nvSpPr>
          <p:cNvPr id="3" name="Text 1"/>
          <p:cNvSpPr/>
          <p:nvPr/>
        </p:nvSpPr>
        <p:spPr>
          <a:xfrm>
            <a:off x="16508571" y="762000"/>
            <a:ext cx="903129" cy="297180"/>
          </a:xfrm>
          <a:prstGeom prst="rect">
            <a:avLst/>
          </a:prstGeom>
          <a:noFill/>
          <a:ln/>
        </p:spPr>
        <p:txBody>
          <a:bodyPr wrap="square" lIns="25400" tIns="25400" rIns="25400" bIns="25400" rtlCol="0" anchor="t">
            <a:normAutofit/>
          </a:bodyPr>
          <a:lstStyle/>
          <a:p>
            <a:pPr algn="l" indent="0" marL="0">
              <a:buNone/>
            </a:pPr>
            <a:r>
              <a:rPr lang="en-US" sz="1800" spc="144" kern="0" dirty="0">
                <a:solidFill>
                  <a:srgbClr val="6B6457"/>
                </a:solidFill>
                <a:latin typeface="Arial" pitchFamily="34" charset="0"/>
                <a:ea typeface="Arial" pitchFamily="34" charset="-122"/>
                <a:cs typeface="Arial" pitchFamily="34" charset="-120"/>
              </a:rPr>
              <a:t>08/14</a:t>
            </a:r>
            <a:endParaRPr lang="en-US" sz="1800" dirty="0"/>
          </a:p>
        </p:txBody>
      </p:sp>
      <p:sp>
        <p:nvSpPr>
          <p:cNvPr id="4" name="Text 2"/>
          <p:cNvSpPr/>
          <p:nvPr/>
        </p:nvSpPr>
        <p:spPr>
          <a:xfrm>
            <a:off x="952500" y="1516380"/>
            <a:ext cx="16874490" cy="297180"/>
          </a:xfrm>
          <a:prstGeom prst="rect">
            <a:avLst/>
          </a:prstGeom>
          <a:noFill/>
          <a:ln/>
        </p:spPr>
        <p:txBody>
          <a:bodyPr wrap="square" lIns="25400" tIns="25400" rIns="25400" bIns="25400" rtlCol="0" anchor="t">
            <a:normAutofit/>
          </a:bodyPr>
          <a:lstStyle/>
          <a:p>
            <a:pPr algn="l" indent="0" marL="0">
              <a:buNone/>
            </a:pPr>
            <a:r>
              <a:rPr lang="en-US" sz="1800" spc="180" kern="0" dirty="0">
                <a:solidFill>
                  <a:srgbClr val="C2410C"/>
                </a:solidFill>
                <a:latin typeface="Arial" pitchFamily="34" charset="0"/>
                <a:ea typeface="Arial" pitchFamily="34" charset="-122"/>
                <a:cs typeface="Arial" pitchFamily="34" charset="-120"/>
              </a:rPr>
              <a:t>FINDING 04</a:t>
            </a:r>
            <a:endParaRPr lang="en-US" sz="1800" dirty="0"/>
          </a:p>
        </p:txBody>
      </p:sp>
      <p:sp>
        <p:nvSpPr>
          <p:cNvPr id="5" name="Text 3"/>
          <p:cNvSpPr/>
          <p:nvPr/>
        </p:nvSpPr>
        <p:spPr>
          <a:xfrm>
            <a:off x="952500" y="1927860"/>
            <a:ext cx="7201744" cy="1245870"/>
          </a:xfrm>
          <a:prstGeom prst="rect">
            <a:avLst/>
          </a:prstGeom>
          <a:noFill/>
          <a:ln/>
        </p:spPr>
        <p:txBody>
          <a:bodyPr wrap="square" lIns="25400" tIns="25400" rIns="25400" bIns="25400" rtlCol="0" anchor="t">
            <a:normAutofit/>
          </a:bodyPr>
          <a:lstStyle/>
          <a:p>
            <a:pPr algn="l" indent="0" marL="0">
              <a:lnSpc>
                <a:spcPct val="105000"/>
              </a:lnSpc>
              <a:buNone/>
            </a:pPr>
            <a:r>
              <a:rPr lang="en-US" sz="4500" spc="-90" kern="0" dirty="0">
                <a:solidFill>
                  <a:srgbClr val="16140F"/>
                </a:solidFill>
                <a:latin typeface="Arial" pitchFamily="34" charset="0"/>
                <a:ea typeface="Arial" pitchFamily="34" charset="-122"/>
                <a:cs typeface="Arial" pitchFamily="34" charset="-120"/>
              </a:rPr>
              <a:t>Incumbent gravity does not </a:t>
            </a:r>
            <a:pPr algn="l" indent="0" marL="0">
              <a:lnSpc>
                <a:spcPct val="105000"/>
              </a:lnSpc>
              <a:buNone/>
            </a:pPr>
            <a:r>
              <a:rPr lang="en-US" sz="4500" i="1" spc="-90" kern="0" dirty="0">
                <a:solidFill>
                  <a:srgbClr val="C2410C"/>
                </a:solidFill>
                <a:latin typeface="Arial" pitchFamily="34" charset="0"/>
                <a:ea typeface="Arial" pitchFamily="34" charset="-122"/>
                <a:cs typeface="Arial" pitchFamily="34" charset="-120"/>
              </a:rPr>
              <a:t>insulate</a:t>
            </a:r>
            <a:pPr algn="l" indent="0" marL="0">
              <a:lnSpc>
                <a:spcPct val="105000"/>
              </a:lnSpc>
              <a:buNone/>
            </a:pPr>
            <a:r>
              <a:rPr lang="en-US" sz="4500" spc="-90" kern="0" dirty="0">
                <a:solidFill>
                  <a:srgbClr val="16140F"/>
                </a:solidFill>
                <a:latin typeface="Arial" pitchFamily="34" charset="0"/>
                <a:ea typeface="Arial" pitchFamily="34" charset="-122"/>
                <a:cs typeface="Arial" pitchFamily="34" charset="-120"/>
              </a:rPr>
              <a:t>.</a:t>
            </a:r>
            <a:endParaRPr lang="en-US" sz="4500" dirty="0"/>
          </a:p>
        </p:txBody>
      </p:sp>
      <p:sp>
        <p:nvSpPr>
          <p:cNvPr id="6" name="Shape 4"/>
          <p:cNvSpPr/>
          <p:nvPr/>
        </p:nvSpPr>
        <p:spPr>
          <a:xfrm>
            <a:off x="952500" y="3440430"/>
            <a:ext cx="16383000" cy="9525"/>
          </a:xfrm>
          <a:prstGeom prst="rect">
            <a:avLst/>
          </a:prstGeom>
          <a:solidFill>
            <a:srgbClr val="CDC6B6"/>
          </a:solidFill>
          <a:ln/>
        </p:spPr>
      </p:sp>
      <p:sp>
        <p:nvSpPr>
          <p:cNvPr id="7" name="Text 5"/>
          <p:cNvSpPr/>
          <p:nvPr/>
        </p:nvSpPr>
        <p:spPr>
          <a:xfrm>
            <a:off x="952500" y="3676650"/>
            <a:ext cx="1790700" cy="525780"/>
          </a:xfrm>
          <a:prstGeom prst="rect">
            <a:avLst/>
          </a:prstGeom>
          <a:noFill/>
          <a:ln/>
        </p:spPr>
        <p:txBody>
          <a:bodyPr wrap="square" lIns="25400" tIns="25400" rIns="25400" bIns="25400" rtlCol="0" anchor="t">
            <a:normAutofit/>
          </a:bodyPr>
          <a:lstStyle/>
          <a:p>
            <a:pPr algn="l" indent="0" marL="0">
              <a:buNone/>
            </a:pPr>
            <a:r>
              <a:rPr lang="en-US" sz="3300" dirty="0">
                <a:solidFill>
                  <a:srgbClr val="16140F"/>
                </a:solidFill>
                <a:latin typeface="Arial" pitchFamily="34" charset="0"/>
                <a:ea typeface="Arial" pitchFamily="34" charset="-122"/>
                <a:cs typeface="Arial" pitchFamily="34" charset="-120"/>
              </a:rPr>
              <a:t>C++</a:t>
            </a:r>
            <a:endParaRPr lang="en-US" sz="3300" dirty="0"/>
          </a:p>
        </p:txBody>
      </p:sp>
      <p:sp>
        <p:nvSpPr>
          <p:cNvPr id="8" name="Text 6"/>
          <p:cNvSpPr/>
          <p:nvPr/>
        </p:nvSpPr>
        <p:spPr>
          <a:xfrm>
            <a:off x="2971800" y="3859530"/>
            <a:ext cx="1177607" cy="289560"/>
          </a:xfrm>
          <a:prstGeom prst="rect">
            <a:avLst/>
          </a:prstGeom>
          <a:noFill/>
          <a:ln/>
        </p:spPr>
        <p:txBody>
          <a:bodyPr wrap="square" lIns="25400" tIns="25400" rIns="25400" bIns="25400" rtlCol="0" anchor="t">
            <a:normAutofit/>
          </a:bodyPr>
          <a:lstStyle/>
          <a:p>
            <a:pPr algn="l" indent="0" marL="0">
              <a:buNone/>
            </a:pPr>
            <a:r>
              <a:rPr lang="en-US" sz="1800" spc="144" kern="0" dirty="0">
                <a:solidFill>
                  <a:srgbClr val="6B6457"/>
                </a:solidFill>
                <a:latin typeface="Arial" pitchFamily="34" charset="0"/>
                <a:ea typeface="Arial" pitchFamily="34" charset="-122"/>
                <a:cs typeface="Arial" pitchFamily="34" charset="-120"/>
              </a:rPr>
              <a:t>RETAINS</a:t>
            </a:r>
            <a:endParaRPr lang="en-US" sz="1800" dirty="0"/>
          </a:p>
        </p:txBody>
      </p:sp>
      <p:sp>
        <p:nvSpPr>
          <p:cNvPr id="9" name="Text 7"/>
          <p:cNvSpPr/>
          <p:nvPr/>
        </p:nvSpPr>
        <p:spPr>
          <a:xfrm>
            <a:off x="2971800" y="4191000"/>
            <a:ext cx="6494717" cy="475297"/>
          </a:xfrm>
          <a:prstGeom prst="rect">
            <a:avLst/>
          </a:prstGeom>
          <a:noFill/>
          <a:ln/>
        </p:spPr>
        <p:txBody>
          <a:bodyPr wrap="square" lIns="25400" tIns="25400" rIns="25400" bIns="25400" rtlCol="0" anchor="t">
            <a:normAutofit/>
          </a:bodyPr>
          <a:lstStyle/>
          <a:p>
            <a:pPr algn="l" indent="0" marL="0">
              <a:lnSpc>
                <a:spcPct val="135000"/>
              </a:lnSpc>
              <a:buNone/>
            </a:pPr>
            <a:r>
              <a:rPr lang="en-US" sz="2550" dirty="0">
                <a:solidFill>
                  <a:srgbClr val="16140F"/>
                </a:solidFill>
                <a:latin typeface="Arial" pitchFamily="34" charset="0"/>
                <a:ea typeface="Arial" pitchFamily="34" charset="-122"/>
                <a:cs typeface="Arial" pitchFamily="34" charset="-120"/>
              </a:rPr>
              <a:t>Accelerator host code · ISO standardization</a:t>
            </a:r>
            <a:endParaRPr lang="en-US" sz="2550" dirty="0"/>
          </a:p>
        </p:txBody>
      </p:sp>
      <p:sp>
        <p:nvSpPr>
          <p:cNvPr id="10" name="Text 8"/>
          <p:cNvSpPr/>
          <p:nvPr/>
        </p:nvSpPr>
        <p:spPr>
          <a:xfrm>
            <a:off x="9582150" y="3859530"/>
            <a:ext cx="929640" cy="289560"/>
          </a:xfrm>
          <a:prstGeom prst="rect">
            <a:avLst/>
          </a:prstGeom>
          <a:noFill/>
          <a:ln/>
        </p:spPr>
        <p:txBody>
          <a:bodyPr wrap="square" lIns="25400" tIns="25400" rIns="25400" bIns="25400" rtlCol="0" anchor="t">
            <a:normAutofit/>
          </a:bodyPr>
          <a:lstStyle/>
          <a:p>
            <a:pPr algn="l" indent="0" marL="0">
              <a:buNone/>
            </a:pPr>
            <a:r>
              <a:rPr lang="en-US" sz="1800" spc="144" kern="0" dirty="0">
                <a:solidFill>
                  <a:srgbClr val="C2410C"/>
                </a:solidFill>
                <a:latin typeface="Arial" pitchFamily="34" charset="0"/>
                <a:ea typeface="Arial" pitchFamily="34" charset="-122"/>
                <a:cs typeface="Arial" pitchFamily="34" charset="-120"/>
              </a:rPr>
              <a:t>LOSES</a:t>
            </a:r>
            <a:endParaRPr lang="en-US" sz="1800" dirty="0"/>
          </a:p>
        </p:txBody>
      </p:sp>
      <p:sp>
        <p:nvSpPr>
          <p:cNvPr id="11" name="Text 9"/>
          <p:cNvSpPr/>
          <p:nvPr/>
        </p:nvSpPr>
        <p:spPr>
          <a:xfrm>
            <a:off x="9582150" y="4191000"/>
            <a:ext cx="6494717" cy="912495"/>
          </a:xfrm>
          <a:prstGeom prst="rect">
            <a:avLst/>
          </a:prstGeom>
          <a:noFill/>
          <a:ln/>
        </p:spPr>
        <p:txBody>
          <a:bodyPr wrap="square" lIns="25400" tIns="25400" rIns="25400" bIns="25400" rtlCol="0" anchor="t">
            <a:normAutofit/>
          </a:bodyPr>
          <a:lstStyle/>
          <a:p>
            <a:pPr algn="l" indent="0" marL="0">
              <a:lnSpc>
                <a:spcPct val="135000"/>
              </a:lnSpc>
              <a:buNone/>
            </a:pPr>
            <a:r>
              <a:rPr lang="en-US" sz="2550" dirty="0">
                <a:solidFill>
                  <a:srgbClr val="16140F"/>
                </a:solidFill>
                <a:latin typeface="Arial" pitchFamily="34" charset="0"/>
                <a:ea typeface="Arial" pitchFamily="34" charset="-122"/>
                <a:cs typeface="Arial" pitchFamily="34" charset="-120"/>
              </a:rPr>
              <a:t>Safety pressure dominates strategic viability.</a:t>
            </a:r>
            <a:endParaRPr lang="en-US" sz="2550" dirty="0"/>
          </a:p>
        </p:txBody>
      </p:sp>
      <p:sp>
        <p:nvSpPr>
          <p:cNvPr id="12" name="Text 10"/>
          <p:cNvSpPr/>
          <p:nvPr/>
        </p:nvSpPr>
        <p:spPr>
          <a:xfrm>
            <a:off x="16116300" y="3676650"/>
            <a:ext cx="1219200" cy="525780"/>
          </a:xfrm>
          <a:prstGeom prst="rect">
            <a:avLst/>
          </a:prstGeom>
          <a:noFill/>
          <a:ln/>
        </p:spPr>
        <p:txBody>
          <a:bodyPr wrap="square" lIns="25400" tIns="25400" rIns="25400" bIns="25400" rtlCol="0" anchor="t">
            <a:normAutofit/>
          </a:bodyPr>
          <a:lstStyle/>
          <a:p>
            <a:pPr algn="r" indent="0" marL="0">
              <a:buNone/>
            </a:pPr>
            <a:r>
              <a:rPr lang="en-US" sz="3300" dirty="0">
                <a:solidFill>
                  <a:srgbClr val="C2410C"/>
                </a:solidFill>
                <a:latin typeface="Arial" pitchFamily="34" charset="0"/>
                <a:ea typeface="Arial" pitchFamily="34" charset="-122"/>
                <a:cs typeface="Arial" pitchFamily="34" charset="-120"/>
              </a:rPr>
              <a:t>−0.4</a:t>
            </a:r>
            <a:endParaRPr lang="en-US" sz="3300" dirty="0"/>
          </a:p>
        </p:txBody>
      </p:sp>
      <p:sp>
        <p:nvSpPr>
          <p:cNvPr id="13" name="Shape 11"/>
          <p:cNvSpPr/>
          <p:nvPr/>
        </p:nvSpPr>
        <p:spPr>
          <a:xfrm>
            <a:off x="952500" y="5293995"/>
            <a:ext cx="16383000" cy="9525"/>
          </a:xfrm>
          <a:prstGeom prst="rect">
            <a:avLst/>
          </a:prstGeom>
          <a:solidFill>
            <a:srgbClr val="CDC6B6"/>
          </a:solidFill>
          <a:ln/>
        </p:spPr>
      </p:sp>
      <p:sp>
        <p:nvSpPr>
          <p:cNvPr id="14" name="Text 12"/>
          <p:cNvSpPr/>
          <p:nvPr/>
        </p:nvSpPr>
        <p:spPr>
          <a:xfrm>
            <a:off x="952500" y="5530215"/>
            <a:ext cx="1790700" cy="525780"/>
          </a:xfrm>
          <a:prstGeom prst="rect">
            <a:avLst/>
          </a:prstGeom>
          <a:noFill/>
          <a:ln/>
        </p:spPr>
        <p:txBody>
          <a:bodyPr wrap="square" lIns="25400" tIns="25400" rIns="25400" bIns="25400" rtlCol="0" anchor="t">
            <a:normAutofit/>
          </a:bodyPr>
          <a:lstStyle/>
          <a:p>
            <a:pPr algn="l" indent="0" marL="0">
              <a:buNone/>
            </a:pPr>
            <a:r>
              <a:rPr lang="en-US" sz="3300" dirty="0">
                <a:solidFill>
                  <a:srgbClr val="16140F"/>
                </a:solidFill>
                <a:latin typeface="Arial" pitchFamily="34" charset="0"/>
                <a:ea typeface="Arial" pitchFamily="34" charset="-122"/>
                <a:cs typeface="Arial" pitchFamily="34" charset="-120"/>
              </a:rPr>
              <a:t>Java</a:t>
            </a:r>
            <a:endParaRPr lang="en-US" sz="3300" dirty="0"/>
          </a:p>
        </p:txBody>
      </p:sp>
      <p:sp>
        <p:nvSpPr>
          <p:cNvPr id="15" name="Text 13"/>
          <p:cNvSpPr/>
          <p:nvPr/>
        </p:nvSpPr>
        <p:spPr>
          <a:xfrm>
            <a:off x="2971800" y="5713095"/>
            <a:ext cx="1177607" cy="289560"/>
          </a:xfrm>
          <a:prstGeom prst="rect">
            <a:avLst/>
          </a:prstGeom>
          <a:noFill/>
          <a:ln/>
        </p:spPr>
        <p:txBody>
          <a:bodyPr wrap="square" lIns="25400" tIns="25400" rIns="25400" bIns="25400" rtlCol="0" anchor="t">
            <a:normAutofit/>
          </a:bodyPr>
          <a:lstStyle/>
          <a:p>
            <a:pPr algn="l" indent="0" marL="0">
              <a:buNone/>
            </a:pPr>
            <a:r>
              <a:rPr lang="en-US" sz="1800" spc="144" kern="0" dirty="0">
                <a:solidFill>
                  <a:srgbClr val="6B6457"/>
                </a:solidFill>
                <a:latin typeface="Arial" pitchFamily="34" charset="0"/>
                <a:ea typeface="Arial" pitchFamily="34" charset="-122"/>
                <a:cs typeface="Arial" pitchFamily="34" charset="-120"/>
              </a:rPr>
              <a:t>RETAINS</a:t>
            </a:r>
            <a:endParaRPr lang="en-US" sz="1800" dirty="0"/>
          </a:p>
        </p:txBody>
      </p:sp>
      <p:sp>
        <p:nvSpPr>
          <p:cNvPr id="16" name="Text 14"/>
          <p:cNvSpPr/>
          <p:nvPr/>
        </p:nvSpPr>
        <p:spPr>
          <a:xfrm>
            <a:off x="2971800" y="6044565"/>
            <a:ext cx="6494717" cy="912495"/>
          </a:xfrm>
          <a:prstGeom prst="rect">
            <a:avLst/>
          </a:prstGeom>
          <a:noFill/>
          <a:ln/>
        </p:spPr>
        <p:txBody>
          <a:bodyPr wrap="square" lIns="25400" tIns="25400" rIns="25400" bIns="25400" rtlCol="0" anchor="t">
            <a:normAutofit/>
          </a:bodyPr>
          <a:lstStyle/>
          <a:p>
            <a:pPr algn="l" indent="0" marL="0">
              <a:lnSpc>
                <a:spcPct val="135000"/>
              </a:lnSpc>
              <a:buNone/>
            </a:pPr>
            <a:r>
              <a:rPr lang="en-US" sz="2550" dirty="0">
                <a:solidFill>
                  <a:srgbClr val="16140F"/>
                </a:solidFill>
                <a:latin typeface="Arial" pitchFamily="34" charset="0"/>
                <a:ea typeface="Arial" pitchFamily="34" charset="-122"/>
                <a:cs typeface="Arial" pitchFamily="34" charset="-120"/>
              </a:rPr>
              <a:t>Virtual threads · structured concurrency · Maven Central</a:t>
            </a:r>
            <a:endParaRPr lang="en-US" sz="2550" dirty="0"/>
          </a:p>
        </p:txBody>
      </p:sp>
      <p:sp>
        <p:nvSpPr>
          <p:cNvPr id="17" name="Text 15"/>
          <p:cNvSpPr/>
          <p:nvPr/>
        </p:nvSpPr>
        <p:spPr>
          <a:xfrm>
            <a:off x="9582150" y="5713095"/>
            <a:ext cx="929640" cy="289560"/>
          </a:xfrm>
          <a:prstGeom prst="rect">
            <a:avLst/>
          </a:prstGeom>
          <a:noFill/>
          <a:ln/>
        </p:spPr>
        <p:txBody>
          <a:bodyPr wrap="square" lIns="25400" tIns="25400" rIns="25400" bIns="25400" rtlCol="0" anchor="t">
            <a:normAutofit/>
          </a:bodyPr>
          <a:lstStyle/>
          <a:p>
            <a:pPr algn="l" indent="0" marL="0">
              <a:buNone/>
            </a:pPr>
            <a:r>
              <a:rPr lang="en-US" sz="1800" spc="144" kern="0" dirty="0">
                <a:solidFill>
                  <a:srgbClr val="C2410C"/>
                </a:solidFill>
                <a:latin typeface="Arial" pitchFamily="34" charset="0"/>
                <a:ea typeface="Arial" pitchFamily="34" charset="-122"/>
                <a:cs typeface="Arial" pitchFamily="34" charset="-120"/>
              </a:rPr>
              <a:t>LOSES</a:t>
            </a:r>
            <a:endParaRPr lang="en-US" sz="1800" dirty="0"/>
          </a:p>
        </p:txBody>
      </p:sp>
      <p:sp>
        <p:nvSpPr>
          <p:cNvPr id="18" name="Text 16"/>
          <p:cNvSpPr/>
          <p:nvPr/>
        </p:nvSpPr>
        <p:spPr>
          <a:xfrm>
            <a:off x="9582150" y="6044565"/>
            <a:ext cx="6494717" cy="912495"/>
          </a:xfrm>
          <a:prstGeom prst="rect">
            <a:avLst/>
          </a:prstGeom>
          <a:noFill/>
          <a:ln/>
        </p:spPr>
        <p:txBody>
          <a:bodyPr wrap="square" lIns="25400" tIns="25400" rIns="25400" bIns="25400" rtlCol="0" anchor="t">
            <a:normAutofit/>
          </a:bodyPr>
          <a:lstStyle/>
          <a:p>
            <a:pPr algn="l" indent="0" marL="0">
              <a:lnSpc>
                <a:spcPct val="135000"/>
              </a:lnSpc>
              <a:buNone/>
            </a:pPr>
            <a:r>
              <a:rPr lang="en-US" sz="2550" dirty="0">
                <a:solidFill>
                  <a:srgbClr val="16140F"/>
                </a:solidFill>
                <a:latin typeface="Arial" pitchFamily="34" charset="0"/>
                <a:ea typeface="Arial" pitchFamily="34" charset="-122"/>
                <a:cs typeface="Arial" pitchFamily="34" charset="-120"/>
              </a:rPr>
              <a:t>Kotlin’s null-safety and sealed types sit inside Java’s own ecosystem.</a:t>
            </a:r>
            <a:endParaRPr lang="en-US" sz="2550" dirty="0"/>
          </a:p>
        </p:txBody>
      </p:sp>
      <p:sp>
        <p:nvSpPr>
          <p:cNvPr id="19" name="Text 17"/>
          <p:cNvSpPr/>
          <p:nvPr/>
        </p:nvSpPr>
        <p:spPr>
          <a:xfrm>
            <a:off x="16116300" y="5530215"/>
            <a:ext cx="1219200" cy="525780"/>
          </a:xfrm>
          <a:prstGeom prst="rect">
            <a:avLst/>
          </a:prstGeom>
          <a:noFill/>
          <a:ln/>
        </p:spPr>
        <p:txBody>
          <a:bodyPr wrap="square" lIns="25400" tIns="25400" rIns="25400" bIns="25400" rtlCol="0" anchor="t">
            <a:normAutofit/>
          </a:bodyPr>
          <a:lstStyle/>
          <a:p>
            <a:pPr algn="r" indent="0" marL="0">
              <a:buNone/>
            </a:pPr>
            <a:r>
              <a:rPr lang="en-US" sz="3300" dirty="0">
                <a:solidFill>
                  <a:srgbClr val="C2410C"/>
                </a:solidFill>
                <a:latin typeface="Arial" pitchFamily="34" charset="0"/>
                <a:ea typeface="Arial" pitchFamily="34" charset="-122"/>
                <a:cs typeface="Arial" pitchFamily="34" charset="-120"/>
              </a:rPr>
              <a:t>−0.55</a:t>
            </a:r>
            <a:endParaRPr lang="en-US" sz="3300" dirty="0"/>
          </a:p>
        </p:txBody>
      </p:sp>
      <p:sp>
        <p:nvSpPr>
          <p:cNvPr id="20" name="Shape 18"/>
          <p:cNvSpPr/>
          <p:nvPr/>
        </p:nvSpPr>
        <p:spPr>
          <a:xfrm>
            <a:off x="952500" y="9001125"/>
            <a:ext cx="16383000" cy="9525"/>
          </a:xfrm>
          <a:prstGeom prst="rect">
            <a:avLst/>
          </a:prstGeom>
          <a:solidFill>
            <a:srgbClr val="CDC6B6"/>
          </a:solidFill>
          <a:ln/>
        </p:spPr>
      </p:sp>
      <p:sp>
        <p:nvSpPr>
          <p:cNvPr id="21" name="Shape 19"/>
          <p:cNvSpPr/>
          <p:nvPr/>
        </p:nvSpPr>
        <p:spPr>
          <a:xfrm>
            <a:off x="952500" y="7147560"/>
            <a:ext cx="16383000" cy="9525"/>
          </a:xfrm>
          <a:prstGeom prst="rect">
            <a:avLst/>
          </a:prstGeom>
          <a:solidFill>
            <a:srgbClr val="CDC6B6"/>
          </a:solidFill>
          <a:ln/>
        </p:spPr>
      </p:sp>
      <p:sp>
        <p:nvSpPr>
          <p:cNvPr id="22" name="Text 20"/>
          <p:cNvSpPr/>
          <p:nvPr/>
        </p:nvSpPr>
        <p:spPr>
          <a:xfrm>
            <a:off x="952500" y="7383780"/>
            <a:ext cx="1790700" cy="525780"/>
          </a:xfrm>
          <a:prstGeom prst="rect">
            <a:avLst/>
          </a:prstGeom>
          <a:noFill/>
          <a:ln/>
        </p:spPr>
        <p:txBody>
          <a:bodyPr wrap="square" lIns="25400" tIns="25400" rIns="25400" bIns="25400" rtlCol="0" anchor="t">
            <a:normAutofit/>
          </a:bodyPr>
          <a:lstStyle/>
          <a:p>
            <a:pPr algn="l" indent="0" marL="0">
              <a:buNone/>
            </a:pPr>
            <a:r>
              <a:rPr lang="en-US" sz="3300" dirty="0">
                <a:solidFill>
                  <a:srgbClr val="16140F"/>
                </a:solidFill>
                <a:latin typeface="Arial" pitchFamily="34" charset="0"/>
                <a:ea typeface="Arial" pitchFamily="34" charset="-122"/>
                <a:cs typeface="Arial" pitchFamily="34" charset="-120"/>
              </a:rPr>
              <a:t>Python</a:t>
            </a:r>
            <a:endParaRPr lang="en-US" sz="3300" dirty="0"/>
          </a:p>
        </p:txBody>
      </p:sp>
      <p:sp>
        <p:nvSpPr>
          <p:cNvPr id="23" name="Text 21"/>
          <p:cNvSpPr/>
          <p:nvPr/>
        </p:nvSpPr>
        <p:spPr>
          <a:xfrm>
            <a:off x="2971800" y="7566660"/>
            <a:ext cx="1177607" cy="289560"/>
          </a:xfrm>
          <a:prstGeom prst="rect">
            <a:avLst/>
          </a:prstGeom>
          <a:noFill/>
          <a:ln/>
        </p:spPr>
        <p:txBody>
          <a:bodyPr wrap="square" lIns="25400" tIns="25400" rIns="25400" bIns="25400" rtlCol="0" anchor="t">
            <a:normAutofit/>
          </a:bodyPr>
          <a:lstStyle/>
          <a:p>
            <a:pPr algn="l" indent="0" marL="0">
              <a:buNone/>
            </a:pPr>
            <a:r>
              <a:rPr lang="en-US" sz="1800" spc="144" kern="0" dirty="0">
                <a:solidFill>
                  <a:srgbClr val="6B6457"/>
                </a:solidFill>
                <a:latin typeface="Arial" pitchFamily="34" charset="0"/>
                <a:ea typeface="Arial" pitchFamily="34" charset="-122"/>
                <a:cs typeface="Arial" pitchFamily="34" charset="-120"/>
              </a:rPr>
              <a:t>RETAINS</a:t>
            </a:r>
            <a:endParaRPr lang="en-US" sz="1800" dirty="0"/>
          </a:p>
        </p:txBody>
      </p:sp>
      <p:sp>
        <p:nvSpPr>
          <p:cNvPr id="24" name="Text 22"/>
          <p:cNvSpPr/>
          <p:nvPr/>
        </p:nvSpPr>
        <p:spPr>
          <a:xfrm>
            <a:off x="2971800" y="7898130"/>
            <a:ext cx="6494717" cy="475298"/>
          </a:xfrm>
          <a:prstGeom prst="rect">
            <a:avLst/>
          </a:prstGeom>
          <a:noFill/>
          <a:ln/>
        </p:spPr>
        <p:txBody>
          <a:bodyPr wrap="square" lIns="25400" tIns="25400" rIns="25400" bIns="25400" rtlCol="0" anchor="t">
            <a:normAutofit/>
          </a:bodyPr>
          <a:lstStyle/>
          <a:p>
            <a:pPr algn="l" indent="0" marL="0">
              <a:lnSpc>
                <a:spcPct val="135000"/>
              </a:lnSpc>
              <a:buNone/>
            </a:pPr>
            <a:r>
              <a:rPr lang="en-US" sz="2550" dirty="0">
                <a:solidFill>
                  <a:srgbClr val="16140F"/>
                </a:solidFill>
                <a:latin typeface="Arial" pitchFamily="34" charset="0"/>
                <a:ea typeface="Arial" pitchFamily="34" charset="-122"/>
                <a:cs typeface="Arial" pitchFamily="34" charset="-120"/>
              </a:rPr>
              <a:t>ML library velocity · typing-PEP cadence</a:t>
            </a:r>
            <a:endParaRPr lang="en-US" sz="2550" dirty="0"/>
          </a:p>
        </p:txBody>
      </p:sp>
      <p:sp>
        <p:nvSpPr>
          <p:cNvPr id="25" name="Text 23"/>
          <p:cNvSpPr/>
          <p:nvPr/>
        </p:nvSpPr>
        <p:spPr>
          <a:xfrm>
            <a:off x="9582150" y="7566660"/>
            <a:ext cx="929640" cy="289560"/>
          </a:xfrm>
          <a:prstGeom prst="rect">
            <a:avLst/>
          </a:prstGeom>
          <a:noFill/>
          <a:ln/>
        </p:spPr>
        <p:txBody>
          <a:bodyPr wrap="square" lIns="25400" tIns="25400" rIns="25400" bIns="25400" rtlCol="0" anchor="t">
            <a:normAutofit/>
          </a:bodyPr>
          <a:lstStyle/>
          <a:p>
            <a:pPr algn="l" indent="0" marL="0">
              <a:buNone/>
            </a:pPr>
            <a:r>
              <a:rPr lang="en-US" sz="1800" spc="144" kern="0" dirty="0">
                <a:solidFill>
                  <a:srgbClr val="C2410C"/>
                </a:solidFill>
                <a:latin typeface="Arial" pitchFamily="34" charset="0"/>
                <a:ea typeface="Arial" pitchFamily="34" charset="-122"/>
                <a:cs typeface="Arial" pitchFamily="34" charset="-120"/>
              </a:rPr>
              <a:t>LOSES</a:t>
            </a:r>
            <a:endParaRPr lang="en-US" sz="1800" dirty="0"/>
          </a:p>
        </p:txBody>
      </p:sp>
      <p:sp>
        <p:nvSpPr>
          <p:cNvPr id="26" name="Text 24"/>
          <p:cNvSpPr/>
          <p:nvPr/>
        </p:nvSpPr>
        <p:spPr>
          <a:xfrm>
            <a:off x="9582150" y="7898130"/>
            <a:ext cx="6494717" cy="912495"/>
          </a:xfrm>
          <a:prstGeom prst="rect">
            <a:avLst/>
          </a:prstGeom>
          <a:noFill/>
          <a:ln/>
        </p:spPr>
        <p:txBody>
          <a:bodyPr wrap="square" lIns="25400" tIns="25400" rIns="25400" bIns="25400" rtlCol="0" anchor="t">
            <a:normAutofit/>
          </a:bodyPr>
          <a:lstStyle/>
          <a:p>
            <a:pPr algn="l" indent="0" marL="0">
              <a:lnSpc>
                <a:spcPct val="135000"/>
              </a:lnSpc>
              <a:buNone/>
            </a:pPr>
            <a:r>
              <a:rPr lang="en-US" sz="2550" dirty="0">
                <a:solidFill>
                  <a:srgbClr val="16140F"/>
                </a:solidFill>
                <a:latin typeface="Arial" pitchFamily="34" charset="0"/>
                <a:ea typeface="Arial" pitchFamily="34" charset="-122"/>
                <a:cs typeface="Arial" pitchFamily="34" charset="-120"/>
              </a:rPr>
              <a:t>Unenforced hints and fragmented stub coverage stay load-bearing.</a:t>
            </a:r>
            <a:endParaRPr lang="en-US" sz="2550" dirty="0"/>
          </a:p>
        </p:txBody>
      </p:sp>
      <p:sp>
        <p:nvSpPr>
          <p:cNvPr id="27" name="Text 25"/>
          <p:cNvSpPr/>
          <p:nvPr/>
        </p:nvSpPr>
        <p:spPr>
          <a:xfrm>
            <a:off x="16116300" y="7383780"/>
            <a:ext cx="1219200" cy="525780"/>
          </a:xfrm>
          <a:prstGeom prst="rect">
            <a:avLst/>
          </a:prstGeom>
          <a:noFill/>
          <a:ln/>
        </p:spPr>
        <p:txBody>
          <a:bodyPr wrap="square" lIns="25400" tIns="25400" rIns="25400" bIns="25400" rtlCol="0" anchor="t">
            <a:normAutofit/>
          </a:bodyPr>
          <a:lstStyle/>
          <a:p>
            <a:pPr algn="r" indent="0" marL="0">
              <a:buNone/>
            </a:pPr>
            <a:r>
              <a:rPr lang="en-US" sz="3300" dirty="0">
                <a:solidFill>
                  <a:srgbClr val="C2410C"/>
                </a:solidFill>
                <a:latin typeface="Arial" pitchFamily="34" charset="0"/>
                <a:ea typeface="Arial" pitchFamily="34" charset="-122"/>
                <a:cs typeface="Arial" pitchFamily="34" charset="-120"/>
              </a:rPr>
              <a:t>mixed</a:t>
            </a:r>
            <a:endParaRPr lang="en-US" sz="3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3EFE6"/>
        </a:solidFill>
      </p:bgPr>
    </p:bg>
    <p:spTree>
      <p:nvGrpSpPr>
        <p:cNvPr id="1" name=""/>
        <p:cNvGrpSpPr/>
        <p:nvPr/>
      </p:nvGrpSpPr>
      <p:grpSpPr>
        <a:xfrm>
          <a:off x="0" y="0"/>
          <a:ext cx="0" cy="0"/>
          <a:chOff x="0" y="0"/>
          <a:chExt cx="0" cy="0"/>
        </a:xfrm>
      </p:grpSpPr>
      <p:sp>
        <p:nvSpPr>
          <p:cNvPr id="2" name="Text 0"/>
          <p:cNvSpPr/>
          <p:nvPr/>
        </p:nvSpPr>
        <p:spPr>
          <a:xfrm>
            <a:off x="952500" y="952500"/>
            <a:ext cx="2881254" cy="297180"/>
          </a:xfrm>
          <a:prstGeom prst="rect">
            <a:avLst/>
          </a:prstGeom>
          <a:noFill/>
          <a:ln/>
        </p:spPr>
        <p:txBody>
          <a:bodyPr wrap="square" lIns="25400" tIns="25400" rIns="25400" bIns="25400" rtlCol="0" anchor="t">
            <a:normAutofit/>
          </a:bodyPr>
          <a:lstStyle/>
          <a:p>
            <a:pPr algn="l" indent="0" marL="0">
              <a:buNone/>
            </a:pPr>
            <a:r>
              <a:rPr lang="en-US" sz="1800" spc="144" kern="0" dirty="0">
                <a:solidFill>
                  <a:srgbClr val="6B6457"/>
                </a:solidFill>
                <a:latin typeface="Arial" pitchFamily="34" charset="0"/>
                <a:ea typeface="Arial" pitchFamily="34" charset="-122"/>
                <a:cs typeface="Arial" pitchFamily="34" charset="-120"/>
              </a:rPr>
              <a:t>04 · FINDING 05 OF 05</a:t>
            </a:r>
            <a:endParaRPr lang="en-US" sz="1800" dirty="0"/>
          </a:p>
        </p:txBody>
      </p:sp>
      <p:sp>
        <p:nvSpPr>
          <p:cNvPr id="3" name="Text 1"/>
          <p:cNvSpPr/>
          <p:nvPr/>
        </p:nvSpPr>
        <p:spPr>
          <a:xfrm>
            <a:off x="16508571" y="952500"/>
            <a:ext cx="903129" cy="297180"/>
          </a:xfrm>
          <a:prstGeom prst="rect">
            <a:avLst/>
          </a:prstGeom>
          <a:noFill/>
          <a:ln/>
        </p:spPr>
        <p:txBody>
          <a:bodyPr wrap="square" lIns="25400" tIns="25400" rIns="25400" bIns="25400" rtlCol="0" anchor="t">
            <a:normAutofit/>
          </a:bodyPr>
          <a:lstStyle/>
          <a:p>
            <a:pPr algn="l" indent="0" marL="0">
              <a:buNone/>
            </a:pPr>
            <a:r>
              <a:rPr lang="en-US" sz="1800" spc="144" kern="0" dirty="0">
                <a:solidFill>
                  <a:srgbClr val="6B6457"/>
                </a:solidFill>
                <a:latin typeface="Arial" pitchFamily="34" charset="0"/>
                <a:ea typeface="Arial" pitchFamily="34" charset="-122"/>
                <a:cs typeface="Arial" pitchFamily="34" charset="-120"/>
              </a:rPr>
              <a:t>09/14</a:t>
            </a:r>
            <a:endParaRPr lang="en-US" sz="1800" dirty="0"/>
          </a:p>
        </p:txBody>
      </p:sp>
      <p:sp>
        <p:nvSpPr>
          <p:cNvPr id="4" name="Text 2"/>
          <p:cNvSpPr/>
          <p:nvPr/>
        </p:nvSpPr>
        <p:spPr>
          <a:xfrm>
            <a:off x="952500" y="1706880"/>
            <a:ext cx="16874490" cy="297180"/>
          </a:xfrm>
          <a:prstGeom prst="rect">
            <a:avLst/>
          </a:prstGeom>
          <a:noFill/>
          <a:ln/>
        </p:spPr>
        <p:txBody>
          <a:bodyPr wrap="square" lIns="25400" tIns="25400" rIns="25400" bIns="25400" rtlCol="0" anchor="t">
            <a:normAutofit/>
          </a:bodyPr>
          <a:lstStyle/>
          <a:p>
            <a:pPr algn="l" indent="0" marL="0">
              <a:buNone/>
            </a:pPr>
            <a:r>
              <a:rPr lang="en-US" sz="1800" spc="180" kern="0" dirty="0">
                <a:solidFill>
                  <a:srgbClr val="C2410C"/>
                </a:solidFill>
                <a:latin typeface="Arial" pitchFamily="34" charset="0"/>
                <a:ea typeface="Arial" pitchFamily="34" charset="-122"/>
                <a:cs typeface="Arial" pitchFamily="34" charset="-120"/>
              </a:rPr>
              <a:t>FINDING 05</a:t>
            </a:r>
            <a:endParaRPr lang="en-US" sz="1800" dirty="0"/>
          </a:p>
        </p:txBody>
      </p:sp>
      <p:sp>
        <p:nvSpPr>
          <p:cNvPr id="5" name="Text 3"/>
          <p:cNvSpPr/>
          <p:nvPr/>
        </p:nvSpPr>
        <p:spPr>
          <a:xfrm>
            <a:off x="952500" y="2194560"/>
            <a:ext cx="9952025" cy="1569720"/>
          </a:xfrm>
          <a:prstGeom prst="rect">
            <a:avLst/>
          </a:prstGeom>
          <a:noFill/>
          <a:ln/>
        </p:spPr>
        <p:txBody>
          <a:bodyPr wrap="square" lIns="25400" tIns="25400" rIns="25400" bIns="25400" rtlCol="0" anchor="t">
            <a:normAutofit/>
          </a:bodyPr>
          <a:lstStyle/>
          <a:p>
            <a:pPr algn="l" indent="0" marL="0">
              <a:lnSpc>
                <a:spcPct val="105000"/>
              </a:lnSpc>
              <a:buNone/>
            </a:pPr>
            <a:r>
              <a:rPr lang="en-US" sz="5700" spc="-114" kern="0" dirty="0">
                <a:solidFill>
                  <a:srgbClr val="16140F"/>
                </a:solidFill>
                <a:latin typeface="Arial" pitchFamily="34" charset="0"/>
                <a:ea typeface="Arial" pitchFamily="34" charset="-122"/>
                <a:cs typeface="Arial" pitchFamily="34" charset="-120"/>
              </a:rPr>
              <a:t>The static / dynamic binary has </a:t>
            </a:r>
            <a:pPr algn="l" indent="0" marL="0">
              <a:lnSpc>
                <a:spcPct val="105000"/>
              </a:lnSpc>
              <a:buNone/>
            </a:pPr>
            <a:r>
              <a:rPr lang="en-US" sz="5700" i="1" spc="-114" kern="0" dirty="0">
                <a:solidFill>
                  <a:srgbClr val="C2410C"/>
                </a:solidFill>
                <a:latin typeface="Arial" pitchFamily="34" charset="0"/>
                <a:ea typeface="Arial" pitchFamily="34" charset="-122"/>
                <a:cs typeface="Arial" pitchFamily="34" charset="-120"/>
              </a:rPr>
              <a:t>collapsed into a spectrum</a:t>
            </a:r>
            <a:pPr algn="l" indent="0" marL="0">
              <a:lnSpc>
                <a:spcPct val="105000"/>
              </a:lnSpc>
              <a:buNone/>
            </a:pPr>
            <a:r>
              <a:rPr lang="en-US" sz="5700" spc="-114" kern="0" dirty="0">
                <a:solidFill>
                  <a:srgbClr val="16140F"/>
                </a:solidFill>
                <a:latin typeface="Arial" pitchFamily="34" charset="0"/>
                <a:ea typeface="Arial" pitchFamily="34" charset="-122"/>
                <a:cs typeface="Arial" pitchFamily="34" charset="-120"/>
              </a:rPr>
              <a:t>.</a:t>
            </a:r>
            <a:endParaRPr lang="en-US" sz="5700" dirty="0"/>
          </a:p>
        </p:txBody>
      </p:sp>
      <p:sp>
        <p:nvSpPr>
          <p:cNvPr id="6" name="Shape 4"/>
          <p:cNvSpPr/>
          <p:nvPr/>
        </p:nvSpPr>
        <p:spPr>
          <a:xfrm>
            <a:off x="952500" y="6755130"/>
            <a:ext cx="7438549" cy="9525"/>
          </a:xfrm>
          <a:prstGeom prst="rect">
            <a:avLst/>
          </a:prstGeom>
          <a:solidFill>
            <a:srgbClr val="CDC6B6"/>
          </a:solidFill>
          <a:ln/>
        </p:spPr>
      </p:sp>
      <p:sp>
        <p:nvSpPr>
          <p:cNvPr id="7" name="Shape 5"/>
          <p:cNvSpPr/>
          <p:nvPr/>
        </p:nvSpPr>
        <p:spPr>
          <a:xfrm>
            <a:off x="952500" y="4514850"/>
            <a:ext cx="7438549" cy="9525"/>
          </a:xfrm>
          <a:prstGeom prst="rect">
            <a:avLst/>
          </a:prstGeom>
          <a:solidFill>
            <a:srgbClr val="CDC6B6"/>
          </a:solidFill>
          <a:ln/>
        </p:spPr>
      </p:sp>
      <p:sp>
        <p:nvSpPr>
          <p:cNvPr id="8" name="Text 6"/>
          <p:cNvSpPr/>
          <p:nvPr/>
        </p:nvSpPr>
        <p:spPr>
          <a:xfrm>
            <a:off x="952500" y="5414010"/>
            <a:ext cx="5668651" cy="411480"/>
          </a:xfrm>
          <a:prstGeom prst="rect">
            <a:avLst/>
          </a:prstGeom>
          <a:noFill/>
          <a:ln/>
        </p:spPr>
        <p:txBody>
          <a:bodyPr wrap="square" lIns="25400" tIns="25400" rIns="25400" bIns="25400" rtlCol="0" anchor="t">
            <a:normAutofit/>
          </a:bodyPr>
          <a:lstStyle/>
          <a:p>
            <a:pPr algn="l" indent="0" marL="0">
              <a:buNone/>
            </a:pPr>
            <a:r>
              <a:rPr lang="en-US" sz="2550" dirty="0">
                <a:solidFill>
                  <a:srgbClr val="16140F"/>
                </a:solidFill>
                <a:latin typeface="Arial" pitchFamily="34" charset="0"/>
                <a:ea typeface="Arial" pitchFamily="34" charset="-122"/>
                <a:cs typeface="Arial" pitchFamily="34" charset="-120"/>
              </a:rPr>
              <a:t>Static-mature</a:t>
            </a:r>
            <a:endParaRPr lang="en-US" sz="2550" dirty="0"/>
          </a:p>
        </p:txBody>
      </p:sp>
      <p:sp>
        <p:nvSpPr>
          <p:cNvPr id="9" name="Text 7"/>
          <p:cNvSpPr/>
          <p:nvPr/>
        </p:nvSpPr>
        <p:spPr>
          <a:xfrm>
            <a:off x="952500" y="5795010"/>
            <a:ext cx="5341953" cy="647700"/>
          </a:xfrm>
          <a:prstGeom prst="rect">
            <a:avLst/>
          </a:prstGeom>
          <a:noFill/>
          <a:ln/>
        </p:spPr>
        <p:txBody>
          <a:bodyPr wrap="square" lIns="25400" tIns="25400" rIns="25400" bIns="25400" rtlCol="0" anchor="t">
            <a:normAutofit/>
          </a:bodyPr>
          <a:lstStyle/>
          <a:p>
            <a:pPr algn="l" indent="0" marL="0">
              <a:buNone/>
            </a:pPr>
            <a:r>
              <a:rPr lang="en-US" sz="2100" dirty="0">
                <a:solidFill>
                  <a:srgbClr val="6B6457"/>
                </a:solidFill>
                <a:latin typeface="Arial" pitchFamily="34" charset="0"/>
                <a:ea typeface="Arial" pitchFamily="34" charset="-122"/>
                <a:cs typeface="Arial" pitchFamily="34" charset="-120"/>
              </a:rPr>
              <a:t>Rust · Kotlin · .NET · Swift · Java · Haskell · Go · Zig</a:t>
            </a:r>
            <a:endParaRPr lang="en-US" sz="2100" dirty="0"/>
          </a:p>
        </p:txBody>
      </p:sp>
      <p:sp>
        <p:nvSpPr>
          <p:cNvPr id="10" name="Text 8"/>
          <p:cNvSpPr/>
          <p:nvPr/>
        </p:nvSpPr>
        <p:spPr>
          <a:xfrm>
            <a:off x="6684645" y="4865370"/>
            <a:ext cx="1782604" cy="1089660"/>
          </a:xfrm>
          <a:prstGeom prst="rect">
            <a:avLst/>
          </a:prstGeom>
          <a:noFill/>
          <a:ln/>
        </p:spPr>
        <p:txBody>
          <a:bodyPr wrap="square" lIns="25400" tIns="25400" rIns="25400" bIns="25400" rtlCol="0" anchor="t">
            <a:normAutofit/>
          </a:bodyPr>
          <a:lstStyle/>
          <a:p>
            <a:pPr algn="l" indent="0" marL="0">
              <a:buNone/>
            </a:pPr>
            <a:r>
              <a:rPr lang="en-US" sz="7200" spc="-144" kern="0" dirty="0">
                <a:solidFill>
                  <a:srgbClr val="16140F"/>
                </a:solidFill>
                <a:latin typeface="Arial" pitchFamily="34" charset="0"/>
                <a:ea typeface="Arial" pitchFamily="34" charset="-122"/>
                <a:cs typeface="Arial" pitchFamily="34" charset="-120"/>
              </a:rPr>
              <a:t>3.88</a:t>
            </a:r>
            <a:endParaRPr lang="en-US" sz="7200" dirty="0"/>
          </a:p>
        </p:txBody>
      </p:sp>
      <p:sp>
        <p:nvSpPr>
          <p:cNvPr id="11" name="Shape 9"/>
          <p:cNvSpPr/>
          <p:nvPr/>
        </p:nvSpPr>
        <p:spPr>
          <a:xfrm>
            <a:off x="952500" y="8682990"/>
            <a:ext cx="7438549" cy="9525"/>
          </a:xfrm>
          <a:prstGeom prst="rect">
            <a:avLst/>
          </a:prstGeom>
          <a:solidFill>
            <a:srgbClr val="CDC6B6"/>
          </a:solidFill>
          <a:ln/>
        </p:spPr>
      </p:sp>
      <p:sp>
        <p:nvSpPr>
          <p:cNvPr id="12" name="Text 10"/>
          <p:cNvSpPr/>
          <p:nvPr/>
        </p:nvSpPr>
        <p:spPr>
          <a:xfrm>
            <a:off x="952500" y="7654290"/>
            <a:ext cx="5668651" cy="411480"/>
          </a:xfrm>
          <a:prstGeom prst="rect">
            <a:avLst/>
          </a:prstGeom>
          <a:noFill/>
          <a:ln/>
        </p:spPr>
        <p:txBody>
          <a:bodyPr wrap="square" lIns="25400" tIns="25400" rIns="25400" bIns="25400" rtlCol="0" anchor="t">
            <a:normAutofit/>
          </a:bodyPr>
          <a:lstStyle/>
          <a:p>
            <a:pPr algn="l" indent="0" marL="0">
              <a:buNone/>
            </a:pPr>
            <a:r>
              <a:rPr lang="en-US" sz="2550" dirty="0">
                <a:solidFill>
                  <a:srgbClr val="16140F"/>
                </a:solidFill>
                <a:latin typeface="Arial" pitchFamily="34" charset="0"/>
                <a:ea typeface="Arial" pitchFamily="34" charset="-122"/>
                <a:cs typeface="Arial" pitchFamily="34" charset="-120"/>
              </a:rPr>
              <a:t>Dynamic + gradual</a:t>
            </a:r>
            <a:endParaRPr lang="en-US" sz="2550" dirty="0"/>
          </a:p>
        </p:txBody>
      </p:sp>
      <p:sp>
        <p:nvSpPr>
          <p:cNvPr id="13" name="Text 11"/>
          <p:cNvSpPr/>
          <p:nvPr/>
        </p:nvSpPr>
        <p:spPr>
          <a:xfrm>
            <a:off x="952500" y="8035290"/>
            <a:ext cx="4044972" cy="335280"/>
          </a:xfrm>
          <a:prstGeom prst="rect">
            <a:avLst/>
          </a:prstGeom>
          <a:noFill/>
          <a:ln/>
        </p:spPr>
        <p:txBody>
          <a:bodyPr wrap="square" lIns="25400" tIns="25400" rIns="25400" bIns="25400" rtlCol="0" anchor="t">
            <a:normAutofit/>
          </a:bodyPr>
          <a:lstStyle/>
          <a:p>
            <a:pPr algn="l" indent="0" marL="0">
              <a:buNone/>
            </a:pPr>
            <a:r>
              <a:rPr lang="en-US" sz="2100" dirty="0">
                <a:solidFill>
                  <a:srgbClr val="6B6457"/>
                </a:solidFill>
                <a:latin typeface="Arial" pitchFamily="34" charset="0"/>
                <a:ea typeface="Arial" pitchFamily="34" charset="-122"/>
                <a:cs typeface="Arial" pitchFamily="34" charset="-120"/>
              </a:rPr>
              <a:t>TypeScript · Python · Elixir · Julia</a:t>
            </a:r>
            <a:endParaRPr lang="en-US" sz="2100" dirty="0"/>
          </a:p>
        </p:txBody>
      </p:sp>
      <p:sp>
        <p:nvSpPr>
          <p:cNvPr id="14" name="Text 12"/>
          <p:cNvSpPr/>
          <p:nvPr/>
        </p:nvSpPr>
        <p:spPr>
          <a:xfrm>
            <a:off x="6684645" y="7105650"/>
            <a:ext cx="1782604" cy="1089660"/>
          </a:xfrm>
          <a:prstGeom prst="rect">
            <a:avLst/>
          </a:prstGeom>
          <a:noFill/>
          <a:ln/>
        </p:spPr>
        <p:txBody>
          <a:bodyPr wrap="square" lIns="25400" tIns="25400" rIns="25400" bIns="25400" rtlCol="0" anchor="t">
            <a:normAutofit/>
          </a:bodyPr>
          <a:lstStyle/>
          <a:p>
            <a:pPr algn="l" indent="0" marL="0">
              <a:buNone/>
            </a:pPr>
            <a:r>
              <a:rPr lang="en-US" sz="7200" spc="-144" kern="0" dirty="0">
                <a:solidFill>
                  <a:srgbClr val="C2410C"/>
                </a:solidFill>
                <a:latin typeface="Arial" pitchFamily="34" charset="0"/>
                <a:ea typeface="Arial" pitchFamily="34" charset="-122"/>
                <a:cs typeface="Arial" pitchFamily="34" charset="-120"/>
              </a:rPr>
              <a:t>3.87</a:t>
            </a:r>
            <a:endParaRPr lang="en-US" sz="7200" dirty="0"/>
          </a:p>
        </p:txBody>
      </p:sp>
      <p:sp>
        <p:nvSpPr>
          <p:cNvPr id="15" name="Text 13"/>
          <p:cNvSpPr/>
          <p:nvPr/>
        </p:nvSpPr>
        <p:spPr>
          <a:xfrm>
            <a:off x="952500" y="8919210"/>
            <a:ext cx="7661705" cy="350520"/>
          </a:xfrm>
          <a:prstGeom prst="rect">
            <a:avLst/>
          </a:prstGeom>
          <a:noFill/>
          <a:ln/>
        </p:spPr>
        <p:txBody>
          <a:bodyPr wrap="square" lIns="25400" tIns="25400" rIns="25400" bIns="25400" rtlCol="0" anchor="t">
            <a:normAutofit/>
          </a:bodyPr>
          <a:lstStyle/>
          <a:p>
            <a:pPr algn="l" indent="0" marL="0">
              <a:buNone/>
            </a:pPr>
            <a:r>
              <a:rPr lang="en-US" sz="2100" dirty="0">
                <a:solidFill>
                  <a:srgbClr val="6B6457"/>
                </a:solidFill>
                <a:latin typeface="Arial" pitchFamily="34" charset="0"/>
                <a:ea typeface="Arial" pitchFamily="34" charset="-122"/>
                <a:cs typeface="Arial" pitchFamily="34" charset="-120"/>
              </a:rPr>
              <a:t>Effectively tied at the top.</a:t>
            </a:r>
            <a:endParaRPr lang="en-US" sz="2100" dirty="0"/>
          </a:p>
        </p:txBody>
      </p:sp>
      <p:sp>
        <p:nvSpPr>
          <p:cNvPr id="16" name="Text 14"/>
          <p:cNvSpPr/>
          <p:nvPr/>
        </p:nvSpPr>
        <p:spPr>
          <a:xfrm>
            <a:off x="9153049" y="4820603"/>
            <a:ext cx="6309948" cy="1361122"/>
          </a:xfrm>
          <a:prstGeom prst="rect">
            <a:avLst/>
          </a:prstGeom>
          <a:noFill/>
          <a:ln/>
        </p:spPr>
        <p:txBody>
          <a:bodyPr wrap="square" lIns="25400" tIns="25400" rIns="25400" bIns="25400" rtlCol="0" anchor="t">
            <a:normAutofit/>
          </a:bodyPr>
          <a:lstStyle/>
          <a:p>
            <a:pPr algn="l" indent="0" marL="0">
              <a:lnSpc>
                <a:spcPct val="135000"/>
              </a:lnSpc>
              <a:buNone/>
            </a:pPr>
            <a:r>
              <a:rPr lang="en-US" sz="2550" dirty="0">
                <a:solidFill>
                  <a:srgbClr val="16140F"/>
                </a:solidFill>
                <a:latin typeface="Arial" pitchFamily="34" charset="0"/>
                <a:ea typeface="Arial" pitchFamily="34" charset="-122"/>
                <a:cs typeface="Arial" pitchFamily="34" charset="-120"/>
              </a:rPr>
              <a:t>TypeScript reaches an AI-era profile </a:t>
            </a:r>
            <a:pPr algn="l" indent="0" marL="0">
              <a:lnSpc>
                <a:spcPct val="135000"/>
              </a:lnSpc>
              <a:buNone/>
            </a:pPr>
            <a:r>
              <a:rPr lang="en-US" sz="2550" i="1" dirty="0">
                <a:solidFill>
                  <a:srgbClr val="16140F"/>
                </a:solidFill>
                <a:latin typeface="Arial" pitchFamily="34" charset="0"/>
                <a:ea typeface="Arial" pitchFamily="34" charset="-122"/>
                <a:cs typeface="Arial" pitchFamily="34" charset="-120"/>
              </a:rPr>
              <a:t>competitive with </a:t>
            </a:r>
            <a:pPr algn="l" indent="0" marL="0">
              <a:lnSpc>
                <a:spcPct val="135000"/>
              </a:lnSpc>
              <a:buNone/>
            </a:pPr>
            <a:r>
              <a:rPr lang="en-US" sz="2550" dirty="0">
                <a:solidFill>
                  <a:srgbClr val="16140F"/>
                </a:solidFill>
                <a:latin typeface="Arial" pitchFamily="34" charset="0"/>
                <a:ea typeface="Arial" pitchFamily="34" charset="-122"/>
                <a:cs typeface="Arial" pitchFamily="34" charset="-120"/>
              </a:rPr>
              <a:t>mature static languages — at </a:t>
            </a:r>
            <a:pPr algn="l" indent="0" marL="0">
              <a:lnSpc>
                <a:spcPct val="135000"/>
              </a:lnSpc>
              <a:buNone/>
            </a:pPr>
            <a:r>
              <a:rPr lang="en-US" sz="2550" b="1" dirty="0">
                <a:solidFill>
                  <a:srgbClr val="C2410C"/>
                </a:solidFill>
                <a:latin typeface="Arial" pitchFamily="34" charset="0"/>
                <a:ea typeface="Arial" pitchFamily="34" charset="-122"/>
                <a:cs typeface="Arial" pitchFamily="34" charset="-120"/>
              </a:rPr>
              <a:t>4.25</a:t>
            </a:r>
            <a:pPr algn="l" indent="0" marL="0">
              <a:lnSpc>
                <a:spcPct val="135000"/>
              </a:lnSpc>
              <a:buNone/>
            </a:pPr>
            <a:r>
              <a:rPr lang="en-US" sz="2550" dirty="0">
                <a:solidFill>
                  <a:srgbClr val="16140F"/>
                </a:solidFill>
                <a:latin typeface="Arial" pitchFamily="34" charset="0"/>
                <a:ea typeface="Arial" pitchFamily="34" charset="-122"/>
                <a:cs typeface="Arial" pitchFamily="34" charset="-120"/>
              </a:rPr>
              <a:t>, ahead of Kotlin and .NET.</a:t>
            </a:r>
            <a:endParaRPr lang="en-US" sz="2550" dirty="0"/>
          </a:p>
        </p:txBody>
      </p:sp>
      <p:sp>
        <p:nvSpPr>
          <p:cNvPr id="17" name="Text 15"/>
          <p:cNvSpPr/>
          <p:nvPr/>
        </p:nvSpPr>
        <p:spPr>
          <a:xfrm>
            <a:off x="9153049" y="6410325"/>
            <a:ext cx="6309948" cy="1349692"/>
          </a:xfrm>
          <a:prstGeom prst="rect">
            <a:avLst/>
          </a:prstGeom>
          <a:noFill/>
          <a:ln/>
        </p:spPr>
        <p:txBody>
          <a:bodyPr wrap="square" lIns="25400" tIns="25400" rIns="25400" bIns="25400" rtlCol="0" anchor="t">
            <a:normAutofit/>
          </a:bodyPr>
          <a:lstStyle/>
          <a:p>
            <a:pPr algn="l" indent="0" marL="0">
              <a:lnSpc>
                <a:spcPct val="135000"/>
              </a:lnSpc>
              <a:buNone/>
            </a:pPr>
            <a:r>
              <a:rPr lang="en-US" sz="2550" dirty="0">
                <a:solidFill>
                  <a:srgbClr val="16140F"/>
                </a:solidFill>
                <a:latin typeface="Arial" pitchFamily="34" charset="0"/>
                <a:ea typeface="Arial" pitchFamily="34" charset="-122"/>
                <a:cs typeface="Arial" pitchFamily="34" charset="-120"/>
              </a:rPr>
              <a:t>Typed Python, with pyright + bundled stubs, gives agents enough signal to operate.</a:t>
            </a:r>
            <a:endParaRPr lang="en-US" sz="2550" dirty="0"/>
          </a:p>
        </p:txBody>
      </p:sp>
      <p:sp>
        <p:nvSpPr>
          <p:cNvPr id="18" name="Shape 16"/>
          <p:cNvSpPr/>
          <p:nvPr/>
        </p:nvSpPr>
        <p:spPr>
          <a:xfrm>
            <a:off x="9153049" y="8141018"/>
            <a:ext cx="8182451" cy="784860"/>
          </a:xfrm>
          <a:prstGeom prst="rect">
            <a:avLst/>
          </a:prstGeom>
          <a:ln w="7620">
            <a:solidFill>
              <a:srgbClr val="CDC6B6"/>
            </a:solidFill>
            <a:prstDash val="solid"/>
          </a:ln>
        </p:spPr>
      </p:sp>
      <p:sp>
        <p:nvSpPr>
          <p:cNvPr id="19" name="Text 17"/>
          <p:cNvSpPr/>
          <p:nvPr/>
        </p:nvSpPr>
        <p:spPr>
          <a:xfrm>
            <a:off x="9389269" y="8377238"/>
            <a:ext cx="7955485" cy="350520"/>
          </a:xfrm>
          <a:prstGeom prst="rect">
            <a:avLst/>
          </a:prstGeom>
          <a:noFill/>
          <a:ln/>
        </p:spPr>
        <p:txBody>
          <a:bodyPr wrap="square" lIns="25400" tIns="25400" rIns="25400" bIns="25400" rtlCol="0" anchor="t">
            <a:normAutofit/>
          </a:bodyPr>
          <a:lstStyle/>
          <a:p>
            <a:pPr algn="l" indent="0" marL="0">
              <a:buNone/>
            </a:pPr>
            <a:r>
              <a:rPr lang="en-US" sz="2100" dirty="0">
                <a:solidFill>
                  <a:srgbClr val="C2410C"/>
                </a:solidFill>
                <a:latin typeface="Arial" pitchFamily="34" charset="0"/>
                <a:ea typeface="Arial" pitchFamily="34" charset="-122"/>
                <a:cs typeface="Arial" pitchFamily="34" charset="-120"/>
              </a:rPr>
              <a:t>predictive feature: </a:t>
            </a:r>
            <a:pPr algn="l" indent="0" marL="0">
              <a:buNone/>
            </a:pPr>
            <a:r>
              <a:rPr lang="en-US" sz="2100" dirty="0">
                <a:solidFill>
                  <a:srgbClr val="16140F"/>
                </a:solidFill>
                <a:latin typeface="Arial" pitchFamily="34" charset="0"/>
                <a:ea typeface="Arial" pitchFamily="34" charset="-122"/>
                <a:cs typeface="Arial" pitchFamily="34" charset="-120"/>
              </a:rPr>
              <a:t>gradual typing — not original origin.</a:t>
            </a:r>
            <a:endParaRPr lang="en-US" sz="2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3EFE6"/>
        </a:solidFill>
      </p:bgPr>
    </p:bg>
    <p:spTree>
      <p:nvGrpSpPr>
        <p:cNvPr id="1" name=""/>
        <p:cNvGrpSpPr/>
        <p:nvPr/>
      </p:nvGrpSpPr>
      <p:grpSpPr>
        <a:xfrm>
          <a:off x="0" y="0"/>
          <a:ext cx="0" cy="0"/>
          <a:chOff x="0" y="0"/>
          <a:chExt cx="0" cy="0"/>
        </a:xfrm>
      </p:grpSpPr>
      <p:sp>
        <p:nvSpPr>
          <p:cNvPr id="2" name="Text 0"/>
          <p:cNvSpPr/>
          <p:nvPr/>
        </p:nvSpPr>
        <p:spPr>
          <a:xfrm>
            <a:off x="952500" y="952500"/>
            <a:ext cx="1926749" cy="297180"/>
          </a:xfrm>
          <a:prstGeom prst="rect">
            <a:avLst/>
          </a:prstGeom>
          <a:noFill/>
          <a:ln/>
        </p:spPr>
        <p:txBody>
          <a:bodyPr wrap="square" lIns="25400" tIns="25400" rIns="25400" bIns="25400" rtlCol="0" anchor="t">
            <a:normAutofit/>
          </a:bodyPr>
          <a:lstStyle/>
          <a:p>
            <a:pPr algn="l" indent="0" marL="0">
              <a:buNone/>
            </a:pPr>
            <a:r>
              <a:rPr lang="en-US" sz="1800" spc="144" kern="0" dirty="0">
                <a:solidFill>
                  <a:srgbClr val="6B6457"/>
                </a:solidFill>
                <a:latin typeface="Arial" pitchFamily="34" charset="0"/>
                <a:ea typeface="Arial" pitchFamily="34" charset="-122"/>
                <a:cs typeface="Arial" pitchFamily="34" charset="-120"/>
              </a:rPr>
              <a:t>05 · VERDICTS</a:t>
            </a:r>
            <a:endParaRPr lang="en-US" sz="1800" dirty="0"/>
          </a:p>
        </p:txBody>
      </p:sp>
      <p:sp>
        <p:nvSpPr>
          <p:cNvPr id="3" name="Text 1"/>
          <p:cNvSpPr/>
          <p:nvPr/>
        </p:nvSpPr>
        <p:spPr>
          <a:xfrm>
            <a:off x="16508571" y="952500"/>
            <a:ext cx="903129" cy="297180"/>
          </a:xfrm>
          <a:prstGeom prst="rect">
            <a:avLst/>
          </a:prstGeom>
          <a:noFill/>
          <a:ln/>
        </p:spPr>
        <p:txBody>
          <a:bodyPr wrap="square" lIns="25400" tIns="25400" rIns="25400" bIns="25400" rtlCol="0" anchor="t">
            <a:normAutofit/>
          </a:bodyPr>
          <a:lstStyle/>
          <a:p>
            <a:pPr algn="l" indent="0" marL="0">
              <a:buNone/>
            </a:pPr>
            <a:r>
              <a:rPr lang="en-US" sz="1800" spc="144" kern="0" dirty="0">
                <a:solidFill>
                  <a:srgbClr val="6B6457"/>
                </a:solidFill>
                <a:latin typeface="Arial" pitchFamily="34" charset="0"/>
                <a:ea typeface="Arial" pitchFamily="34" charset="-122"/>
                <a:cs typeface="Arial" pitchFamily="34" charset="-120"/>
              </a:rPr>
              <a:t>10/14</a:t>
            </a:r>
            <a:endParaRPr lang="en-US" sz="1800" dirty="0"/>
          </a:p>
        </p:txBody>
      </p:sp>
      <p:sp>
        <p:nvSpPr>
          <p:cNvPr id="4" name="Text 2"/>
          <p:cNvSpPr/>
          <p:nvPr/>
        </p:nvSpPr>
        <p:spPr>
          <a:xfrm>
            <a:off x="952500" y="1706880"/>
            <a:ext cx="16874490" cy="678180"/>
          </a:xfrm>
          <a:prstGeom prst="rect">
            <a:avLst/>
          </a:prstGeom>
          <a:noFill/>
          <a:ln/>
        </p:spPr>
        <p:txBody>
          <a:bodyPr wrap="square" lIns="25400" tIns="25400" rIns="25400" bIns="25400" rtlCol="0" anchor="t">
            <a:normAutofit/>
          </a:bodyPr>
          <a:lstStyle/>
          <a:p>
            <a:pPr algn="l" indent="0" marL="0">
              <a:lnSpc>
                <a:spcPct val="105000"/>
              </a:lnSpc>
              <a:buNone/>
            </a:pPr>
            <a:r>
              <a:rPr lang="en-US" sz="4800" spc="-96" kern="0" dirty="0">
                <a:solidFill>
                  <a:srgbClr val="16140F"/>
                </a:solidFill>
                <a:latin typeface="Arial" pitchFamily="34" charset="0"/>
                <a:ea typeface="Arial" pitchFamily="34" charset="-122"/>
                <a:cs typeface="Arial" pitchFamily="34" charset="-120"/>
              </a:rPr>
              <a:t>The top tier.</a:t>
            </a:r>
            <a:endParaRPr lang="en-US" sz="4800" dirty="0"/>
          </a:p>
        </p:txBody>
      </p:sp>
      <p:sp>
        <p:nvSpPr>
          <p:cNvPr id="5" name="Shape 3"/>
          <p:cNvSpPr/>
          <p:nvPr/>
        </p:nvSpPr>
        <p:spPr>
          <a:xfrm>
            <a:off x="952500" y="2842260"/>
            <a:ext cx="3093720" cy="15240"/>
          </a:xfrm>
          <a:prstGeom prst="rect">
            <a:avLst/>
          </a:prstGeom>
          <a:solidFill>
            <a:srgbClr val="16140F"/>
          </a:solidFill>
          <a:ln/>
        </p:spPr>
      </p:sp>
      <p:sp>
        <p:nvSpPr>
          <p:cNvPr id="6" name="Text 4"/>
          <p:cNvSpPr/>
          <p:nvPr/>
        </p:nvSpPr>
        <p:spPr>
          <a:xfrm>
            <a:off x="952500" y="3086100"/>
            <a:ext cx="3186531" cy="297180"/>
          </a:xfrm>
          <a:prstGeom prst="rect">
            <a:avLst/>
          </a:prstGeom>
          <a:noFill/>
          <a:ln/>
        </p:spPr>
        <p:txBody>
          <a:bodyPr wrap="square" lIns="25400" tIns="25400" rIns="25400" bIns="25400" rtlCol="0" anchor="t">
            <a:normAutofit/>
          </a:bodyPr>
          <a:lstStyle/>
          <a:p>
            <a:pPr algn="l" indent="0" marL="0">
              <a:buNone/>
            </a:pPr>
            <a:r>
              <a:rPr lang="en-US" sz="1800" spc="144" kern="0" dirty="0">
                <a:solidFill>
                  <a:srgbClr val="6B6457"/>
                </a:solidFill>
                <a:latin typeface="Arial" pitchFamily="34" charset="0"/>
                <a:ea typeface="Arial" pitchFamily="34" charset="-122"/>
                <a:cs typeface="Arial" pitchFamily="34" charset="-120"/>
              </a:rPr>
              <a:t>01</a:t>
            </a:r>
            <a:endParaRPr lang="en-US" sz="1800" dirty="0"/>
          </a:p>
        </p:txBody>
      </p:sp>
      <p:sp>
        <p:nvSpPr>
          <p:cNvPr id="7" name="Text 5"/>
          <p:cNvSpPr/>
          <p:nvPr/>
        </p:nvSpPr>
        <p:spPr>
          <a:xfrm>
            <a:off x="952500" y="3535680"/>
            <a:ext cx="3186531" cy="571500"/>
          </a:xfrm>
          <a:prstGeom prst="rect">
            <a:avLst/>
          </a:prstGeom>
          <a:noFill/>
          <a:ln/>
        </p:spPr>
        <p:txBody>
          <a:bodyPr wrap="square" lIns="25400" tIns="25400" rIns="25400" bIns="25400" rtlCol="0" anchor="t">
            <a:normAutofit/>
          </a:bodyPr>
          <a:lstStyle/>
          <a:p>
            <a:pPr algn="l" indent="0" marL="0">
              <a:lnSpc>
                <a:spcPct val="100000"/>
              </a:lnSpc>
              <a:buNone/>
            </a:pPr>
            <a:r>
              <a:rPr lang="en-US" sz="4200" spc="-84" kern="0" dirty="0">
                <a:solidFill>
                  <a:srgbClr val="16140F"/>
                </a:solidFill>
                <a:latin typeface="Arial" pitchFamily="34" charset="0"/>
                <a:ea typeface="Arial" pitchFamily="34" charset="-122"/>
                <a:cs typeface="Arial" pitchFamily="34" charset="-120"/>
              </a:rPr>
              <a:t>Go</a:t>
            </a:r>
            <a:endParaRPr lang="en-US" sz="4200" dirty="0"/>
          </a:p>
        </p:txBody>
      </p:sp>
      <p:sp>
        <p:nvSpPr>
          <p:cNvPr id="8" name="Text 6"/>
          <p:cNvSpPr/>
          <p:nvPr/>
        </p:nvSpPr>
        <p:spPr>
          <a:xfrm>
            <a:off x="952500" y="4183380"/>
            <a:ext cx="3186531" cy="525780"/>
          </a:xfrm>
          <a:prstGeom prst="rect">
            <a:avLst/>
          </a:prstGeom>
          <a:noFill/>
          <a:ln/>
        </p:spPr>
        <p:txBody>
          <a:bodyPr wrap="square" lIns="25400" tIns="25400" rIns="25400" bIns="25400" rtlCol="0" anchor="t">
            <a:normAutofit/>
          </a:bodyPr>
          <a:lstStyle/>
          <a:p>
            <a:pPr algn="l" indent="0" marL="0">
              <a:buNone/>
            </a:pPr>
            <a:r>
              <a:rPr lang="en-US" sz="3300" dirty="0">
                <a:solidFill>
                  <a:srgbClr val="C2410C"/>
                </a:solidFill>
                <a:latin typeface="Arial" pitchFamily="34" charset="0"/>
                <a:ea typeface="Arial" pitchFamily="34" charset="-122"/>
                <a:cs typeface="Arial" pitchFamily="34" charset="-120"/>
              </a:rPr>
              <a:t>4.45</a:t>
            </a:r>
            <a:endParaRPr lang="en-US" sz="3300" dirty="0"/>
          </a:p>
        </p:txBody>
      </p:sp>
      <p:sp>
        <p:nvSpPr>
          <p:cNvPr id="9" name="Text 7"/>
          <p:cNvSpPr/>
          <p:nvPr/>
        </p:nvSpPr>
        <p:spPr>
          <a:xfrm>
            <a:off x="952500" y="4861560"/>
            <a:ext cx="3186531" cy="3710940"/>
          </a:xfrm>
          <a:prstGeom prst="rect">
            <a:avLst/>
          </a:prstGeom>
          <a:noFill/>
          <a:ln/>
        </p:spPr>
        <p:txBody>
          <a:bodyPr wrap="square" lIns="25400" tIns="25400" rIns="25400" bIns="25400" rtlCol="0" anchor="t">
            <a:normAutofit/>
          </a:bodyPr>
          <a:lstStyle/>
          <a:p>
            <a:pPr algn="l" indent="0" marL="0">
              <a:lnSpc>
                <a:spcPct val="135000"/>
              </a:lnSpc>
              <a:buNone/>
            </a:pPr>
            <a:r>
              <a:rPr lang="en-US" sz="2100" dirty="0">
                <a:solidFill>
                  <a:srgbClr val="16140F"/>
                </a:solidFill>
                <a:latin typeface="Arial" pitchFamily="34" charset="0"/>
                <a:ea typeface="Arial" pitchFamily="34" charset="-122"/>
                <a:cs typeface="Arial" pitchFamily="34" charset="-120"/>
              </a:rPr>
              <a:t>Default for backend services where deliberate minimalism is acceptable.</a:t>
            </a:r>
            <a:endParaRPr lang="en-US" sz="2100" dirty="0"/>
          </a:p>
        </p:txBody>
      </p:sp>
      <p:sp>
        <p:nvSpPr>
          <p:cNvPr id="10" name="Shape 8"/>
          <p:cNvSpPr/>
          <p:nvPr/>
        </p:nvSpPr>
        <p:spPr>
          <a:xfrm>
            <a:off x="952500" y="8724900"/>
            <a:ext cx="3093720" cy="9525"/>
          </a:xfrm>
          <a:prstGeom prst="rect">
            <a:avLst/>
          </a:prstGeom>
          <a:solidFill>
            <a:srgbClr val="CDC6B6"/>
          </a:solidFill>
          <a:ln/>
        </p:spPr>
      </p:sp>
      <p:sp>
        <p:nvSpPr>
          <p:cNvPr id="11" name="Text 9"/>
          <p:cNvSpPr/>
          <p:nvPr/>
        </p:nvSpPr>
        <p:spPr>
          <a:xfrm>
            <a:off x="952500" y="8884920"/>
            <a:ext cx="3186531" cy="678180"/>
          </a:xfrm>
          <a:prstGeom prst="rect">
            <a:avLst/>
          </a:prstGeom>
          <a:noFill/>
          <a:ln/>
        </p:spPr>
        <p:txBody>
          <a:bodyPr wrap="square" lIns="25400" tIns="25400" rIns="25400" bIns="25400" rtlCol="0" anchor="t">
            <a:normAutofit/>
          </a:bodyPr>
          <a:lstStyle/>
          <a:p>
            <a:pPr algn="l" indent="0" marL="0">
              <a:lnSpc>
                <a:spcPct val="140000"/>
              </a:lnSpc>
              <a:buNone/>
            </a:pPr>
            <a:r>
              <a:rPr lang="en-US" sz="1800" dirty="0">
                <a:solidFill>
                  <a:srgbClr val="C2410C"/>
                </a:solidFill>
                <a:latin typeface="Arial" pitchFamily="34" charset="0"/>
                <a:ea typeface="Arial" pitchFamily="34" charset="-122"/>
                <a:cs typeface="Arial" pitchFamily="34" charset="-120"/>
              </a:rPr>
              <a:t>risk: </a:t>
            </a:r>
            <a:pPr algn="l" indent="0" marL="0">
              <a:lnSpc>
                <a:spcPct val="140000"/>
              </a:lnSpc>
              <a:buNone/>
            </a:pPr>
            <a:r>
              <a:rPr lang="en-US" sz="1800" dirty="0">
                <a:solidFill>
                  <a:srgbClr val="6B6457"/>
                </a:solidFill>
                <a:latin typeface="Arial" pitchFamily="34" charset="0"/>
                <a:ea typeface="Arial" pitchFamily="34" charset="-122"/>
                <a:cs typeface="Arial" pitchFamily="34" charset="-120"/>
              </a:rPr>
              <a:t>Type-system minimalism is real.</a:t>
            </a:r>
            <a:endParaRPr lang="en-US" sz="1800" dirty="0"/>
          </a:p>
        </p:txBody>
      </p:sp>
      <p:sp>
        <p:nvSpPr>
          <p:cNvPr id="12" name="Shape 10"/>
          <p:cNvSpPr/>
          <p:nvPr/>
        </p:nvSpPr>
        <p:spPr>
          <a:xfrm>
            <a:off x="4274820" y="2842260"/>
            <a:ext cx="3093720" cy="15240"/>
          </a:xfrm>
          <a:prstGeom prst="rect">
            <a:avLst/>
          </a:prstGeom>
          <a:solidFill>
            <a:srgbClr val="16140F"/>
          </a:solidFill>
          <a:ln/>
        </p:spPr>
      </p:sp>
      <p:sp>
        <p:nvSpPr>
          <p:cNvPr id="13" name="Text 11"/>
          <p:cNvSpPr/>
          <p:nvPr/>
        </p:nvSpPr>
        <p:spPr>
          <a:xfrm>
            <a:off x="4274820" y="3086100"/>
            <a:ext cx="3186531" cy="297180"/>
          </a:xfrm>
          <a:prstGeom prst="rect">
            <a:avLst/>
          </a:prstGeom>
          <a:noFill/>
          <a:ln/>
        </p:spPr>
        <p:txBody>
          <a:bodyPr wrap="square" lIns="25400" tIns="25400" rIns="25400" bIns="25400" rtlCol="0" anchor="t">
            <a:normAutofit/>
          </a:bodyPr>
          <a:lstStyle/>
          <a:p>
            <a:pPr algn="l" indent="0" marL="0">
              <a:buNone/>
            </a:pPr>
            <a:r>
              <a:rPr lang="en-US" sz="1800" spc="144" kern="0" dirty="0">
                <a:solidFill>
                  <a:srgbClr val="6B6457"/>
                </a:solidFill>
                <a:latin typeface="Arial" pitchFamily="34" charset="0"/>
                <a:ea typeface="Arial" pitchFamily="34" charset="-122"/>
                <a:cs typeface="Arial" pitchFamily="34" charset="-120"/>
              </a:rPr>
              <a:t>02</a:t>
            </a:r>
            <a:endParaRPr lang="en-US" sz="1800" dirty="0"/>
          </a:p>
        </p:txBody>
      </p:sp>
      <p:sp>
        <p:nvSpPr>
          <p:cNvPr id="14" name="Text 12"/>
          <p:cNvSpPr/>
          <p:nvPr/>
        </p:nvSpPr>
        <p:spPr>
          <a:xfrm>
            <a:off x="4274820" y="3535680"/>
            <a:ext cx="3186531" cy="571500"/>
          </a:xfrm>
          <a:prstGeom prst="rect">
            <a:avLst/>
          </a:prstGeom>
          <a:noFill/>
          <a:ln/>
        </p:spPr>
        <p:txBody>
          <a:bodyPr wrap="square" lIns="25400" tIns="25400" rIns="25400" bIns="25400" rtlCol="0" anchor="t">
            <a:normAutofit/>
          </a:bodyPr>
          <a:lstStyle/>
          <a:p>
            <a:pPr algn="l" indent="0" marL="0">
              <a:lnSpc>
                <a:spcPct val="100000"/>
              </a:lnSpc>
              <a:buNone/>
            </a:pPr>
            <a:r>
              <a:rPr lang="en-US" sz="4200" spc="-84" kern="0" dirty="0">
                <a:solidFill>
                  <a:srgbClr val="16140F"/>
                </a:solidFill>
                <a:latin typeface="Arial" pitchFamily="34" charset="0"/>
                <a:ea typeface="Arial" pitchFamily="34" charset="-122"/>
                <a:cs typeface="Arial" pitchFamily="34" charset="-120"/>
              </a:rPr>
              <a:t>TypeScript</a:t>
            </a:r>
            <a:endParaRPr lang="en-US" sz="4200" dirty="0"/>
          </a:p>
        </p:txBody>
      </p:sp>
      <p:sp>
        <p:nvSpPr>
          <p:cNvPr id="15" name="Text 13"/>
          <p:cNvSpPr/>
          <p:nvPr/>
        </p:nvSpPr>
        <p:spPr>
          <a:xfrm>
            <a:off x="4274820" y="4183380"/>
            <a:ext cx="3186531" cy="525780"/>
          </a:xfrm>
          <a:prstGeom prst="rect">
            <a:avLst/>
          </a:prstGeom>
          <a:noFill/>
          <a:ln/>
        </p:spPr>
        <p:txBody>
          <a:bodyPr wrap="square" lIns="25400" tIns="25400" rIns="25400" bIns="25400" rtlCol="0" anchor="t">
            <a:normAutofit/>
          </a:bodyPr>
          <a:lstStyle/>
          <a:p>
            <a:pPr algn="l" indent="0" marL="0">
              <a:buNone/>
            </a:pPr>
            <a:r>
              <a:rPr lang="en-US" sz="3300" dirty="0">
                <a:solidFill>
                  <a:srgbClr val="C2410C"/>
                </a:solidFill>
                <a:latin typeface="Arial" pitchFamily="34" charset="0"/>
                <a:ea typeface="Arial" pitchFamily="34" charset="-122"/>
                <a:cs typeface="Arial" pitchFamily="34" charset="-120"/>
              </a:rPr>
              <a:t>4.25</a:t>
            </a:r>
            <a:endParaRPr lang="en-US" sz="3300" dirty="0"/>
          </a:p>
        </p:txBody>
      </p:sp>
      <p:sp>
        <p:nvSpPr>
          <p:cNvPr id="16" name="Text 14"/>
          <p:cNvSpPr/>
          <p:nvPr/>
        </p:nvSpPr>
        <p:spPr>
          <a:xfrm>
            <a:off x="4274820" y="4861560"/>
            <a:ext cx="3186531" cy="3710940"/>
          </a:xfrm>
          <a:prstGeom prst="rect">
            <a:avLst/>
          </a:prstGeom>
          <a:noFill/>
          <a:ln/>
        </p:spPr>
        <p:txBody>
          <a:bodyPr wrap="square" lIns="25400" tIns="25400" rIns="25400" bIns="25400" rtlCol="0" anchor="t">
            <a:normAutofit/>
          </a:bodyPr>
          <a:lstStyle/>
          <a:p>
            <a:pPr algn="l" indent="0" marL="0">
              <a:lnSpc>
                <a:spcPct val="135000"/>
              </a:lnSpc>
              <a:buNone/>
            </a:pPr>
            <a:r>
              <a:rPr lang="en-US" sz="2100" dirty="0">
                <a:solidFill>
                  <a:srgbClr val="16140F"/>
                </a:solidFill>
                <a:latin typeface="Arial" pitchFamily="34" charset="0"/>
                <a:ea typeface="Arial" pitchFamily="34" charset="-122"/>
                <a:cs typeface="Arial" pitchFamily="34" charset="-120"/>
              </a:rPr>
              <a:t>Default for application work in the JavaScript-shaped world.</a:t>
            </a:r>
            <a:endParaRPr lang="en-US" sz="2100" dirty="0"/>
          </a:p>
        </p:txBody>
      </p:sp>
      <p:sp>
        <p:nvSpPr>
          <p:cNvPr id="17" name="Shape 15"/>
          <p:cNvSpPr/>
          <p:nvPr/>
        </p:nvSpPr>
        <p:spPr>
          <a:xfrm>
            <a:off x="4274820" y="8724900"/>
            <a:ext cx="3093720" cy="9525"/>
          </a:xfrm>
          <a:prstGeom prst="rect">
            <a:avLst/>
          </a:prstGeom>
          <a:solidFill>
            <a:srgbClr val="CDC6B6"/>
          </a:solidFill>
          <a:ln/>
        </p:spPr>
      </p:sp>
      <p:sp>
        <p:nvSpPr>
          <p:cNvPr id="18" name="Text 16"/>
          <p:cNvSpPr/>
          <p:nvPr/>
        </p:nvSpPr>
        <p:spPr>
          <a:xfrm>
            <a:off x="4274820" y="8884920"/>
            <a:ext cx="3186531" cy="678180"/>
          </a:xfrm>
          <a:prstGeom prst="rect">
            <a:avLst/>
          </a:prstGeom>
          <a:noFill/>
          <a:ln/>
        </p:spPr>
        <p:txBody>
          <a:bodyPr wrap="square" lIns="25400" tIns="25400" rIns="25400" bIns="25400" rtlCol="0" anchor="t">
            <a:normAutofit/>
          </a:bodyPr>
          <a:lstStyle/>
          <a:p>
            <a:pPr algn="l" indent="0" marL="0">
              <a:lnSpc>
                <a:spcPct val="140000"/>
              </a:lnSpc>
              <a:buNone/>
            </a:pPr>
            <a:r>
              <a:rPr lang="en-US" sz="1800" dirty="0">
                <a:solidFill>
                  <a:srgbClr val="C2410C"/>
                </a:solidFill>
                <a:latin typeface="Arial" pitchFamily="34" charset="0"/>
                <a:ea typeface="Arial" pitchFamily="34" charset="-122"/>
                <a:cs typeface="Arial" pitchFamily="34" charset="-120"/>
              </a:rPr>
              <a:t>risk: </a:t>
            </a:r>
            <a:pPr algn="l" indent="0" marL="0">
              <a:lnSpc>
                <a:spcPct val="140000"/>
              </a:lnSpc>
              <a:buNone/>
            </a:pPr>
            <a:r>
              <a:rPr lang="en-US" sz="1800" dirty="0">
                <a:solidFill>
                  <a:srgbClr val="6B6457"/>
                </a:solidFill>
                <a:latin typeface="Arial" pitchFamily="34" charset="0"/>
                <a:ea typeface="Arial" pitchFamily="34" charset="-122"/>
                <a:cs typeface="Arial" pitchFamily="34" charset="-120"/>
              </a:rPr>
              <a:t>Type system is intentionally not sound.</a:t>
            </a:r>
            <a:endParaRPr lang="en-US" sz="1800" dirty="0"/>
          </a:p>
        </p:txBody>
      </p:sp>
      <p:sp>
        <p:nvSpPr>
          <p:cNvPr id="19" name="Shape 17"/>
          <p:cNvSpPr/>
          <p:nvPr/>
        </p:nvSpPr>
        <p:spPr>
          <a:xfrm>
            <a:off x="7597140" y="2842260"/>
            <a:ext cx="3093720" cy="15240"/>
          </a:xfrm>
          <a:prstGeom prst="rect">
            <a:avLst/>
          </a:prstGeom>
          <a:solidFill>
            <a:srgbClr val="16140F"/>
          </a:solidFill>
          <a:ln/>
        </p:spPr>
      </p:sp>
      <p:sp>
        <p:nvSpPr>
          <p:cNvPr id="20" name="Text 18"/>
          <p:cNvSpPr/>
          <p:nvPr/>
        </p:nvSpPr>
        <p:spPr>
          <a:xfrm>
            <a:off x="7597140" y="3086100"/>
            <a:ext cx="3186531" cy="297180"/>
          </a:xfrm>
          <a:prstGeom prst="rect">
            <a:avLst/>
          </a:prstGeom>
          <a:noFill/>
          <a:ln/>
        </p:spPr>
        <p:txBody>
          <a:bodyPr wrap="square" lIns="25400" tIns="25400" rIns="25400" bIns="25400" rtlCol="0" anchor="t">
            <a:normAutofit/>
          </a:bodyPr>
          <a:lstStyle/>
          <a:p>
            <a:pPr algn="l" indent="0" marL="0">
              <a:buNone/>
            </a:pPr>
            <a:r>
              <a:rPr lang="en-US" sz="1800" spc="144" kern="0" dirty="0">
                <a:solidFill>
                  <a:srgbClr val="6B6457"/>
                </a:solidFill>
                <a:latin typeface="Arial" pitchFamily="34" charset="0"/>
                <a:ea typeface="Arial" pitchFamily="34" charset="-122"/>
                <a:cs typeface="Arial" pitchFamily="34" charset="-120"/>
              </a:rPr>
              <a:t>03</a:t>
            </a:r>
            <a:endParaRPr lang="en-US" sz="1800" dirty="0"/>
          </a:p>
        </p:txBody>
      </p:sp>
      <p:sp>
        <p:nvSpPr>
          <p:cNvPr id="21" name="Text 19"/>
          <p:cNvSpPr/>
          <p:nvPr/>
        </p:nvSpPr>
        <p:spPr>
          <a:xfrm>
            <a:off x="7597140" y="3535680"/>
            <a:ext cx="3186531" cy="571500"/>
          </a:xfrm>
          <a:prstGeom prst="rect">
            <a:avLst/>
          </a:prstGeom>
          <a:noFill/>
          <a:ln/>
        </p:spPr>
        <p:txBody>
          <a:bodyPr wrap="square" lIns="25400" tIns="25400" rIns="25400" bIns="25400" rtlCol="0" anchor="t">
            <a:normAutofit/>
          </a:bodyPr>
          <a:lstStyle/>
          <a:p>
            <a:pPr algn="l" indent="0" marL="0">
              <a:lnSpc>
                <a:spcPct val="100000"/>
              </a:lnSpc>
              <a:buNone/>
            </a:pPr>
            <a:r>
              <a:rPr lang="en-US" sz="4200" spc="-84" kern="0" dirty="0">
                <a:solidFill>
                  <a:srgbClr val="16140F"/>
                </a:solidFill>
                <a:latin typeface="Arial" pitchFamily="34" charset="0"/>
                <a:ea typeface="Arial" pitchFamily="34" charset="-122"/>
                <a:cs typeface="Arial" pitchFamily="34" charset="-120"/>
              </a:rPr>
              <a:t>Rust</a:t>
            </a:r>
            <a:endParaRPr lang="en-US" sz="4200" dirty="0"/>
          </a:p>
        </p:txBody>
      </p:sp>
      <p:sp>
        <p:nvSpPr>
          <p:cNvPr id="22" name="Text 20"/>
          <p:cNvSpPr/>
          <p:nvPr/>
        </p:nvSpPr>
        <p:spPr>
          <a:xfrm>
            <a:off x="7597140" y="4183380"/>
            <a:ext cx="3186531" cy="525780"/>
          </a:xfrm>
          <a:prstGeom prst="rect">
            <a:avLst/>
          </a:prstGeom>
          <a:noFill/>
          <a:ln/>
        </p:spPr>
        <p:txBody>
          <a:bodyPr wrap="square" lIns="25400" tIns="25400" rIns="25400" bIns="25400" rtlCol="0" anchor="t">
            <a:normAutofit/>
          </a:bodyPr>
          <a:lstStyle/>
          <a:p>
            <a:pPr algn="l" indent="0" marL="0">
              <a:buNone/>
            </a:pPr>
            <a:r>
              <a:rPr lang="en-US" sz="3300" dirty="0">
                <a:solidFill>
                  <a:srgbClr val="C2410C"/>
                </a:solidFill>
                <a:latin typeface="Arial" pitchFamily="34" charset="0"/>
                <a:ea typeface="Arial" pitchFamily="34" charset="-122"/>
                <a:cs typeface="Arial" pitchFamily="34" charset="-120"/>
              </a:rPr>
              <a:t>4.15</a:t>
            </a:r>
            <a:endParaRPr lang="en-US" sz="3300" dirty="0"/>
          </a:p>
        </p:txBody>
      </p:sp>
      <p:sp>
        <p:nvSpPr>
          <p:cNvPr id="23" name="Text 21"/>
          <p:cNvSpPr/>
          <p:nvPr/>
        </p:nvSpPr>
        <p:spPr>
          <a:xfrm>
            <a:off x="7597140" y="4861560"/>
            <a:ext cx="3186531" cy="3710940"/>
          </a:xfrm>
          <a:prstGeom prst="rect">
            <a:avLst/>
          </a:prstGeom>
          <a:noFill/>
          <a:ln/>
        </p:spPr>
        <p:txBody>
          <a:bodyPr wrap="square" lIns="25400" tIns="25400" rIns="25400" bIns="25400" rtlCol="0" anchor="t">
            <a:normAutofit/>
          </a:bodyPr>
          <a:lstStyle/>
          <a:p>
            <a:pPr algn="l" indent="0" marL="0">
              <a:lnSpc>
                <a:spcPct val="135000"/>
              </a:lnSpc>
              <a:buNone/>
            </a:pPr>
            <a:r>
              <a:rPr lang="en-US" sz="2100" dirty="0">
                <a:solidFill>
                  <a:srgbClr val="16140F"/>
                </a:solidFill>
                <a:latin typeface="Arial" pitchFamily="34" charset="0"/>
                <a:ea typeface="Arial" pitchFamily="34" charset="-122"/>
                <a:cs typeface="Arial" pitchFamily="34" charset="-120"/>
              </a:rPr>
              <a:t>Default for systems, infrastructure, security-sensitive work.</a:t>
            </a:r>
            <a:endParaRPr lang="en-US" sz="2100" dirty="0"/>
          </a:p>
        </p:txBody>
      </p:sp>
      <p:sp>
        <p:nvSpPr>
          <p:cNvPr id="24" name="Shape 22"/>
          <p:cNvSpPr/>
          <p:nvPr/>
        </p:nvSpPr>
        <p:spPr>
          <a:xfrm>
            <a:off x="7597140" y="8724900"/>
            <a:ext cx="3093720" cy="9525"/>
          </a:xfrm>
          <a:prstGeom prst="rect">
            <a:avLst/>
          </a:prstGeom>
          <a:solidFill>
            <a:srgbClr val="CDC6B6"/>
          </a:solidFill>
          <a:ln/>
        </p:spPr>
      </p:sp>
      <p:sp>
        <p:nvSpPr>
          <p:cNvPr id="25" name="Text 23"/>
          <p:cNvSpPr/>
          <p:nvPr/>
        </p:nvSpPr>
        <p:spPr>
          <a:xfrm>
            <a:off x="7597140" y="8884920"/>
            <a:ext cx="3186531" cy="678180"/>
          </a:xfrm>
          <a:prstGeom prst="rect">
            <a:avLst/>
          </a:prstGeom>
          <a:noFill/>
          <a:ln/>
        </p:spPr>
        <p:txBody>
          <a:bodyPr wrap="square" lIns="25400" tIns="25400" rIns="25400" bIns="25400" rtlCol="0" anchor="t">
            <a:normAutofit/>
          </a:bodyPr>
          <a:lstStyle/>
          <a:p>
            <a:pPr algn="l" indent="0" marL="0">
              <a:lnSpc>
                <a:spcPct val="140000"/>
              </a:lnSpc>
              <a:buNone/>
            </a:pPr>
            <a:r>
              <a:rPr lang="en-US" sz="1800" dirty="0">
                <a:solidFill>
                  <a:srgbClr val="C2410C"/>
                </a:solidFill>
                <a:latin typeface="Arial" pitchFamily="34" charset="0"/>
                <a:ea typeface="Arial" pitchFamily="34" charset="-122"/>
                <a:cs typeface="Arial" pitchFamily="34" charset="-120"/>
              </a:rPr>
              <a:t>risk: </a:t>
            </a:r>
            <a:pPr algn="l" indent="0" marL="0">
              <a:lnSpc>
                <a:spcPct val="140000"/>
              </a:lnSpc>
              <a:buNone/>
            </a:pPr>
            <a:r>
              <a:rPr lang="en-US" sz="1800" dirty="0">
                <a:solidFill>
                  <a:srgbClr val="6B6457"/>
                </a:solidFill>
                <a:latin typeface="Arial" pitchFamily="34" charset="0"/>
                <a:ea typeface="Arial" pitchFamily="34" charset="-122"/>
                <a:cs typeface="Arial" pitchFamily="34" charset="-120"/>
              </a:rPr>
              <a:t>Learning curve and compile times.</a:t>
            </a:r>
            <a:endParaRPr lang="en-US" sz="1800" dirty="0"/>
          </a:p>
        </p:txBody>
      </p:sp>
      <p:sp>
        <p:nvSpPr>
          <p:cNvPr id="26" name="Shape 24"/>
          <p:cNvSpPr/>
          <p:nvPr/>
        </p:nvSpPr>
        <p:spPr>
          <a:xfrm>
            <a:off x="10919460" y="2842260"/>
            <a:ext cx="3093720" cy="15240"/>
          </a:xfrm>
          <a:prstGeom prst="rect">
            <a:avLst/>
          </a:prstGeom>
          <a:solidFill>
            <a:srgbClr val="16140F"/>
          </a:solidFill>
          <a:ln/>
        </p:spPr>
      </p:sp>
      <p:sp>
        <p:nvSpPr>
          <p:cNvPr id="27" name="Text 25"/>
          <p:cNvSpPr/>
          <p:nvPr/>
        </p:nvSpPr>
        <p:spPr>
          <a:xfrm>
            <a:off x="10919460" y="3086100"/>
            <a:ext cx="3186531" cy="297180"/>
          </a:xfrm>
          <a:prstGeom prst="rect">
            <a:avLst/>
          </a:prstGeom>
          <a:noFill/>
          <a:ln/>
        </p:spPr>
        <p:txBody>
          <a:bodyPr wrap="square" lIns="25400" tIns="25400" rIns="25400" bIns="25400" rtlCol="0" anchor="t">
            <a:normAutofit/>
          </a:bodyPr>
          <a:lstStyle/>
          <a:p>
            <a:pPr algn="l" indent="0" marL="0">
              <a:buNone/>
            </a:pPr>
            <a:r>
              <a:rPr lang="en-US" sz="1800" spc="144" kern="0" dirty="0">
                <a:solidFill>
                  <a:srgbClr val="6B6457"/>
                </a:solidFill>
                <a:latin typeface="Arial" pitchFamily="34" charset="0"/>
                <a:ea typeface="Arial" pitchFamily="34" charset="-122"/>
                <a:cs typeface="Arial" pitchFamily="34" charset="-120"/>
              </a:rPr>
              <a:t>04</a:t>
            </a:r>
            <a:endParaRPr lang="en-US" sz="1800" dirty="0"/>
          </a:p>
        </p:txBody>
      </p:sp>
      <p:sp>
        <p:nvSpPr>
          <p:cNvPr id="28" name="Text 26"/>
          <p:cNvSpPr/>
          <p:nvPr/>
        </p:nvSpPr>
        <p:spPr>
          <a:xfrm>
            <a:off x="10919460" y="3535680"/>
            <a:ext cx="3186531" cy="571500"/>
          </a:xfrm>
          <a:prstGeom prst="rect">
            <a:avLst/>
          </a:prstGeom>
          <a:noFill/>
          <a:ln/>
        </p:spPr>
        <p:txBody>
          <a:bodyPr wrap="square" lIns="25400" tIns="25400" rIns="25400" bIns="25400" rtlCol="0" anchor="t">
            <a:normAutofit/>
          </a:bodyPr>
          <a:lstStyle/>
          <a:p>
            <a:pPr algn="l" indent="0" marL="0">
              <a:lnSpc>
                <a:spcPct val="100000"/>
              </a:lnSpc>
              <a:buNone/>
            </a:pPr>
            <a:r>
              <a:rPr lang="en-US" sz="4200" spc="-84" kern="0" dirty="0">
                <a:solidFill>
                  <a:srgbClr val="16140F"/>
                </a:solidFill>
                <a:latin typeface="Arial" pitchFamily="34" charset="0"/>
                <a:ea typeface="Arial" pitchFamily="34" charset="-122"/>
                <a:cs typeface="Arial" pitchFamily="34" charset="-120"/>
              </a:rPr>
              <a:t>Kotlin</a:t>
            </a:r>
            <a:endParaRPr lang="en-US" sz="4200" dirty="0"/>
          </a:p>
        </p:txBody>
      </p:sp>
      <p:sp>
        <p:nvSpPr>
          <p:cNvPr id="29" name="Text 27"/>
          <p:cNvSpPr/>
          <p:nvPr/>
        </p:nvSpPr>
        <p:spPr>
          <a:xfrm>
            <a:off x="10919460" y="4183380"/>
            <a:ext cx="3186531" cy="525780"/>
          </a:xfrm>
          <a:prstGeom prst="rect">
            <a:avLst/>
          </a:prstGeom>
          <a:noFill/>
          <a:ln/>
        </p:spPr>
        <p:txBody>
          <a:bodyPr wrap="square" lIns="25400" tIns="25400" rIns="25400" bIns="25400" rtlCol="0" anchor="t">
            <a:normAutofit/>
          </a:bodyPr>
          <a:lstStyle/>
          <a:p>
            <a:pPr algn="l" indent="0" marL="0">
              <a:buNone/>
            </a:pPr>
            <a:r>
              <a:rPr lang="en-US" sz="3300" dirty="0">
                <a:solidFill>
                  <a:srgbClr val="C2410C"/>
                </a:solidFill>
                <a:latin typeface="Arial" pitchFamily="34" charset="0"/>
                <a:ea typeface="Arial" pitchFamily="34" charset="-122"/>
                <a:cs typeface="Arial" pitchFamily="34" charset="-120"/>
              </a:rPr>
              <a:t>4.00</a:t>
            </a:r>
            <a:endParaRPr lang="en-US" sz="3300" dirty="0"/>
          </a:p>
        </p:txBody>
      </p:sp>
      <p:sp>
        <p:nvSpPr>
          <p:cNvPr id="30" name="Text 28"/>
          <p:cNvSpPr/>
          <p:nvPr/>
        </p:nvSpPr>
        <p:spPr>
          <a:xfrm>
            <a:off x="10919460" y="4861560"/>
            <a:ext cx="3186531" cy="3710940"/>
          </a:xfrm>
          <a:prstGeom prst="rect">
            <a:avLst/>
          </a:prstGeom>
          <a:noFill/>
          <a:ln/>
        </p:spPr>
        <p:txBody>
          <a:bodyPr wrap="square" lIns="25400" tIns="25400" rIns="25400" bIns="25400" rtlCol="0" anchor="t">
            <a:normAutofit/>
          </a:bodyPr>
          <a:lstStyle/>
          <a:p>
            <a:pPr algn="l" indent="0" marL="0">
              <a:lnSpc>
                <a:spcPct val="135000"/>
              </a:lnSpc>
              <a:buNone/>
            </a:pPr>
            <a:r>
              <a:rPr lang="en-US" sz="2100" dirty="0">
                <a:solidFill>
                  <a:srgbClr val="16140F"/>
                </a:solidFill>
                <a:latin typeface="Arial" pitchFamily="34" charset="0"/>
                <a:ea typeface="Arial" pitchFamily="34" charset="-122"/>
                <a:cs typeface="Arial" pitchFamily="34" charset="-120"/>
              </a:rPr>
              <a:t>Default for JVM application work; increasingly cross-platform.</a:t>
            </a:r>
            <a:endParaRPr lang="en-US" sz="2100" dirty="0"/>
          </a:p>
        </p:txBody>
      </p:sp>
      <p:sp>
        <p:nvSpPr>
          <p:cNvPr id="31" name="Shape 29"/>
          <p:cNvSpPr/>
          <p:nvPr/>
        </p:nvSpPr>
        <p:spPr>
          <a:xfrm>
            <a:off x="10919460" y="8724900"/>
            <a:ext cx="3093720" cy="9525"/>
          </a:xfrm>
          <a:prstGeom prst="rect">
            <a:avLst/>
          </a:prstGeom>
          <a:solidFill>
            <a:srgbClr val="CDC6B6"/>
          </a:solidFill>
          <a:ln/>
        </p:spPr>
      </p:sp>
      <p:sp>
        <p:nvSpPr>
          <p:cNvPr id="32" name="Text 30"/>
          <p:cNvSpPr/>
          <p:nvPr/>
        </p:nvSpPr>
        <p:spPr>
          <a:xfrm>
            <a:off x="10919460" y="8884920"/>
            <a:ext cx="3186531" cy="678180"/>
          </a:xfrm>
          <a:prstGeom prst="rect">
            <a:avLst/>
          </a:prstGeom>
          <a:noFill/>
          <a:ln/>
        </p:spPr>
        <p:txBody>
          <a:bodyPr wrap="square" lIns="25400" tIns="25400" rIns="25400" bIns="25400" rtlCol="0" anchor="t">
            <a:normAutofit/>
          </a:bodyPr>
          <a:lstStyle/>
          <a:p>
            <a:pPr algn="l" indent="0" marL="0">
              <a:lnSpc>
                <a:spcPct val="140000"/>
              </a:lnSpc>
              <a:buNone/>
            </a:pPr>
            <a:r>
              <a:rPr lang="en-US" sz="1800" dirty="0">
                <a:solidFill>
                  <a:srgbClr val="C2410C"/>
                </a:solidFill>
                <a:latin typeface="Arial" pitchFamily="34" charset="0"/>
                <a:ea typeface="Arial" pitchFamily="34" charset="-122"/>
                <a:cs typeface="Arial" pitchFamily="34" charset="-120"/>
              </a:rPr>
              <a:t>risk: </a:t>
            </a:r>
            <a:pPr algn="l" indent="0" marL="0">
              <a:lnSpc>
                <a:spcPct val="140000"/>
              </a:lnSpc>
              <a:buNone/>
            </a:pPr>
            <a:r>
              <a:rPr lang="en-US" sz="1800" dirty="0">
                <a:solidFill>
                  <a:srgbClr val="6B6457"/>
                </a:solidFill>
                <a:latin typeface="Arial" pitchFamily="34" charset="0"/>
                <a:ea typeface="Arial" pitchFamily="34" charset="-122"/>
                <a:cs typeface="Arial" pitchFamily="34" charset="-120"/>
              </a:rPr>
              <a:t>JetBrains governance dependence.</a:t>
            </a:r>
            <a:endParaRPr lang="en-US" sz="1800" dirty="0"/>
          </a:p>
        </p:txBody>
      </p:sp>
      <p:sp>
        <p:nvSpPr>
          <p:cNvPr id="33" name="Shape 31"/>
          <p:cNvSpPr/>
          <p:nvPr/>
        </p:nvSpPr>
        <p:spPr>
          <a:xfrm>
            <a:off x="14241780" y="2842260"/>
            <a:ext cx="3093720" cy="15240"/>
          </a:xfrm>
          <a:prstGeom prst="rect">
            <a:avLst/>
          </a:prstGeom>
          <a:solidFill>
            <a:srgbClr val="16140F"/>
          </a:solidFill>
          <a:ln/>
        </p:spPr>
      </p:sp>
      <p:sp>
        <p:nvSpPr>
          <p:cNvPr id="34" name="Text 32"/>
          <p:cNvSpPr/>
          <p:nvPr/>
        </p:nvSpPr>
        <p:spPr>
          <a:xfrm>
            <a:off x="14241780" y="3086100"/>
            <a:ext cx="3186531" cy="297180"/>
          </a:xfrm>
          <a:prstGeom prst="rect">
            <a:avLst/>
          </a:prstGeom>
          <a:noFill/>
          <a:ln/>
        </p:spPr>
        <p:txBody>
          <a:bodyPr wrap="square" lIns="25400" tIns="25400" rIns="25400" bIns="25400" rtlCol="0" anchor="t">
            <a:normAutofit/>
          </a:bodyPr>
          <a:lstStyle/>
          <a:p>
            <a:pPr algn="l" indent="0" marL="0">
              <a:buNone/>
            </a:pPr>
            <a:r>
              <a:rPr lang="en-US" sz="1800" spc="144" kern="0" dirty="0">
                <a:solidFill>
                  <a:srgbClr val="6B6457"/>
                </a:solidFill>
                <a:latin typeface="Arial" pitchFamily="34" charset="0"/>
                <a:ea typeface="Arial" pitchFamily="34" charset="-122"/>
                <a:cs typeface="Arial" pitchFamily="34" charset="-120"/>
              </a:rPr>
              <a:t>05</a:t>
            </a:r>
            <a:endParaRPr lang="en-US" sz="1800" dirty="0"/>
          </a:p>
        </p:txBody>
      </p:sp>
      <p:sp>
        <p:nvSpPr>
          <p:cNvPr id="35" name="Text 33"/>
          <p:cNvSpPr/>
          <p:nvPr/>
        </p:nvSpPr>
        <p:spPr>
          <a:xfrm>
            <a:off x="14241780" y="3535680"/>
            <a:ext cx="3186531" cy="571500"/>
          </a:xfrm>
          <a:prstGeom prst="rect">
            <a:avLst/>
          </a:prstGeom>
          <a:noFill/>
          <a:ln/>
        </p:spPr>
        <p:txBody>
          <a:bodyPr wrap="square" lIns="25400" tIns="25400" rIns="25400" bIns="25400" rtlCol="0" anchor="t">
            <a:normAutofit/>
          </a:bodyPr>
          <a:lstStyle/>
          <a:p>
            <a:pPr algn="l" indent="0" marL="0">
              <a:lnSpc>
                <a:spcPct val="100000"/>
              </a:lnSpc>
              <a:buNone/>
            </a:pPr>
            <a:r>
              <a:rPr lang="en-US" sz="4200" spc="-84" kern="0" dirty="0">
                <a:solidFill>
                  <a:srgbClr val="16140F"/>
                </a:solidFill>
                <a:latin typeface="Arial" pitchFamily="34" charset="0"/>
                <a:ea typeface="Arial" pitchFamily="34" charset="-122"/>
                <a:cs typeface="Arial" pitchFamily="34" charset="-120"/>
              </a:rPr>
              <a:t>.NET / C#</a:t>
            </a:r>
            <a:endParaRPr lang="en-US" sz="4200" dirty="0"/>
          </a:p>
        </p:txBody>
      </p:sp>
      <p:sp>
        <p:nvSpPr>
          <p:cNvPr id="36" name="Text 34"/>
          <p:cNvSpPr/>
          <p:nvPr/>
        </p:nvSpPr>
        <p:spPr>
          <a:xfrm>
            <a:off x="14241780" y="4183380"/>
            <a:ext cx="3186531" cy="525780"/>
          </a:xfrm>
          <a:prstGeom prst="rect">
            <a:avLst/>
          </a:prstGeom>
          <a:noFill/>
          <a:ln/>
        </p:spPr>
        <p:txBody>
          <a:bodyPr wrap="square" lIns="25400" tIns="25400" rIns="25400" bIns="25400" rtlCol="0" anchor="t">
            <a:normAutofit/>
          </a:bodyPr>
          <a:lstStyle/>
          <a:p>
            <a:pPr algn="l" indent="0" marL="0">
              <a:buNone/>
            </a:pPr>
            <a:r>
              <a:rPr lang="en-US" sz="3300" dirty="0">
                <a:solidFill>
                  <a:srgbClr val="C2410C"/>
                </a:solidFill>
                <a:latin typeface="Arial" pitchFamily="34" charset="0"/>
                <a:ea typeface="Arial" pitchFamily="34" charset="-122"/>
                <a:cs typeface="Arial" pitchFamily="34" charset="-120"/>
              </a:rPr>
              <a:t>4.00</a:t>
            </a:r>
            <a:endParaRPr lang="en-US" sz="3300" dirty="0"/>
          </a:p>
        </p:txBody>
      </p:sp>
      <p:sp>
        <p:nvSpPr>
          <p:cNvPr id="37" name="Text 35"/>
          <p:cNvSpPr/>
          <p:nvPr/>
        </p:nvSpPr>
        <p:spPr>
          <a:xfrm>
            <a:off x="14241780" y="4861560"/>
            <a:ext cx="3186531" cy="3710940"/>
          </a:xfrm>
          <a:prstGeom prst="rect">
            <a:avLst/>
          </a:prstGeom>
          <a:noFill/>
          <a:ln/>
        </p:spPr>
        <p:txBody>
          <a:bodyPr wrap="square" lIns="25400" tIns="25400" rIns="25400" bIns="25400" rtlCol="0" anchor="t">
            <a:normAutofit/>
          </a:bodyPr>
          <a:lstStyle/>
          <a:p>
            <a:pPr algn="l" indent="0" marL="0">
              <a:lnSpc>
                <a:spcPct val="135000"/>
              </a:lnSpc>
              <a:buNone/>
            </a:pPr>
            <a:r>
              <a:rPr lang="en-US" sz="2100" dirty="0">
                <a:solidFill>
                  <a:srgbClr val="16140F"/>
                </a:solidFill>
                <a:latin typeface="Arial" pitchFamily="34" charset="0"/>
                <a:ea typeface="Arial" pitchFamily="34" charset="-122"/>
                <a:cs typeface="Arial" pitchFamily="34" charset="-120"/>
              </a:rPr>
              <a:t>Default for Microsoft-shop application and service work.</a:t>
            </a:r>
            <a:endParaRPr lang="en-US" sz="2100" dirty="0"/>
          </a:p>
        </p:txBody>
      </p:sp>
      <p:sp>
        <p:nvSpPr>
          <p:cNvPr id="38" name="Shape 36"/>
          <p:cNvSpPr/>
          <p:nvPr/>
        </p:nvSpPr>
        <p:spPr>
          <a:xfrm>
            <a:off x="14241780" y="8724900"/>
            <a:ext cx="3093720" cy="9525"/>
          </a:xfrm>
          <a:prstGeom prst="rect">
            <a:avLst/>
          </a:prstGeom>
          <a:solidFill>
            <a:srgbClr val="CDC6B6"/>
          </a:solidFill>
          <a:ln/>
        </p:spPr>
      </p:sp>
      <p:sp>
        <p:nvSpPr>
          <p:cNvPr id="39" name="Text 37"/>
          <p:cNvSpPr/>
          <p:nvPr/>
        </p:nvSpPr>
        <p:spPr>
          <a:xfrm>
            <a:off x="14241780" y="8884920"/>
            <a:ext cx="3186531" cy="678180"/>
          </a:xfrm>
          <a:prstGeom prst="rect">
            <a:avLst/>
          </a:prstGeom>
          <a:noFill/>
          <a:ln/>
        </p:spPr>
        <p:txBody>
          <a:bodyPr wrap="square" lIns="25400" tIns="25400" rIns="25400" bIns="25400" rtlCol="0" anchor="t">
            <a:normAutofit/>
          </a:bodyPr>
          <a:lstStyle/>
          <a:p>
            <a:pPr algn="l" indent="0" marL="0">
              <a:lnSpc>
                <a:spcPct val="140000"/>
              </a:lnSpc>
              <a:buNone/>
            </a:pPr>
            <a:r>
              <a:rPr lang="en-US" sz="1800" dirty="0">
                <a:solidFill>
                  <a:srgbClr val="C2410C"/>
                </a:solidFill>
                <a:latin typeface="Arial" pitchFamily="34" charset="0"/>
                <a:ea typeface="Arial" pitchFamily="34" charset="-122"/>
                <a:cs typeface="Arial" pitchFamily="34" charset="-120"/>
              </a:rPr>
              <a:t>risk: </a:t>
            </a:r>
            <a:pPr algn="l" indent="0" marL="0">
              <a:lnSpc>
                <a:spcPct val="140000"/>
              </a:lnSpc>
              <a:buNone/>
            </a:pPr>
            <a:r>
              <a:rPr lang="en-US" sz="1800" dirty="0">
                <a:solidFill>
                  <a:srgbClr val="6B6457"/>
                </a:solidFill>
                <a:latin typeface="Arial" pitchFamily="34" charset="0"/>
                <a:ea typeface="Arial" pitchFamily="34" charset="-122"/>
                <a:cs typeface="Arial" pitchFamily="34" charset="-120"/>
              </a:rPr>
              <a:t>NRT is opt-in · MSBuild ceremony.</a:t>
            </a:r>
            <a:endParaRPr lang="en-US" sz="1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3EFE6"/>
        </a:solidFill>
      </p:bgPr>
    </p:bg>
    <p:spTree>
      <p:nvGrpSpPr>
        <p:cNvPr id="1" name=""/>
        <p:cNvGrpSpPr/>
        <p:nvPr/>
      </p:nvGrpSpPr>
      <p:grpSpPr>
        <a:xfrm>
          <a:off x="0" y="0"/>
          <a:ext cx="0" cy="0"/>
          <a:chOff x="0" y="0"/>
          <a:chExt cx="0" cy="0"/>
        </a:xfrm>
      </p:grpSpPr>
      <p:sp>
        <p:nvSpPr>
          <p:cNvPr id="2" name="Text 0"/>
          <p:cNvSpPr/>
          <p:nvPr/>
        </p:nvSpPr>
        <p:spPr>
          <a:xfrm>
            <a:off x="952500" y="952500"/>
            <a:ext cx="1926749" cy="297180"/>
          </a:xfrm>
          <a:prstGeom prst="rect">
            <a:avLst/>
          </a:prstGeom>
          <a:noFill/>
          <a:ln/>
        </p:spPr>
        <p:txBody>
          <a:bodyPr wrap="square" lIns="25400" tIns="25400" rIns="25400" bIns="25400" rtlCol="0" anchor="t">
            <a:normAutofit/>
          </a:bodyPr>
          <a:lstStyle/>
          <a:p>
            <a:pPr algn="l" indent="0" marL="0">
              <a:buNone/>
            </a:pPr>
            <a:r>
              <a:rPr lang="en-US" sz="1800" spc="144" kern="0" dirty="0">
                <a:solidFill>
                  <a:srgbClr val="6B6457"/>
                </a:solidFill>
                <a:latin typeface="Arial" pitchFamily="34" charset="0"/>
                <a:ea typeface="Arial" pitchFamily="34" charset="-122"/>
                <a:cs typeface="Arial" pitchFamily="34" charset="-120"/>
              </a:rPr>
              <a:t>05 · VERDICTS</a:t>
            </a:r>
            <a:endParaRPr lang="en-US" sz="1800" dirty="0"/>
          </a:p>
        </p:txBody>
      </p:sp>
      <p:sp>
        <p:nvSpPr>
          <p:cNvPr id="3" name="Text 1"/>
          <p:cNvSpPr/>
          <p:nvPr/>
        </p:nvSpPr>
        <p:spPr>
          <a:xfrm>
            <a:off x="16525558" y="952500"/>
            <a:ext cx="886143" cy="297180"/>
          </a:xfrm>
          <a:prstGeom prst="rect">
            <a:avLst/>
          </a:prstGeom>
          <a:noFill/>
          <a:ln/>
        </p:spPr>
        <p:txBody>
          <a:bodyPr wrap="square" lIns="25400" tIns="25400" rIns="25400" bIns="25400" rtlCol="0" anchor="t">
            <a:normAutofit/>
          </a:bodyPr>
          <a:lstStyle/>
          <a:p>
            <a:pPr algn="l" indent="0" marL="0">
              <a:buNone/>
            </a:pPr>
            <a:r>
              <a:rPr lang="en-US" sz="1800" spc="144" kern="0" dirty="0">
                <a:solidFill>
                  <a:srgbClr val="6B6457"/>
                </a:solidFill>
                <a:latin typeface="Arial" pitchFamily="34" charset="0"/>
                <a:ea typeface="Arial" pitchFamily="34" charset="-122"/>
                <a:cs typeface="Arial" pitchFamily="34" charset="-120"/>
              </a:rPr>
              <a:t>11/14</a:t>
            </a:r>
            <a:endParaRPr lang="en-US" sz="1800" dirty="0"/>
          </a:p>
        </p:txBody>
      </p:sp>
      <p:sp>
        <p:nvSpPr>
          <p:cNvPr id="4" name="Text 2"/>
          <p:cNvSpPr/>
          <p:nvPr/>
        </p:nvSpPr>
        <p:spPr>
          <a:xfrm>
            <a:off x="952500" y="1706880"/>
            <a:ext cx="16874490" cy="678180"/>
          </a:xfrm>
          <a:prstGeom prst="rect">
            <a:avLst/>
          </a:prstGeom>
          <a:noFill/>
          <a:ln/>
        </p:spPr>
        <p:txBody>
          <a:bodyPr wrap="square" lIns="25400" tIns="25400" rIns="25400" bIns="25400" rtlCol="0" anchor="t">
            <a:normAutofit/>
          </a:bodyPr>
          <a:lstStyle/>
          <a:p>
            <a:pPr algn="l" indent="0" marL="0">
              <a:lnSpc>
                <a:spcPct val="105000"/>
              </a:lnSpc>
              <a:buNone/>
            </a:pPr>
            <a:r>
              <a:rPr lang="en-US" sz="4800" spc="-96" kern="0" dirty="0">
                <a:solidFill>
                  <a:srgbClr val="16140F"/>
                </a:solidFill>
                <a:latin typeface="Arial" pitchFamily="34" charset="0"/>
                <a:ea typeface="Arial" pitchFamily="34" charset="-122"/>
                <a:cs typeface="Arial" pitchFamily="34" charset="-120"/>
              </a:rPr>
              <a:t>Three of note.</a:t>
            </a:r>
            <a:endParaRPr lang="en-US" sz="4800" dirty="0"/>
          </a:p>
        </p:txBody>
      </p:sp>
      <p:sp>
        <p:nvSpPr>
          <p:cNvPr id="5" name="Shape 3"/>
          <p:cNvSpPr/>
          <p:nvPr/>
        </p:nvSpPr>
        <p:spPr>
          <a:xfrm>
            <a:off x="952500" y="2842260"/>
            <a:ext cx="16383000" cy="9525"/>
          </a:xfrm>
          <a:prstGeom prst="rect">
            <a:avLst/>
          </a:prstGeom>
          <a:solidFill>
            <a:srgbClr val="CDC6B6"/>
          </a:solidFill>
          <a:ln/>
        </p:spPr>
      </p:sp>
      <p:sp>
        <p:nvSpPr>
          <p:cNvPr id="6" name="Text 4"/>
          <p:cNvSpPr/>
          <p:nvPr/>
        </p:nvSpPr>
        <p:spPr>
          <a:xfrm>
            <a:off x="952500" y="3192780"/>
            <a:ext cx="2171700" cy="525780"/>
          </a:xfrm>
          <a:prstGeom prst="rect">
            <a:avLst/>
          </a:prstGeom>
          <a:noFill/>
          <a:ln/>
        </p:spPr>
        <p:txBody>
          <a:bodyPr wrap="square" lIns="25400" tIns="25400" rIns="25400" bIns="25400" rtlCol="0" anchor="t">
            <a:normAutofit/>
          </a:bodyPr>
          <a:lstStyle/>
          <a:p>
            <a:pPr algn="l" indent="0" marL="0">
              <a:buNone/>
            </a:pPr>
            <a:r>
              <a:rPr lang="en-US" sz="3300" dirty="0">
                <a:solidFill>
                  <a:srgbClr val="16140F"/>
                </a:solidFill>
                <a:latin typeface="Arial" pitchFamily="34" charset="0"/>
                <a:ea typeface="Arial" pitchFamily="34" charset="-122"/>
                <a:cs typeface="Arial" pitchFamily="34" charset="-120"/>
              </a:rPr>
              <a:t>Python</a:t>
            </a:r>
            <a:endParaRPr lang="en-US" sz="3300" dirty="0"/>
          </a:p>
        </p:txBody>
      </p:sp>
      <p:sp>
        <p:nvSpPr>
          <p:cNvPr id="7" name="Text 5"/>
          <p:cNvSpPr/>
          <p:nvPr/>
        </p:nvSpPr>
        <p:spPr>
          <a:xfrm>
            <a:off x="952500" y="3688080"/>
            <a:ext cx="706755" cy="396240"/>
          </a:xfrm>
          <a:prstGeom prst="rect">
            <a:avLst/>
          </a:prstGeom>
          <a:noFill/>
          <a:ln/>
        </p:spPr>
        <p:txBody>
          <a:bodyPr wrap="square" lIns="25400" tIns="25400" rIns="25400" bIns="25400" rtlCol="0" anchor="t">
            <a:normAutofit/>
          </a:bodyPr>
          <a:lstStyle/>
          <a:p>
            <a:pPr algn="l" indent="0" marL="0">
              <a:buNone/>
            </a:pPr>
            <a:r>
              <a:rPr lang="en-US" sz="2550" dirty="0">
                <a:solidFill>
                  <a:srgbClr val="C2410C"/>
                </a:solidFill>
                <a:latin typeface="Arial" pitchFamily="34" charset="0"/>
                <a:ea typeface="Arial" pitchFamily="34" charset="-122"/>
                <a:cs typeface="Arial" pitchFamily="34" charset="-120"/>
              </a:rPr>
              <a:t>3.95</a:t>
            </a:r>
            <a:endParaRPr lang="en-US" sz="2550" dirty="0"/>
          </a:p>
        </p:txBody>
      </p:sp>
      <p:sp>
        <p:nvSpPr>
          <p:cNvPr id="8" name="Text 6"/>
          <p:cNvSpPr/>
          <p:nvPr/>
        </p:nvSpPr>
        <p:spPr>
          <a:xfrm>
            <a:off x="3505200" y="3252311"/>
            <a:ext cx="3912690" cy="1349692"/>
          </a:xfrm>
          <a:prstGeom prst="rect">
            <a:avLst/>
          </a:prstGeom>
          <a:noFill/>
          <a:ln/>
        </p:spPr>
        <p:txBody>
          <a:bodyPr wrap="square" lIns="25400" tIns="25400" rIns="25400" bIns="25400" rtlCol="0" anchor="t">
            <a:normAutofit/>
          </a:bodyPr>
          <a:lstStyle/>
          <a:p>
            <a:pPr algn="l" indent="0" marL="0">
              <a:lnSpc>
                <a:spcPct val="135000"/>
              </a:lnSpc>
              <a:buNone/>
            </a:pPr>
            <a:r>
              <a:rPr lang="en-US" sz="2550" dirty="0">
                <a:solidFill>
                  <a:srgbClr val="16140F"/>
                </a:solidFill>
                <a:latin typeface="Arial" pitchFamily="34" charset="0"/>
                <a:ea typeface="Arial" pitchFamily="34" charset="-122"/>
                <a:cs typeface="Arial" pitchFamily="34" charset="-120"/>
              </a:rPr>
              <a:t>Default for data, AI/ML, scripting. Second-best for app work.</a:t>
            </a:r>
            <a:endParaRPr lang="en-US" sz="2550" dirty="0"/>
          </a:p>
        </p:txBody>
      </p:sp>
      <p:sp>
        <p:nvSpPr>
          <p:cNvPr id="9" name="Text 7"/>
          <p:cNvSpPr/>
          <p:nvPr/>
        </p:nvSpPr>
        <p:spPr>
          <a:xfrm>
            <a:off x="7761129" y="3286125"/>
            <a:ext cx="5477832" cy="838200"/>
          </a:xfrm>
          <a:prstGeom prst="rect">
            <a:avLst/>
          </a:prstGeom>
          <a:noFill/>
          <a:ln/>
        </p:spPr>
        <p:txBody>
          <a:bodyPr wrap="square" lIns="25400" tIns="25400" rIns="25400" bIns="25400" rtlCol="0" anchor="t">
            <a:normAutofit/>
          </a:bodyPr>
          <a:lstStyle/>
          <a:p>
            <a:pPr algn="l" indent="0" marL="0">
              <a:lnSpc>
                <a:spcPct val="150000"/>
              </a:lnSpc>
              <a:buNone/>
            </a:pPr>
            <a:r>
              <a:rPr lang="en-US" sz="2100" dirty="0">
                <a:solidFill>
                  <a:srgbClr val="6B6457"/>
                </a:solidFill>
                <a:latin typeface="Arial" pitchFamily="34" charset="0"/>
                <a:ea typeface="Arial" pitchFamily="34" charset="-122"/>
                <a:cs typeface="Arial" pitchFamily="34" charset="-120"/>
              </a:rPr>
              <a:t>ML velocity &amp; typing trajectory · vs · unenforced hints, runtime-only errors.</a:t>
            </a:r>
            <a:endParaRPr lang="en-US" sz="2100" dirty="0"/>
          </a:p>
        </p:txBody>
      </p:sp>
      <p:sp>
        <p:nvSpPr>
          <p:cNvPr id="10" name="Text 8"/>
          <p:cNvSpPr/>
          <p:nvPr/>
        </p:nvSpPr>
        <p:spPr>
          <a:xfrm>
            <a:off x="13536612" y="3306128"/>
            <a:ext cx="3912690" cy="758190"/>
          </a:xfrm>
          <a:prstGeom prst="rect">
            <a:avLst/>
          </a:prstGeom>
          <a:noFill/>
          <a:ln/>
        </p:spPr>
        <p:txBody>
          <a:bodyPr wrap="square" lIns="25400" tIns="25400" rIns="25400" bIns="25400" rtlCol="0" anchor="t">
            <a:normAutofit/>
          </a:bodyPr>
          <a:lstStyle/>
          <a:p>
            <a:pPr algn="l" indent="0" marL="0">
              <a:lnSpc>
                <a:spcPct val="135000"/>
              </a:lnSpc>
              <a:buNone/>
            </a:pPr>
            <a:r>
              <a:rPr lang="en-US" sz="2100" i="1" dirty="0">
                <a:solidFill>
                  <a:srgbClr val="C2410C"/>
                </a:solidFill>
                <a:latin typeface="Arial" pitchFamily="34" charset="0"/>
                <a:ea typeface="Arial" pitchFamily="34" charset="-122"/>
                <a:cs typeface="Arial" pitchFamily="34" charset="-120"/>
              </a:rPr>
              <a:t>Typed Python in CI is the only sustainable production posture.</a:t>
            </a:r>
            <a:endParaRPr lang="en-US" sz="2100" dirty="0"/>
          </a:p>
        </p:txBody>
      </p:sp>
      <p:sp>
        <p:nvSpPr>
          <p:cNvPr id="11" name="Shape 9"/>
          <p:cNvSpPr/>
          <p:nvPr/>
        </p:nvSpPr>
        <p:spPr>
          <a:xfrm>
            <a:off x="952500" y="5067300"/>
            <a:ext cx="16383000" cy="9525"/>
          </a:xfrm>
          <a:prstGeom prst="rect">
            <a:avLst/>
          </a:prstGeom>
          <a:solidFill>
            <a:srgbClr val="CDC6B6"/>
          </a:solidFill>
          <a:ln/>
        </p:spPr>
      </p:sp>
      <p:sp>
        <p:nvSpPr>
          <p:cNvPr id="12" name="Text 10"/>
          <p:cNvSpPr/>
          <p:nvPr/>
        </p:nvSpPr>
        <p:spPr>
          <a:xfrm>
            <a:off x="952500" y="5417820"/>
            <a:ext cx="2171700" cy="525780"/>
          </a:xfrm>
          <a:prstGeom prst="rect">
            <a:avLst/>
          </a:prstGeom>
          <a:noFill/>
          <a:ln/>
        </p:spPr>
        <p:txBody>
          <a:bodyPr wrap="square" lIns="25400" tIns="25400" rIns="25400" bIns="25400" rtlCol="0" anchor="t">
            <a:normAutofit/>
          </a:bodyPr>
          <a:lstStyle/>
          <a:p>
            <a:pPr algn="l" indent="0" marL="0">
              <a:buNone/>
            </a:pPr>
            <a:r>
              <a:rPr lang="en-US" sz="3300" dirty="0">
                <a:solidFill>
                  <a:srgbClr val="16140F"/>
                </a:solidFill>
                <a:latin typeface="Arial" pitchFamily="34" charset="0"/>
                <a:ea typeface="Arial" pitchFamily="34" charset="-122"/>
                <a:cs typeface="Arial" pitchFamily="34" charset="-120"/>
              </a:rPr>
              <a:t>Mojo</a:t>
            </a:r>
            <a:endParaRPr lang="en-US" sz="3300" dirty="0"/>
          </a:p>
        </p:txBody>
      </p:sp>
      <p:sp>
        <p:nvSpPr>
          <p:cNvPr id="13" name="Text 11"/>
          <p:cNvSpPr/>
          <p:nvPr/>
        </p:nvSpPr>
        <p:spPr>
          <a:xfrm>
            <a:off x="952500" y="5913120"/>
            <a:ext cx="706755" cy="396240"/>
          </a:xfrm>
          <a:prstGeom prst="rect">
            <a:avLst/>
          </a:prstGeom>
          <a:noFill/>
          <a:ln/>
        </p:spPr>
        <p:txBody>
          <a:bodyPr wrap="square" lIns="25400" tIns="25400" rIns="25400" bIns="25400" rtlCol="0" anchor="t">
            <a:normAutofit/>
          </a:bodyPr>
          <a:lstStyle/>
          <a:p>
            <a:pPr algn="l" indent="0" marL="0">
              <a:buNone/>
            </a:pPr>
            <a:r>
              <a:rPr lang="en-US" sz="2550" dirty="0">
                <a:solidFill>
                  <a:srgbClr val="C2410C"/>
                </a:solidFill>
                <a:latin typeface="Arial" pitchFamily="34" charset="0"/>
                <a:ea typeface="Arial" pitchFamily="34" charset="-122"/>
                <a:cs typeface="Arial" pitchFamily="34" charset="-120"/>
              </a:rPr>
              <a:t>2.65</a:t>
            </a:r>
            <a:endParaRPr lang="en-US" sz="2550" dirty="0"/>
          </a:p>
        </p:txBody>
      </p:sp>
      <p:sp>
        <p:nvSpPr>
          <p:cNvPr id="14" name="Text 12"/>
          <p:cNvSpPr/>
          <p:nvPr/>
        </p:nvSpPr>
        <p:spPr>
          <a:xfrm>
            <a:off x="3505200" y="5477351"/>
            <a:ext cx="3912690" cy="912495"/>
          </a:xfrm>
          <a:prstGeom prst="rect">
            <a:avLst/>
          </a:prstGeom>
          <a:noFill/>
          <a:ln/>
        </p:spPr>
        <p:txBody>
          <a:bodyPr wrap="square" lIns="25400" tIns="25400" rIns="25400" bIns="25400" rtlCol="0" anchor="t">
            <a:normAutofit/>
          </a:bodyPr>
          <a:lstStyle/>
          <a:p>
            <a:pPr algn="l" indent="0" marL="0">
              <a:lnSpc>
                <a:spcPct val="135000"/>
              </a:lnSpc>
              <a:buNone/>
            </a:pPr>
            <a:r>
              <a:rPr lang="en-US" sz="2550" dirty="0">
                <a:solidFill>
                  <a:srgbClr val="16140F"/>
                </a:solidFill>
                <a:latin typeface="Arial" pitchFamily="34" charset="0"/>
                <a:ea typeface="Arial" pitchFamily="34" charset="-122"/>
                <a:cs typeface="Arial" pitchFamily="34" charset="-120"/>
              </a:rPr>
              <a:t>A forward bet on AI-native compute kernels.</a:t>
            </a:r>
            <a:endParaRPr lang="en-US" sz="2550" dirty="0"/>
          </a:p>
        </p:txBody>
      </p:sp>
      <p:sp>
        <p:nvSpPr>
          <p:cNvPr id="15" name="Text 13"/>
          <p:cNvSpPr/>
          <p:nvPr/>
        </p:nvSpPr>
        <p:spPr>
          <a:xfrm>
            <a:off x="7761129" y="5511165"/>
            <a:ext cx="5477832" cy="838200"/>
          </a:xfrm>
          <a:prstGeom prst="rect">
            <a:avLst/>
          </a:prstGeom>
          <a:noFill/>
          <a:ln/>
        </p:spPr>
        <p:txBody>
          <a:bodyPr wrap="square" lIns="25400" tIns="25400" rIns="25400" bIns="25400" rtlCol="0" anchor="t">
            <a:normAutofit/>
          </a:bodyPr>
          <a:lstStyle/>
          <a:p>
            <a:pPr algn="l" indent="0" marL="0">
              <a:lnSpc>
                <a:spcPct val="150000"/>
              </a:lnSpc>
              <a:buNone/>
            </a:pPr>
            <a:r>
              <a:rPr lang="en-US" sz="2100" dirty="0">
                <a:solidFill>
                  <a:srgbClr val="6B6457"/>
                </a:solidFill>
                <a:latin typeface="Arial" pitchFamily="34" charset="0"/>
                <a:ea typeface="Arial" pitchFamily="34" charset="-122"/>
                <a:cs typeface="Arial" pitchFamily="34" charset="-120"/>
              </a:rPr>
              <a:t>MLIR + heterogeneous targets · vs · single-vendor governance, pre-1.0.</a:t>
            </a:r>
            <a:endParaRPr lang="en-US" sz="2100" dirty="0"/>
          </a:p>
        </p:txBody>
      </p:sp>
      <p:sp>
        <p:nvSpPr>
          <p:cNvPr id="16" name="Text 14"/>
          <p:cNvSpPr/>
          <p:nvPr/>
        </p:nvSpPr>
        <p:spPr>
          <a:xfrm>
            <a:off x="13536612" y="5531168"/>
            <a:ext cx="3912690" cy="758190"/>
          </a:xfrm>
          <a:prstGeom prst="rect">
            <a:avLst/>
          </a:prstGeom>
          <a:noFill/>
          <a:ln/>
        </p:spPr>
        <p:txBody>
          <a:bodyPr wrap="square" lIns="25400" tIns="25400" rIns="25400" bIns="25400" rtlCol="0" anchor="t">
            <a:normAutofit/>
          </a:bodyPr>
          <a:lstStyle/>
          <a:p>
            <a:pPr algn="l" indent="0" marL="0">
              <a:lnSpc>
                <a:spcPct val="135000"/>
              </a:lnSpc>
              <a:buNone/>
            </a:pPr>
            <a:r>
              <a:rPr lang="en-US" sz="2100" i="1" dirty="0">
                <a:solidFill>
                  <a:srgbClr val="C2410C"/>
                </a:solidFill>
                <a:latin typeface="Arial" pitchFamily="34" charset="0"/>
                <a:ea typeface="Arial" pitchFamily="34" charset="-122"/>
                <a:cs typeface="Arial" pitchFamily="34" charset="-120"/>
              </a:rPr>
              <a:t>Forward bet, not current default.</a:t>
            </a:r>
            <a:endParaRPr lang="en-US" sz="2100" dirty="0"/>
          </a:p>
        </p:txBody>
      </p:sp>
      <p:sp>
        <p:nvSpPr>
          <p:cNvPr id="17" name="Shape 15"/>
          <p:cNvSpPr/>
          <p:nvPr/>
        </p:nvSpPr>
        <p:spPr>
          <a:xfrm>
            <a:off x="952500" y="9517380"/>
            <a:ext cx="16383000" cy="9525"/>
          </a:xfrm>
          <a:prstGeom prst="rect">
            <a:avLst/>
          </a:prstGeom>
          <a:solidFill>
            <a:srgbClr val="CDC6B6"/>
          </a:solidFill>
          <a:ln/>
        </p:spPr>
      </p:sp>
      <p:sp>
        <p:nvSpPr>
          <p:cNvPr id="18" name="Shape 16"/>
          <p:cNvSpPr/>
          <p:nvPr/>
        </p:nvSpPr>
        <p:spPr>
          <a:xfrm>
            <a:off x="952500" y="6855143"/>
            <a:ext cx="16383000" cy="9525"/>
          </a:xfrm>
          <a:prstGeom prst="rect">
            <a:avLst/>
          </a:prstGeom>
          <a:solidFill>
            <a:srgbClr val="CDC6B6"/>
          </a:solidFill>
          <a:ln/>
        </p:spPr>
      </p:sp>
      <p:sp>
        <p:nvSpPr>
          <p:cNvPr id="19" name="Text 17"/>
          <p:cNvSpPr/>
          <p:nvPr/>
        </p:nvSpPr>
        <p:spPr>
          <a:xfrm>
            <a:off x="952500" y="7205663"/>
            <a:ext cx="2171700" cy="525780"/>
          </a:xfrm>
          <a:prstGeom prst="rect">
            <a:avLst/>
          </a:prstGeom>
          <a:noFill/>
          <a:ln/>
        </p:spPr>
        <p:txBody>
          <a:bodyPr wrap="square" lIns="25400" tIns="25400" rIns="25400" bIns="25400" rtlCol="0" anchor="t">
            <a:normAutofit/>
          </a:bodyPr>
          <a:lstStyle/>
          <a:p>
            <a:pPr algn="l" indent="0" marL="0">
              <a:buNone/>
            </a:pPr>
            <a:r>
              <a:rPr lang="en-US" sz="3300" dirty="0">
                <a:solidFill>
                  <a:srgbClr val="16140F"/>
                </a:solidFill>
                <a:latin typeface="Arial" pitchFamily="34" charset="0"/>
                <a:ea typeface="Arial" pitchFamily="34" charset="-122"/>
                <a:cs typeface="Arial" pitchFamily="34" charset="-120"/>
              </a:rPr>
              <a:t>C++</a:t>
            </a:r>
            <a:endParaRPr lang="en-US" sz="3300" dirty="0"/>
          </a:p>
        </p:txBody>
      </p:sp>
      <p:sp>
        <p:nvSpPr>
          <p:cNvPr id="20" name="Text 18"/>
          <p:cNvSpPr/>
          <p:nvPr/>
        </p:nvSpPr>
        <p:spPr>
          <a:xfrm>
            <a:off x="952500" y="7700963"/>
            <a:ext cx="706755" cy="396240"/>
          </a:xfrm>
          <a:prstGeom prst="rect">
            <a:avLst/>
          </a:prstGeom>
          <a:noFill/>
          <a:ln/>
        </p:spPr>
        <p:txBody>
          <a:bodyPr wrap="square" lIns="25400" tIns="25400" rIns="25400" bIns="25400" rtlCol="0" anchor="t">
            <a:normAutofit/>
          </a:bodyPr>
          <a:lstStyle/>
          <a:p>
            <a:pPr algn="l" indent="0" marL="0">
              <a:buNone/>
            </a:pPr>
            <a:r>
              <a:rPr lang="en-US" sz="2550" dirty="0">
                <a:solidFill>
                  <a:srgbClr val="C2410C"/>
                </a:solidFill>
                <a:latin typeface="Arial" pitchFamily="34" charset="0"/>
                <a:ea typeface="Arial" pitchFamily="34" charset="-122"/>
                <a:cs typeface="Arial" pitchFamily="34" charset="-120"/>
              </a:rPr>
              <a:t>2.65</a:t>
            </a:r>
            <a:endParaRPr lang="en-US" sz="2550" dirty="0"/>
          </a:p>
        </p:txBody>
      </p:sp>
      <p:sp>
        <p:nvSpPr>
          <p:cNvPr id="21" name="Text 19"/>
          <p:cNvSpPr/>
          <p:nvPr/>
        </p:nvSpPr>
        <p:spPr>
          <a:xfrm>
            <a:off x="3505200" y="7265194"/>
            <a:ext cx="3912690" cy="1786890"/>
          </a:xfrm>
          <a:prstGeom prst="rect">
            <a:avLst/>
          </a:prstGeom>
          <a:noFill/>
          <a:ln/>
        </p:spPr>
        <p:txBody>
          <a:bodyPr wrap="square" lIns="25400" tIns="25400" rIns="25400" bIns="25400" rtlCol="0" anchor="t">
            <a:normAutofit/>
          </a:bodyPr>
          <a:lstStyle/>
          <a:p>
            <a:pPr algn="l" indent="0" marL="0">
              <a:lnSpc>
                <a:spcPct val="135000"/>
              </a:lnSpc>
              <a:buNone/>
            </a:pPr>
            <a:r>
              <a:rPr lang="en-US" sz="2550" dirty="0">
                <a:solidFill>
                  <a:srgbClr val="16140F"/>
                </a:solidFill>
                <a:latin typeface="Arial" pitchFamily="34" charset="0"/>
                <a:ea typeface="Arial" pitchFamily="34" charset="-122"/>
                <a:cs typeface="Arial" pitchFamily="34" charset="-120"/>
              </a:rPr>
              <a:t>Default only for accelerator host code where the safety penalty is knowingly accepted.</a:t>
            </a:r>
            <a:endParaRPr lang="en-US" sz="2550" dirty="0"/>
          </a:p>
        </p:txBody>
      </p:sp>
      <p:sp>
        <p:nvSpPr>
          <p:cNvPr id="22" name="Text 20"/>
          <p:cNvSpPr/>
          <p:nvPr/>
        </p:nvSpPr>
        <p:spPr>
          <a:xfrm>
            <a:off x="7761129" y="7299007"/>
            <a:ext cx="5477832" cy="838200"/>
          </a:xfrm>
          <a:prstGeom prst="rect">
            <a:avLst/>
          </a:prstGeom>
          <a:noFill/>
          <a:ln/>
        </p:spPr>
        <p:txBody>
          <a:bodyPr wrap="square" lIns="25400" tIns="25400" rIns="25400" bIns="25400" rtlCol="0" anchor="t">
            <a:normAutofit/>
          </a:bodyPr>
          <a:lstStyle/>
          <a:p>
            <a:pPr algn="l" indent="0" marL="0">
              <a:lnSpc>
                <a:spcPct val="150000"/>
              </a:lnSpc>
              <a:buNone/>
            </a:pPr>
            <a:r>
              <a:rPr lang="en-US" sz="2100" dirty="0">
                <a:solidFill>
                  <a:srgbClr val="6B6457"/>
                </a:solidFill>
                <a:latin typeface="Arial" pitchFamily="34" charset="0"/>
                <a:ea typeface="Arial" pitchFamily="34" charset="-122"/>
                <a:cs typeface="Arial" pitchFamily="34" charset="-120"/>
              </a:rPr>
              <a:t>ISO standardization + modules/ranges · vs · safety pressure dominates.</a:t>
            </a:r>
            <a:endParaRPr lang="en-US" sz="2100" dirty="0"/>
          </a:p>
        </p:txBody>
      </p:sp>
      <p:sp>
        <p:nvSpPr>
          <p:cNvPr id="23" name="Text 21"/>
          <p:cNvSpPr/>
          <p:nvPr/>
        </p:nvSpPr>
        <p:spPr>
          <a:xfrm>
            <a:off x="13536612" y="7319010"/>
            <a:ext cx="3912690" cy="398145"/>
          </a:xfrm>
          <a:prstGeom prst="rect">
            <a:avLst/>
          </a:prstGeom>
          <a:noFill/>
          <a:ln/>
        </p:spPr>
        <p:txBody>
          <a:bodyPr wrap="square" lIns="25400" tIns="25400" rIns="25400" bIns="25400" rtlCol="0" anchor="t">
            <a:normAutofit/>
          </a:bodyPr>
          <a:lstStyle/>
          <a:p>
            <a:pPr algn="l" indent="0" marL="0">
              <a:lnSpc>
                <a:spcPct val="135000"/>
              </a:lnSpc>
              <a:buNone/>
            </a:pPr>
            <a:r>
              <a:rPr lang="en-US" sz="2100" i="1" dirty="0">
                <a:solidFill>
                  <a:srgbClr val="C2410C"/>
                </a:solidFill>
                <a:latin typeface="Arial" pitchFamily="34" charset="0"/>
                <a:ea typeface="Arial" pitchFamily="34" charset="-122"/>
                <a:cs typeface="Arial" pitchFamily="34" charset="-120"/>
              </a:rPr>
              <a:t>New projects are pushed away.</a:t>
            </a:r>
            <a:endParaRPr lang="en-US" sz="2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3EFE6"/>
        </a:solidFill>
      </p:bgPr>
    </p:bg>
    <p:spTree>
      <p:nvGrpSpPr>
        <p:cNvPr id="1" name=""/>
        <p:cNvGrpSpPr/>
        <p:nvPr/>
      </p:nvGrpSpPr>
      <p:grpSpPr>
        <a:xfrm>
          <a:off x="0" y="0"/>
          <a:ext cx="0" cy="0"/>
          <a:chOff x="0" y="0"/>
          <a:chExt cx="0" cy="0"/>
        </a:xfrm>
      </p:grpSpPr>
      <p:sp>
        <p:nvSpPr>
          <p:cNvPr id="2" name="Text 0"/>
          <p:cNvSpPr/>
          <p:nvPr/>
        </p:nvSpPr>
        <p:spPr>
          <a:xfrm>
            <a:off x="952500" y="666750"/>
            <a:ext cx="3276137" cy="297180"/>
          </a:xfrm>
          <a:prstGeom prst="rect">
            <a:avLst/>
          </a:prstGeom>
          <a:noFill/>
          <a:ln/>
        </p:spPr>
        <p:txBody>
          <a:bodyPr wrap="square" lIns="25400" tIns="25400" rIns="25400" bIns="25400" rtlCol="0" anchor="t">
            <a:normAutofit/>
          </a:bodyPr>
          <a:lstStyle/>
          <a:p>
            <a:pPr algn="l" indent="0" marL="0">
              <a:buNone/>
            </a:pPr>
            <a:r>
              <a:rPr lang="en-US" sz="1800" spc="144" kern="0" dirty="0">
                <a:solidFill>
                  <a:srgbClr val="6B6457"/>
                </a:solidFill>
                <a:latin typeface="Arial" pitchFamily="34" charset="0"/>
                <a:ea typeface="Arial" pitchFamily="34" charset="-122"/>
                <a:cs typeface="Arial" pitchFamily="34" charset="-120"/>
              </a:rPr>
              <a:t>06 · RECOMMENDATIONS</a:t>
            </a:r>
            <a:endParaRPr lang="en-US" sz="1800" dirty="0"/>
          </a:p>
        </p:txBody>
      </p:sp>
      <p:sp>
        <p:nvSpPr>
          <p:cNvPr id="3" name="Text 1"/>
          <p:cNvSpPr/>
          <p:nvPr/>
        </p:nvSpPr>
        <p:spPr>
          <a:xfrm>
            <a:off x="16508571" y="666750"/>
            <a:ext cx="903129" cy="297180"/>
          </a:xfrm>
          <a:prstGeom prst="rect">
            <a:avLst/>
          </a:prstGeom>
          <a:noFill/>
          <a:ln/>
        </p:spPr>
        <p:txBody>
          <a:bodyPr wrap="square" lIns="25400" tIns="25400" rIns="25400" bIns="25400" rtlCol="0" anchor="t">
            <a:normAutofit/>
          </a:bodyPr>
          <a:lstStyle/>
          <a:p>
            <a:pPr algn="l" indent="0" marL="0">
              <a:buNone/>
            </a:pPr>
            <a:r>
              <a:rPr lang="en-US" sz="1800" spc="144" kern="0" dirty="0">
                <a:solidFill>
                  <a:srgbClr val="6B6457"/>
                </a:solidFill>
                <a:latin typeface="Arial" pitchFamily="34" charset="0"/>
                <a:ea typeface="Arial" pitchFamily="34" charset="-122"/>
                <a:cs typeface="Arial" pitchFamily="34" charset="-120"/>
              </a:rPr>
              <a:t>12/14</a:t>
            </a:r>
            <a:endParaRPr lang="en-US" sz="1800" dirty="0"/>
          </a:p>
        </p:txBody>
      </p:sp>
      <p:sp>
        <p:nvSpPr>
          <p:cNvPr id="4" name="Text 2"/>
          <p:cNvSpPr/>
          <p:nvPr/>
        </p:nvSpPr>
        <p:spPr>
          <a:xfrm>
            <a:off x="952500" y="1421130"/>
            <a:ext cx="16874490" cy="678180"/>
          </a:xfrm>
          <a:prstGeom prst="rect">
            <a:avLst/>
          </a:prstGeom>
          <a:noFill/>
          <a:ln/>
        </p:spPr>
        <p:txBody>
          <a:bodyPr wrap="square" lIns="25400" tIns="25400" rIns="25400" bIns="25400" rtlCol="0" anchor="t">
            <a:normAutofit/>
          </a:bodyPr>
          <a:lstStyle/>
          <a:p>
            <a:pPr algn="l" indent="0" marL="0">
              <a:lnSpc>
                <a:spcPct val="105000"/>
              </a:lnSpc>
              <a:buNone/>
            </a:pPr>
            <a:r>
              <a:rPr lang="en-US" sz="4800" spc="-96" kern="0" dirty="0">
                <a:solidFill>
                  <a:srgbClr val="16140F"/>
                </a:solidFill>
                <a:latin typeface="Arial" pitchFamily="34" charset="0"/>
                <a:ea typeface="Arial" pitchFamily="34" charset="-122"/>
                <a:cs typeface="Arial" pitchFamily="34" charset="-120"/>
              </a:rPr>
              <a:t>By domain.</a:t>
            </a:r>
            <a:endParaRPr lang="en-US" sz="4800" dirty="0"/>
          </a:p>
        </p:txBody>
      </p:sp>
      <p:sp>
        <p:nvSpPr>
          <p:cNvPr id="5" name="Shape 3"/>
          <p:cNvSpPr/>
          <p:nvPr/>
        </p:nvSpPr>
        <p:spPr>
          <a:xfrm>
            <a:off x="952500" y="2853690"/>
            <a:ext cx="16383000" cy="15240"/>
          </a:xfrm>
          <a:prstGeom prst="rect">
            <a:avLst/>
          </a:prstGeom>
          <a:solidFill>
            <a:srgbClr val="16140F"/>
          </a:solidFill>
          <a:ln/>
        </p:spPr>
      </p:sp>
      <p:sp>
        <p:nvSpPr>
          <p:cNvPr id="6" name="Text 4"/>
          <p:cNvSpPr/>
          <p:nvPr/>
        </p:nvSpPr>
        <p:spPr>
          <a:xfrm>
            <a:off x="952500" y="2461260"/>
            <a:ext cx="6136134" cy="297180"/>
          </a:xfrm>
          <a:prstGeom prst="rect">
            <a:avLst/>
          </a:prstGeom>
          <a:noFill/>
          <a:ln/>
        </p:spPr>
        <p:txBody>
          <a:bodyPr wrap="square" lIns="25400" tIns="25400" rIns="25400" bIns="25400" rtlCol="0" anchor="t">
            <a:normAutofit/>
          </a:bodyPr>
          <a:lstStyle/>
          <a:p>
            <a:pPr algn="l" indent="0" marL="0">
              <a:buNone/>
            </a:pPr>
            <a:r>
              <a:rPr lang="en-US" sz="1800" spc="144" kern="0" dirty="0">
                <a:solidFill>
                  <a:srgbClr val="6B6457"/>
                </a:solidFill>
                <a:latin typeface="Arial" pitchFamily="34" charset="0"/>
                <a:ea typeface="Arial" pitchFamily="34" charset="-122"/>
                <a:cs typeface="Arial" pitchFamily="34" charset="-120"/>
              </a:rPr>
              <a:t>DOMAIN</a:t>
            </a:r>
            <a:endParaRPr lang="en-US" sz="1800" dirty="0"/>
          </a:p>
        </p:txBody>
      </p:sp>
      <p:sp>
        <p:nvSpPr>
          <p:cNvPr id="7" name="Text 5"/>
          <p:cNvSpPr/>
          <p:nvPr/>
        </p:nvSpPr>
        <p:spPr>
          <a:xfrm>
            <a:off x="6909911" y="2461260"/>
            <a:ext cx="4602059" cy="297180"/>
          </a:xfrm>
          <a:prstGeom prst="rect">
            <a:avLst/>
          </a:prstGeom>
          <a:noFill/>
          <a:ln/>
        </p:spPr>
        <p:txBody>
          <a:bodyPr wrap="square" lIns="25400" tIns="25400" rIns="25400" bIns="25400" rtlCol="0" anchor="t">
            <a:normAutofit/>
          </a:bodyPr>
          <a:lstStyle/>
          <a:p>
            <a:pPr algn="l" indent="0" marL="0">
              <a:buNone/>
            </a:pPr>
            <a:r>
              <a:rPr lang="en-US" sz="1800" spc="144" kern="0" dirty="0">
                <a:solidFill>
                  <a:srgbClr val="6B6457"/>
                </a:solidFill>
                <a:latin typeface="Arial" pitchFamily="34" charset="0"/>
                <a:ea typeface="Arial" pitchFamily="34" charset="-122"/>
                <a:cs typeface="Arial" pitchFamily="34" charset="-120"/>
              </a:rPr>
              <a:t>PRIMARY</a:t>
            </a:r>
            <a:endParaRPr lang="en-US" sz="1800" dirty="0"/>
          </a:p>
        </p:txBody>
      </p:sp>
      <p:sp>
        <p:nvSpPr>
          <p:cNvPr id="8" name="Text 6"/>
          <p:cNvSpPr/>
          <p:nvPr/>
        </p:nvSpPr>
        <p:spPr>
          <a:xfrm>
            <a:off x="11377930" y="2461260"/>
            <a:ext cx="6136134" cy="297180"/>
          </a:xfrm>
          <a:prstGeom prst="rect">
            <a:avLst/>
          </a:prstGeom>
          <a:noFill/>
          <a:ln/>
        </p:spPr>
        <p:txBody>
          <a:bodyPr wrap="square" lIns="25400" tIns="25400" rIns="25400" bIns="25400" rtlCol="0" anchor="t">
            <a:normAutofit/>
          </a:bodyPr>
          <a:lstStyle/>
          <a:p>
            <a:pPr algn="l" indent="0" marL="0">
              <a:buNone/>
            </a:pPr>
            <a:r>
              <a:rPr lang="en-US" sz="1800" spc="144" kern="0" dirty="0">
                <a:solidFill>
                  <a:srgbClr val="6B6457"/>
                </a:solidFill>
                <a:latin typeface="Arial" pitchFamily="34" charset="0"/>
                <a:ea typeface="Arial" pitchFamily="34" charset="-122"/>
                <a:cs typeface="Arial" pitchFamily="34" charset="-120"/>
              </a:rPr>
              <a:t>ALTERNATIVES</a:t>
            </a:r>
            <a:endParaRPr lang="en-US" sz="1800" dirty="0"/>
          </a:p>
        </p:txBody>
      </p:sp>
      <p:sp>
        <p:nvSpPr>
          <p:cNvPr id="9" name="Shape 7"/>
          <p:cNvSpPr/>
          <p:nvPr/>
        </p:nvSpPr>
        <p:spPr>
          <a:xfrm>
            <a:off x="952500" y="3562350"/>
            <a:ext cx="16383000" cy="9525"/>
          </a:xfrm>
          <a:prstGeom prst="rect">
            <a:avLst/>
          </a:prstGeom>
          <a:solidFill>
            <a:srgbClr val="CDC6B6"/>
          </a:solidFill>
          <a:ln/>
        </p:spPr>
      </p:sp>
      <p:sp>
        <p:nvSpPr>
          <p:cNvPr id="10" name="Text 8"/>
          <p:cNvSpPr/>
          <p:nvPr/>
        </p:nvSpPr>
        <p:spPr>
          <a:xfrm>
            <a:off x="952500" y="3032760"/>
            <a:ext cx="6136134" cy="411480"/>
          </a:xfrm>
          <a:prstGeom prst="rect">
            <a:avLst/>
          </a:prstGeom>
          <a:noFill/>
          <a:ln/>
        </p:spPr>
        <p:txBody>
          <a:bodyPr wrap="square" lIns="25400" tIns="25400" rIns="25400" bIns="25400" rtlCol="0" anchor="t">
            <a:normAutofit/>
          </a:bodyPr>
          <a:lstStyle/>
          <a:p>
            <a:pPr algn="l" indent="0" marL="0">
              <a:buNone/>
            </a:pPr>
            <a:r>
              <a:rPr lang="en-US" sz="2550" dirty="0">
                <a:solidFill>
                  <a:srgbClr val="16140F"/>
                </a:solidFill>
                <a:latin typeface="Arial" pitchFamily="34" charset="0"/>
                <a:ea typeface="Arial" pitchFamily="34" charset="-122"/>
                <a:cs typeface="Arial" pitchFamily="34" charset="-120"/>
              </a:rPr>
              <a:t>Greenfield application work</a:t>
            </a:r>
            <a:endParaRPr lang="en-US" sz="2550" dirty="0"/>
          </a:p>
        </p:txBody>
      </p:sp>
      <p:sp>
        <p:nvSpPr>
          <p:cNvPr id="11" name="Text 9"/>
          <p:cNvSpPr/>
          <p:nvPr/>
        </p:nvSpPr>
        <p:spPr>
          <a:xfrm>
            <a:off x="6909911" y="3002280"/>
            <a:ext cx="4602059" cy="464820"/>
          </a:xfrm>
          <a:prstGeom prst="rect">
            <a:avLst/>
          </a:prstGeom>
          <a:noFill/>
          <a:ln/>
        </p:spPr>
        <p:txBody>
          <a:bodyPr wrap="square" lIns="25400" tIns="25400" rIns="25400" bIns="25400" rtlCol="0" anchor="t">
            <a:normAutofit/>
          </a:bodyPr>
          <a:lstStyle/>
          <a:p>
            <a:pPr algn="l" indent="0" marL="0">
              <a:buNone/>
            </a:pPr>
            <a:r>
              <a:rPr lang="en-US" sz="2550" b="1" dirty="0">
                <a:solidFill>
                  <a:srgbClr val="C2410C"/>
                </a:solidFill>
                <a:latin typeface="Arial" pitchFamily="34" charset="0"/>
                <a:ea typeface="Arial" pitchFamily="34" charset="-122"/>
                <a:cs typeface="Arial" pitchFamily="34" charset="-120"/>
              </a:rPr>
              <a:t>TypeScript</a:t>
            </a:r>
            <a:endParaRPr lang="en-US" sz="2550" dirty="0"/>
          </a:p>
        </p:txBody>
      </p:sp>
      <p:sp>
        <p:nvSpPr>
          <p:cNvPr id="12" name="Text 10"/>
          <p:cNvSpPr/>
          <p:nvPr/>
        </p:nvSpPr>
        <p:spPr>
          <a:xfrm>
            <a:off x="11377930" y="3078480"/>
            <a:ext cx="6136134" cy="350520"/>
          </a:xfrm>
          <a:prstGeom prst="rect">
            <a:avLst/>
          </a:prstGeom>
          <a:noFill/>
          <a:ln/>
        </p:spPr>
        <p:txBody>
          <a:bodyPr wrap="square" lIns="25400" tIns="25400" rIns="25400" bIns="25400" rtlCol="0" anchor="t">
            <a:normAutofit/>
          </a:bodyPr>
          <a:lstStyle/>
          <a:p>
            <a:pPr algn="l" indent="0" marL="0">
              <a:buNone/>
            </a:pPr>
            <a:r>
              <a:rPr lang="en-US" sz="2100" dirty="0">
                <a:solidFill>
                  <a:srgbClr val="6B6457"/>
                </a:solidFill>
                <a:latin typeface="Arial" pitchFamily="34" charset="0"/>
                <a:ea typeface="Arial" pitchFamily="34" charset="-122"/>
                <a:cs typeface="Arial" pitchFamily="34" charset="-120"/>
              </a:rPr>
              <a:t>Kotlin · .NET (C#)</a:t>
            </a:r>
            <a:endParaRPr lang="en-US" sz="2100" dirty="0"/>
          </a:p>
        </p:txBody>
      </p:sp>
      <p:sp>
        <p:nvSpPr>
          <p:cNvPr id="13" name="Shape 11"/>
          <p:cNvSpPr/>
          <p:nvPr/>
        </p:nvSpPr>
        <p:spPr>
          <a:xfrm>
            <a:off x="952500" y="4263390"/>
            <a:ext cx="16383000" cy="9525"/>
          </a:xfrm>
          <a:prstGeom prst="rect">
            <a:avLst/>
          </a:prstGeom>
          <a:solidFill>
            <a:srgbClr val="CDC6B6"/>
          </a:solidFill>
          <a:ln/>
        </p:spPr>
      </p:sp>
      <p:sp>
        <p:nvSpPr>
          <p:cNvPr id="14" name="Text 12"/>
          <p:cNvSpPr/>
          <p:nvPr/>
        </p:nvSpPr>
        <p:spPr>
          <a:xfrm>
            <a:off x="952500" y="3733800"/>
            <a:ext cx="6136134" cy="411480"/>
          </a:xfrm>
          <a:prstGeom prst="rect">
            <a:avLst/>
          </a:prstGeom>
          <a:noFill/>
          <a:ln/>
        </p:spPr>
        <p:txBody>
          <a:bodyPr wrap="square" lIns="25400" tIns="25400" rIns="25400" bIns="25400" rtlCol="0" anchor="t">
            <a:normAutofit/>
          </a:bodyPr>
          <a:lstStyle/>
          <a:p>
            <a:pPr algn="l" indent="0" marL="0">
              <a:buNone/>
            </a:pPr>
            <a:r>
              <a:rPr lang="en-US" sz="2550" dirty="0">
                <a:solidFill>
                  <a:srgbClr val="16140F"/>
                </a:solidFill>
                <a:latin typeface="Arial" pitchFamily="34" charset="0"/>
                <a:ea typeface="Arial" pitchFamily="34" charset="-122"/>
                <a:cs typeface="Arial" pitchFamily="34" charset="-120"/>
              </a:rPr>
              <a:t>Systems / infrastructure / security</a:t>
            </a:r>
            <a:endParaRPr lang="en-US" sz="2550" dirty="0"/>
          </a:p>
        </p:txBody>
      </p:sp>
      <p:sp>
        <p:nvSpPr>
          <p:cNvPr id="15" name="Text 13"/>
          <p:cNvSpPr/>
          <p:nvPr/>
        </p:nvSpPr>
        <p:spPr>
          <a:xfrm>
            <a:off x="6909911" y="3703320"/>
            <a:ext cx="4602059" cy="464820"/>
          </a:xfrm>
          <a:prstGeom prst="rect">
            <a:avLst/>
          </a:prstGeom>
          <a:noFill/>
          <a:ln/>
        </p:spPr>
        <p:txBody>
          <a:bodyPr wrap="square" lIns="25400" tIns="25400" rIns="25400" bIns="25400" rtlCol="0" anchor="t">
            <a:normAutofit/>
          </a:bodyPr>
          <a:lstStyle/>
          <a:p>
            <a:pPr algn="l" indent="0" marL="0">
              <a:buNone/>
            </a:pPr>
            <a:r>
              <a:rPr lang="en-US" sz="2550" b="1" dirty="0">
                <a:solidFill>
                  <a:srgbClr val="C2410C"/>
                </a:solidFill>
                <a:latin typeface="Arial" pitchFamily="34" charset="0"/>
                <a:ea typeface="Arial" pitchFamily="34" charset="-122"/>
                <a:cs typeface="Arial" pitchFamily="34" charset="-120"/>
              </a:rPr>
              <a:t>Rust</a:t>
            </a:r>
            <a:endParaRPr lang="en-US" sz="2550" dirty="0"/>
          </a:p>
        </p:txBody>
      </p:sp>
      <p:sp>
        <p:nvSpPr>
          <p:cNvPr id="16" name="Text 14"/>
          <p:cNvSpPr/>
          <p:nvPr/>
        </p:nvSpPr>
        <p:spPr>
          <a:xfrm>
            <a:off x="11377930" y="3779520"/>
            <a:ext cx="6136134" cy="350520"/>
          </a:xfrm>
          <a:prstGeom prst="rect">
            <a:avLst/>
          </a:prstGeom>
          <a:noFill/>
          <a:ln/>
        </p:spPr>
        <p:txBody>
          <a:bodyPr wrap="square" lIns="25400" tIns="25400" rIns="25400" bIns="25400" rtlCol="0" anchor="t">
            <a:normAutofit/>
          </a:bodyPr>
          <a:lstStyle/>
          <a:p>
            <a:pPr algn="l" indent="0" marL="0">
              <a:buNone/>
            </a:pPr>
            <a:r>
              <a:rPr lang="en-US" sz="2100" dirty="0">
                <a:solidFill>
                  <a:srgbClr val="6B6457"/>
                </a:solidFill>
                <a:latin typeface="Arial" pitchFamily="34" charset="0"/>
                <a:ea typeface="Arial" pitchFamily="34" charset="-122"/>
                <a:cs typeface="Arial" pitchFamily="34" charset="-120"/>
              </a:rPr>
              <a:t>Zig · Go</a:t>
            </a:r>
            <a:endParaRPr lang="en-US" sz="2100" dirty="0"/>
          </a:p>
        </p:txBody>
      </p:sp>
      <p:sp>
        <p:nvSpPr>
          <p:cNvPr id="17" name="Shape 15"/>
          <p:cNvSpPr/>
          <p:nvPr/>
        </p:nvSpPr>
        <p:spPr>
          <a:xfrm>
            <a:off x="952500" y="5391150"/>
            <a:ext cx="16383000" cy="9525"/>
          </a:xfrm>
          <a:prstGeom prst="rect">
            <a:avLst/>
          </a:prstGeom>
          <a:solidFill>
            <a:srgbClr val="CDC6B6"/>
          </a:solidFill>
          <a:ln/>
        </p:spPr>
      </p:sp>
      <p:sp>
        <p:nvSpPr>
          <p:cNvPr id="18" name="Text 16"/>
          <p:cNvSpPr/>
          <p:nvPr/>
        </p:nvSpPr>
        <p:spPr>
          <a:xfrm>
            <a:off x="952500" y="4434840"/>
            <a:ext cx="6136134" cy="411480"/>
          </a:xfrm>
          <a:prstGeom prst="rect">
            <a:avLst/>
          </a:prstGeom>
          <a:noFill/>
          <a:ln/>
        </p:spPr>
        <p:txBody>
          <a:bodyPr wrap="square" lIns="25400" tIns="25400" rIns="25400" bIns="25400" rtlCol="0" anchor="t">
            <a:normAutofit/>
          </a:bodyPr>
          <a:lstStyle/>
          <a:p>
            <a:pPr algn="l" indent="0" marL="0">
              <a:buNone/>
            </a:pPr>
            <a:r>
              <a:rPr lang="en-US" sz="2550" dirty="0">
                <a:solidFill>
                  <a:srgbClr val="16140F"/>
                </a:solidFill>
                <a:latin typeface="Arial" pitchFamily="34" charset="0"/>
                <a:ea typeface="Arial" pitchFamily="34" charset="-122"/>
                <a:cs typeface="Arial" pitchFamily="34" charset="-120"/>
              </a:rPr>
              <a:t>Data / AI/ML / scripting</a:t>
            </a:r>
            <a:endParaRPr lang="en-US" sz="2550" dirty="0"/>
          </a:p>
        </p:txBody>
      </p:sp>
      <p:sp>
        <p:nvSpPr>
          <p:cNvPr id="19" name="Text 17"/>
          <p:cNvSpPr/>
          <p:nvPr/>
        </p:nvSpPr>
        <p:spPr>
          <a:xfrm>
            <a:off x="6909911" y="4404360"/>
            <a:ext cx="4602059" cy="891540"/>
          </a:xfrm>
          <a:prstGeom prst="rect">
            <a:avLst/>
          </a:prstGeom>
          <a:noFill/>
          <a:ln/>
        </p:spPr>
        <p:txBody>
          <a:bodyPr wrap="square" lIns="25400" tIns="25400" rIns="25400" bIns="25400" rtlCol="0" anchor="t">
            <a:normAutofit/>
          </a:bodyPr>
          <a:lstStyle/>
          <a:p>
            <a:pPr algn="l" indent="0" marL="0">
              <a:buNone/>
            </a:pPr>
            <a:r>
              <a:rPr lang="en-US" sz="2550" b="1" dirty="0">
                <a:solidFill>
                  <a:srgbClr val="C2410C"/>
                </a:solidFill>
                <a:latin typeface="Arial" pitchFamily="34" charset="0"/>
                <a:ea typeface="Arial" pitchFamily="34" charset="-122"/>
                <a:cs typeface="Arial" pitchFamily="34" charset="-120"/>
              </a:rPr>
              <a:t>Python (typed, day-one)</a:t>
            </a:r>
            <a:endParaRPr lang="en-US" sz="2550" dirty="0"/>
          </a:p>
        </p:txBody>
      </p:sp>
      <p:sp>
        <p:nvSpPr>
          <p:cNvPr id="20" name="Text 18"/>
          <p:cNvSpPr/>
          <p:nvPr/>
        </p:nvSpPr>
        <p:spPr>
          <a:xfrm>
            <a:off x="11377930" y="4480560"/>
            <a:ext cx="6136134" cy="350520"/>
          </a:xfrm>
          <a:prstGeom prst="rect">
            <a:avLst/>
          </a:prstGeom>
          <a:noFill/>
          <a:ln/>
        </p:spPr>
        <p:txBody>
          <a:bodyPr wrap="square" lIns="25400" tIns="25400" rIns="25400" bIns="25400" rtlCol="0" anchor="t">
            <a:normAutofit/>
          </a:bodyPr>
          <a:lstStyle/>
          <a:p>
            <a:pPr algn="l" indent="0" marL="0">
              <a:buNone/>
            </a:pPr>
            <a:r>
              <a:rPr lang="en-US" sz="2100" dirty="0">
                <a:solidFill>
                  <a:srgbClr val="6B6457"/>
                </a:solidFill>
                <a:latin typeface="Arial" pitchFamily="34" charset="0"/>
                <a:ea typeface="Arial" pitchFamily="34" charset="-122"/>
                <a:cs typeface="Arial" pitchFamily="34" charset="-120"/>
              </a:rPr>
              <a:t>TypeScript · Julia for numerics</a:t>
            </a:r>
            <a:endParaRPr lang="en-US" sz="2100" dirty="0"/>
          </a:p>
        </p:txBody>
      </p:sp>
      <p:sp>
        <p:nvSpPr>
          <p:cNvPr id="21" name="Shape 19"/>
          <p:cNvSpPr/>
          <p:nvPr/>
        </p:nvSpPr>
        <p:spPr>
          <a:xfrm>
            <a:off x="952500" y="6092190"/>
            <a:ext cx="16383000" cy="9525"/>
          </a:xfrm>
          <a:prstGeom prst="rect">
            <a:avLst/>
          </a:prstGeom>
          <a:solidFill>
            <a:srgbClr val="CDC6B6"/>
          </a:solidFill>
          <a:ln/>
        </p:spPr>
      </p:sp>
      <p:sp>
        <p:nvSpPr>
          <p:cNvPr id="22" name="Text 20"/>
          <p:cNvSpPr/>
          <p:nvPr/>
        </p:nvSpPr>
        <p:spPr>
          <a:xfrm>
            <a:off x="952500" y="5562600"/>
            <a:ext cx="6136134" cy="411480"/>
          </a:xfrm>
          <a:prstGeom prst="rect">
            <a:avLst/>
          </a:prstGeom>
          <a:noFill/>
          <a:ln/>
        </p:spPr>
        <p:txBody>
          <a:bodyPr wrap="square" lIns="25400" tIns="25400" rIns="25400" bIns="25400" rtlCol="0" anchor="t">
            <a:normAutofit/>
          </a:bodyPr>
          <a:lstStyle/>
          <a:p>
            <a:pPr algn="l" indent="0" marL="0">
              <a:buNone/>
            </a:pPr>
            <a:r>
              <a:rPr lang="en-US" sz="2550" dirty="0">
                <a:solidFill>
                  <a:srgbClr val="16140F"/>
                </a:solidFill>
                <a:latin typeface="Arial" pitchFamily="34" charset="0"/>
                <a:ea typeface="Arial" pitchFamily="34" charset="-122"/>
                <a:cs typeface="Arial" pitchFamily="34" charset="-120"/>
              </a:rPr>
              <a:t>Fault-tolerant distributed systems</a:t>
            </a:r>
            <a:endParaRPr lang="en-US" sz="2550" dirty="0"/>
          </a:p>
        </p:txBody>
      </p:sp>
      <p:sp>
        <p:nvSpPr>
          <p:cNvPr id="23" name="Text 21"/>
          <p:cNvSpPr/>
          <p:nvPr/>
        </p:nvSpPr>
        <p:spPr>
          <a:xfrm>
            <a:off x="6909911" y="5532120"/>
            <a:ext cx="4602059" cy="464820"/>
          </a:xfrm>
          <a:prstGeom prst="rect">
            <a:avLst/>
          </a:prstGeom>
          <a:noFill/>
          <a:ln/>
        </p:spPr>
        <p:txBody>
          <a:bodyPr wrap="square" lIns="25400" tIns="25400" rIns="25400" bIns="25400" rtlCol="0" anchor="t">
            <a:normAutofit/>
          </a:bodyPr>
          <a:lstStyle/>
          <a:p>
            <a:pPr algn="l" indent="0" marL="0">
              <a:buNone/>
            </a:pPr>
            <a:r>
              <a:rPr lang="en-US" sz="2550" b="1" dirty="0">
                <a:solidFill>
                  <a:srgbClr val="C2410C"/>
                </a:solidFill>
                <a:latin typeface="Arial" pitchFamily="34" charset="0"/>
                <a:ea typeface="Arial" pitchFamily="34" charset="-122"/>
                <a:cs typeface="Arial" pitchFamily="34" charset="-120"/>
              </a:rPr>
              <a:t>Elixir</a:t>
            </a:r>
            <a:endParaRPr lang="en-US" sz="2550" dirty="0"/>
          </a:p>
        </p:txBody>
      </p:sp>
      <p:sp>
        <p:nvSpPr>
          <p:cNvPr id="24" name="Text 22"/>
          <p:cNvSpPr/>
          <p:nvPr/>
        </p:nvSpPr>
        <p:spPr>
          <a:xfrm>
            <a:off x="11377930" y="5608320"/>
            <a:ext cx="6136134" cy="350520"/>
          </a:xfrm>
          <a:prstGeom prst="rect">
            <a:avLst/>
          </a:prstGeom>
          <a:noFill/>
          <a:ln/>
        </p:spPr>
        <p:txBody>
          <a:bodyPr wrap="square" lIns="25400" tIns="25400" rIns="25400" bIns="25400" rtlCol="0" anchor="t">
            <a:normAutofit/>
          </a:bodyPr>
          <a:lstStyle/>
          <a:p>
            <a:pPr algn="l" indent="0" marL="0">
              <a:buNone/>
            </a:pPr>
            <a:r>
              <a:rPr lang="en-US" sz="2100" dirty="0">
                <a:solidFill>
                  <a:srgbClr val="6B6457"/>
                </a:solidFill>
                <a:latin typeface="Arial" pitchFamily="34" charset="0"/>
                <a:ea typeface="Arial" pitchFamily="34" charset="-122"/>
                <a:cs typeface="Arial" pitchFamily="34" charset="-120"/>
              </a:rPr>
              <a:t>Go · Rust</a:t>
            </a:r>
            <a:endParaRPr lang="en-US" sz="2100" dirty="0"/>
          </a:p>
        </p:txBody>
      </p:sp>
      <p:sp>
        <p:nvSpPr>
          <p:cNvPr id="25" name="Shape 23"/>
          <p:cNvSpPr/>
          <p:nvPr/>
        </p:nvSpPr>
        <p:spPr>
          <a:xfrm>
            <a:off x="952500" y="7219950"/>
            <a:ext cx="16383000" cy="9525"/>
          </a:xfrm>
          <a:prstGeom prst="rect">
            <a:avLst/>
          </a:prstGeom>
          <a:solidFill>
            <a:srgbClr val="CDC6B6"/>
          </a:solidFill>
          <a:ln/>
        </p:spPr>
      </p:sp>
      <p:sp>
        <p:nvSpPr>
          <p:cNvPr id="26" name="Text 24"/>
          <p:cNvSpPr/>
          <p:nvPr/>
        </p:nvSpPr>
        <p:spPr>
          <a:xfrm>
            <a:off x="952500" y="6263640"/>
            <a:ext cx="6136134" cy="411480"/>
          </a:xfrm>
          <a:prstGeom prst="rect">
            <a:avLst/>
          </a:prstGeom>
          <a:noFill/>
          <a:ln/>
        </p:spPr>
        <p:txBody>
          <a:bodyPr wrap="square" lIns="25400" tIns="25400" rIns="25400" bIns="25400" rtlCol="0" anchor="t">
            <a:normAutofit/>
          </a:bodyPr>
          <a:lstStyle/>
          <a:p>
            <a:pPr algn="l" indent="0" marL="0">
              <a:buNone/>
            </a:pPr>
            <a:r>
              <a:rPr lang="en-US" sz="2550" dirty="0">
                <a:solidFill>
                  <a:srgbClr val="16140F"/>
                </a:solidFill>
                <a:latin typeface="Arial" pitchFamily="34" charset="0"/>
                <a:ea typeface="Arial" pitchFamily="34" charset="-122"/>
                <a:cs typeface="Arial" pitchFamily="34" charset="-120"/>
              </a:rPr>
              <a:t>AI-native compute kernels</a:t>
            </a:r>
            <a:endParaRPr lang="en-US" sz="2550" dirty="0"/>
          </a:p>
        </p:txBody>
      </p:sp>
      <p:sp>
        <p:nvSpPr>
          <p:cNvPr id="27" name="Text 25"/>
          <p:cNvSpPr/>
          <p:nvPr/>
        </p:nvSpPr>
        <p:spPr>
          <a:xfrm>
            <a:off x="6909911" y="6233160"/>
            <a:ext cx="4602059" cy="891540"/>
          </a:xfrm>
          <a:prstGeom prst="rect">
            <a:avLst/>
          </a:prstGeom>
          <a:noFill/>
          <a:ln/>
        </p:spPr>
        <p:txBody>
          <a:bodyPr wrap="square" lIns="25400" tIns="25400" rIns="25400" bIns="25400" rtlCol="0" anchor="t">
            <a:normAutofit/>
          </a:bodyPr>
          <a:lstStyle/>
          <a:p>
            <a:pPr algn="l" indent="0" marL="0">
              <a:buNone/>
            </a:pPr>
            <a:r>
              <a:rPr lang="en-US" sz="2550" b="1" dirty="0">
                <a:solidFill>
                  <a:srgbClr val="C2410C"/>
                </a:solidFill>
                <a:latin typeface="Arial" pitchFamily="34" charset="0"/>
                <a:ea typeface="Arial" pitchFamily="34" charset="-122"/>
                <a:cs typeface="Arial" pitchFamily="34" charset="-120"/>
              </a:rPr>
              <a:t>Mojo (forward bet) · Rust</a:t>
            </a:r>
            <a:endParaRPr lang="en-US" sz="2550" dirty="0"/>
          </a:p>
        </p:txBody>
      </p:sp>
      <p:sp>
        <p:nvSpPr>
          <p:cNvPr id="28" name="Text 26"/>
          <p:cNvSpPr/>
          <p:nvPr/>
        </p:nvSpPr>
        <p:spPr>
          <a:xfrm>
            <a:off x="11377930" y="6309360"/>
            <a:ext cx="6136134" cy="350520"/>
          </a:xfrm>
          <a:prstGeom prst="rect">
            <a:avLst/>
          </a:prstGeom>
          <a:noFill/>
          <a:ln/>
        </p:spPr>
        <p:txBody>
          <a:bodyPr wrap="square" lIns="25400" tIns="25400" rIns="25400" bIns="25400" rtlCol="0" anchor="t">
            <a:normAutofit/>
          </a:bodyPr>
          <a:lstStyle/>
          <a:p>
            <a:pPr algn="l" indent="0" marL="0">
              <a:buNone/>
            </a:pPr>
            <a:r>
              <a:rPr lang="en-US" sz="2100" dirty="0">
                <a:solidFill>
                  <a:srgbClr val="6B6457"/>
                </a:solidFill>
                <a:latin typeface="Arial" pitchFamily="34" charset="0"/>
                <a:ea typeface="Arial" pitchFamily="34" charset="-122"/>
                <a:cs typeface="Arial" pitchFamily="34" charset="-120"/>
              </a:rPr>
              <a:t>C++ only where unavoidable</a:t>
            </a:r>
            <a:endParaRPr lang="en-US" sz="2100" dirty="0"/>
          </a:p>
        </p:txBody>
      </p:sp>
      <p:sp>
        <p:nvSpPr>
          <p:cNvPr id="29" name="Shape 27"/>
          <p:cNvSpPr/>
          <p:nvPr/>
        </p:nvSpPr>
        <p:spPr>
          <a:xfrm>
            <a:off x="952500" y="7920990"/>
            <a:ext cx="16383000" cy="9525"/>
          </a:xfrm>
          <a:prstGeom prst="rect">
            <a:avLst/>
          </a:prstGeom>
          <a:solidFill>
            <a:srgbClr val="CDC6B6"/>
          </a:solidFill>
          <a:ln/>
        </p:spPr>
      </p:sp>
      <p:sp>
        <p:nvSpPr>
          <p:cNvPr id="30" name="Text 28"/>
          <p:cNvSpPr/>
          <p:nvPr/>
        </p:nvSpPr>
        <p:spPr>
          <a:xfrm>
            <a:off x="952500" y="7391400"/>
            <a:ext cx="6136134" cy="411480"/>
          </a:xfrm>
          <a:prstGeom prst="rect">
            <a:avLst/>
          </a:prstGeom>
          <a:noFill/>
          <a:ln/>
        </p:spPr>
        <p:txBody>
          <a:bodyPr wrap="square" lIns="25400" tIns="25400" rIns="25400" bIns="25400" rtlCol="0" anchor="t">
            <a:normAutofit/>
          </a:bodyPr>
          <a:lstStyle/>
          <a:p>
            <a:pPr algn="l" indent="0" marL="0">
              <a:buNone/>
            </a:pPr>
            <a:r>
              <a:rPr lang="en-US" sz="2550" dirty="0">
                <a:solidFill>
                  <a:srgbClr val="16140F"/>
                </a:solidFill>
                <a:latin typeface="Arial" pitchFamily="34" charset="0"/>
                <a:ea typeface="Arial" pitchFamily="34" charset="-122"/>
                <a:cs typeface="Arial" pitchFamily="34" charset="-120"/>
              </a:rPr>
              <a:t>Apple-platform application work</a:t>
            </a:r>
            <a:endParaRPr lang="en-US" sz="2550" dirty="0"/>
          </a:p>
        </p:txBody>
      </p:sp>
      <p:sp>
        <p:nvSpPr>
          <p:cNvPr id="31" name="Text 29"/>
          <p:cNvSpPr/>
          <p:nvPr/>
        </p:nvSpPr>
        <p:spPr>
          <a:xfrm>
            <a:off x="6909911" y="7360920"/>
            <a:ext cx="4602059" cy="464820"/>
          </a:xfrm>
          <a:prstGeom prst="rect">
            <a:avLst/>
          </a:prstGeom>
          <a:noFill/>
          <a:ln/>
        </p:spPr>
        <p:txBody>
          <a:bodyPr wrap="square" lIns="25400" tIns="25400" rIns="25400" bIns="25400" rtlCol="0" anchor="t">
            <a:normAutofit/>
          </a:bodyPr>
          <a:lstStyle/>
          <a:p>
            <a:pPr algn="l" indent="0" marL="0">
              <a:buNone/>
            </a:pPr>
            <a:r>
              <a:rPr lang="en-US" sz="2550" b="1" dirty="0">
                <a:solidFill>
                  <a:srgbClr val="C2410C"/>
                </a:solidFill>
                <a:latin typeface="Arial" pitchFamily="34" charset="0"/>
                <a:ea typeface="Arial" pitchFamily="34" charset="-122"/>
                <a:cs typeface="Arial" pitchFamily="34" charset="-120"/>
              </a:rPr>
              <a:t>Swift</a:t>
            </a:r>
            <a:endParaRPr lang="en-US" sz="2550" dirty="0"/>
          </a:p>
        </p:txBody>
      </p:sp>
      <p:sp>
        <p:nvSpPr>
          <p:cNvPr id="32" name="Text 30"/>
          <p:cNvSpPr/>
          <p:nvPr/>
        </p:nvSpPr>
        <p:spPr>
          <a:xfrm>
            <a:off x="11377930" y="7437120"/>
            <a:ext cx="6136134" cy="350520"/>
          </a:xfrm>
          <a:prstGeom prst="rect">
            <a:avLst/>
          </a:prstGeom>
          <a:noFill/>
          <a:ln/>
        </p:spPr>
        <p:txBody>
          <a:bodyPr wrap="square" lIns="25400" tIns="25400" rIns="25400" bIns="25400" rtlCol="0" anchor="t">
            <a:normAutofit/>
          </a:bodyPr>
          <a:lstStyle/>
          <a:p>
            <a:pPr algn="l" indent="0" marL="0">
              <a:buNone/>
            </a:pPr>
            <a:r>
              <a:rPr lang="en-US" sz="2100" dirty="0">
                <a:solidFill>
                  <a:srgbClr val="6B6457"/>
                </a:solidFill>
                <a:latin typeface="Arial" pitchFamily="34" charset="0"/>
                <a:ea typeface="Arial" pitchFamily="34" charset="-122"/>
                <a:cs typeface="Arial" pitchFamily="34" charset="-120"/>
              </a:rPr>
              <a:t>Kotlin Multiplatform</a:t>
            </a:r>
            <a:endParaRPr lang="en-US" sz="2100" dirty="0"/>
          </a:p>
        </p:txBody>
      </p:sp>
      <p:sp>
        <p:nvSpPr>
          <p:cNvPr id="33" name="Shape 31"/>
          <p:cNvSpPr/>
          <p:nvPr/>
        </p:nvSpPr>
        <p:spPr>
          <a:xfrm>
            <a:off x="952500" y="8972550"/>
            <a:ext cx="16383000" cy="9525"/>
          </a:xfrm>
          <a:prstGeom prst="rect">
            <a:avLst/>
          </a:prstGeom>
          <a:solidFill>
            <a:srgbClr val="CDC6B6"/>
          </a:solidFill>
          <a:ln/>
        </p:spPr>
      </p:sp>
      <p:sp>
        <p:nvSpPr>
          <p:cNvPr id="34" name="Text 32"/>
          <p:cNvSpPr/>
          <p:nvPr/>
        </p:nvSpPr>
        <p:spPr>
          <a:xfrm>
            <a:off x="952500" y="8092440"/>
            <a:ext cx="6136134" cy="784860"/>
          </a:xfrm>
          <a:prstGeom prst="rect">
            <a:avLst/>
          </a:prstGeom>
          <a:noFill/>
          <a:ln/>
        </p:spPr>
        <p:txBody>
          <a:bodyPr wrap="square" lIns="25400" tIns="25400" rIns="25400" bIns="25400" rtlCol="0" anchor="t">
            <a:normAutofit/>
          </a:bodyPr>
          <a:lstStyle/>
          <a:p>
            <a:pPr algn="l" indent="0" marL="0">
              <a:buNone/>
            </a:pPr>
            <a:r>
              <a:rPr lang="en-US" sz="2550" dirty="0">
                <a:solidFill>
                  <a:srgbClr val="16140F"/>
                </a:solidFill>
                <a:latin typeface="Arial" pitchFamily="34" charset="0"/>
                <a:ea typeface="Arial" pitchFamily="34" charset="-122"/>
                <a:cs typeface="Arial" pitchFamily="34" charset="-120"/>
              </a:rPr>
              <a:t>Accelerator host code where C++ is forced</a:t>
            </a:r>
            <a:endParaRPr lang="en-US" sz="2550" dirty="0"/>
          </a:p>
        </p:txBody>
      </p:sp>
      <p:sp>
        <p:nvSpPr>
          <p:cNvPr id="35" name="Text 33"/>
          <p:cNvSpPr/>
          <p:nvPr/>
        </p:nvSpPr>
        <p:spPr>
          <a:xfrm>
            <a:off x="6909911" y="8061960"/>
            <a:ext cx="4602059" cy="464820"/>
          </a:xfrm>
          <a:prstGeom prst="rect">
            <a:avLst/>
          </a:prstGeom>
          <a:noFill/>
          <a:ln/>
        </p:spPr>
        <p:txBody>
          <a:bodyPr wrap="square" lIns="25400" tIns="25400" rIns="25400" bIns="25400" rtlCol="0" anchor="t">
            <a:normAutofit/>
          </a:bodyPr>
          <a:lstStyle/>
          <a:p>
            <a:pPr algn="l" indent="0" marL="0">
              <a:buNone/>
            </a:pPr>
            <a:r>
              <a:rPr lang="en-US" sz="2550" b="1" dirty="0">
                <a:solidFill>
                  <a:srgbClr val="C2410C"/>
                </a:solidFill>
                <a:latin typeface="Arial" pitchFamily="34" charset="0"/>
                <a:ea typeface="Arial" pitchFamily="34" charset="-122"/>
                <a:cs typeface="Arial" pitchFamily="34" charset="-120"/>
              </a:rPr>
              <a:t>C++</a:t>
            </a:r>
            <a:endParaRPr lang="en-US" sz="2550" dirty="0"/>
          </a:p>
        </p:txBody>
      </p:sp>
      <p:sp>
        <p:nvSpPr>
          <p:cNvPr id="36" name="Text 34"/>
          <p:cNvSpPr/>
          <p:nvPr/>
        </p:nvSpPr>
        <p:spPr>
          <a:xfrm>
            <a:off x="11377930" y="8138160"/>
            <a:ext cx="6136134" cy="350520"/>
          </a:xfrm>
          <a:prstGeom prst="rect">
            <a:avLst/>
          </a:prstGeom>
          <a:noFill/>
          <a:ln/>
        </p:spPr>
        <p:txBody>
          <a:bodyPr wrap="square" lIns="25400" tIns="25400" rIns="25400" bIns="25400" rtlCol="0" anchor="t">
            <a:normAutofit/>
          </a:bodyPr>
          <a:lstStyle/>
          <a:p>
            <a:pPr algn="l" indent="0" marL="0">
              <a:buNone/>
            </a:pPr>
            <a:r>
              <a:rPr lang="en-US" sz="2100" dirty="0">
                <a:solidFill>
                  <a:srgbClr val="6B6457"/>
                </a:solidFill>
                <a:latin typeface="Arial" pitchFamily="34" charset="0"/>
                <a:ea typeface="Arial" pitchFamily="34" charset="-122"/>
                <a:cs typeface="Arial" pitchFamily="34" charset="-120"/>
              </a:rPr>
              <a:t>Rust where supported</a:t>
            </a:r>
            <a:endParaRPr lang="en-US" sz="2100" dirty="0"/>
          </a:p>
        </p:txBody>
      </p:sp>
      <p:sp>
        <p:nvSpPr>
          <p:cNvPr id="37" name="Text 35"/>
          <p:cNvSpPr/>
          <p:nvPr/>
        </p:nvSpPr>
        <p:spPr>
          <a:xfrm>
            <a:off x="952500" y="9132570"/>
            <a:ext cx="16874490" cy="350520"/>
          </a:xfrm>
          <a:prstGeom prst="rect">
            <a:avLst/>
          </a:prstGeom>
          <a:noFill/>
          <a:ln/>
        </p:spPr>
        <p:txBody>
          <a:bodyPr wrap="square" lIns="25400" tIns="25400" rIns="25400" bIns="25400" rtlCol="0" anchor="t">
            <a:normAutofit/>
          </a:bodyPr>
          <a:lstStyle/>
          <a:p>
            <a:pPr algn="l" indent="0" marL="0">
              <a:buNone/>
            </a:pPr>
            <a:r>
              <a:rPr lang="en-US" sz="2100" dirty="0">
                <a:solidFill>
                  <a:srgbClr val="6B6457"/>
                </a:solidFill>
                <a:latin typeface="Arial" pitchFamily="34" charset="0"/>
                <a:ea typeface="Arial" pitchFamily="34" charset="-122"/>
                <a:cs typeface="Arial" pitchFamily="34" charset="-120"/>
              </a:rPr>
              <a:t>No single language is a default for everything. Most organizations will run two or three in parallel.</a:t>
            </a:r>
            <a:endParaRPr lang="en-US" sz="2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3EFE6"/>
        </a:solidFill>
      </p:bgPr>
    </p:bg>
    <p:spTree>
      <p:nvGrpSpPr>
        <p:cNvPr id="1" name=""/>
        <p:cNvGrpSpPr/>
        <p:nvPr/>
      </p:nvGrpSpPr>
      <p:grpSpPr>
        <a:xfrm>
          <a:off x="0" y="0"/>
          <a:ext cx="0" cy="0"/>
          <a:chOff x="0" y="0"/>
          <a:chExt cx="0" cy="0"/>
        </a:xfrm>
      </p:grpSpPr>
      <p:sp>
        <p:nvSpPr>
          <p:cNvPr id="2" name="Text 0"/>
          <p:cNvSpPr/>
          <p:nvPr/>
        </p:nvSpPr>
        <p:spPr>
          <a:xfrm>
            <a:off x="952500" y="952500"/>
            <a:ext cx="2939137" cy="297180"/>
          </a:xfrm>
          <a:prstGeom prst="rect">
            <a:avLst/>
          </a:prstGeom>
          <a:noFill/>
          <a:ln/>
        </p:spPr>
        <p:txBody>
          <a:bodyPr wrap="square" lIns="25400" tIns="25400" rIns="25400" bIns="25400" rtlCol="0" anchor="t">
            <a:normAutofit/>
          </a:bodyPr>
          <a:lstStyle/>
          <a:p>
            <a:pPr algn="l" indent="0" marL="0">
              <a:buNone/>
            </a:pPr>
            <a:r>
              <a:rPr lang="en-US" sz="1800" spc="144" kern="0" dirty="0">
                <a:solidFill>
                  <a:srgbClr val="6B6457"/>
                </a:solidFill>
                <a:latin typeface="Arial" pitchFamily="34" charset="0"/>
                <a:ea typeface="Arial" pitchFamily="34" charset="-122"/>
                <a:cs typeface="Arial" pitchFamily="34" charset="-120"/>
              </a:rPr>
              <a:t>07 · HONEST CAVEATS</a:t>
            </a:r>
            <a:endParaRPr lang="en-US" sz="1800" dirty="0"/>
          </a:p>
        </p:txBody>
      </p:sp>
      <p:sp>
        <p:nvSpPr>
          <p:cNvPr id="3" name="Text 1"/>
          <p:cNvSpPr/>
          <p:nvPr/>
        </p:nvSpPr>
        <p:spPr>
          <a:xfrm>
            <a:off x="16508571" y="952500"/>
            <a:ext cx="903129" cy="297180"/>
          </a:xfrm>
          <a:prstGeom prst="rect">
            <a:avLst/>
          </a:prstGeom>
          <a:noFill/>
          <a:ln/>
        </p:spPr>
        <p:txBody>
          <a:bodyPr wrap="square" lIns="25400" tIns="25400" rIns="25400" bIns="25400" rtlCol="0" anchor="t">
            <a:normAutofit/>
          </a:bodyPr>
          <a:lstStyle/>
          <a:p>
            <a:pPr algn="l" indent="0" marL="0">
              <a:buNone/>
            </a:pPr>
            <a:r>
              <a:rPr lang="en-US" sz="1800" spc="144" kern="0" dirty="0">
                <a:solidFill>
                  <a:srgbClr val="6B6457"/>
                </a:solidFill>
                <a:latin typeface="Arial" pitchFamily="34" charset="0"/>
                <a:ea typeface="Arial" pitchFamily="34" charset="-122"/>
                <a:cs typeface="Arial" pitchFamily="34" charset="-120"/>
              </a:rPr>
              <a:t>13/14</a:t>
            </a:r>
            <a:endParaRPr lang="en-US" sz="1800" dirty="0"/>
          </a:p>
        </p:txBody>
      </p:sp>
      <p:sp>
        <p:nvSpPr>
          <p:cNvPr id="4" name="Text 2"/>
          <p:cNvSpPr/>
          <p:nvPr/>
        </p:nvSpPr>
        <p:spPr>
          <a:xfrm>
            <a:off x="952500" y="1706880"/>
            <a:ext cx="16874490" cy="678180"/>
          </a:xfrm>
          <a:prstGeom prst="rect">
            <a:avLst/>
          </a:prstGeom>
          <a:noFill/>
          <a:ln/>
        </p:spPr>
        <p:txBody>
          <a:bodyPr wrap="square" lIns="25400" tIns="25400" rIns="25400" bIns="25400" rtlCol="0" anchor="t">
            <a:normAutofit/>
          </a:bodyPr>
          <a:lstStyle/>
          <a:p>
            <a:pPr algn="l" indent="0" marL="0">
              <a:lnSpc>
                <a:spcPct val="105000"/>
              </a:lnSpc>
              <a:buNone/>
            </a:pPr>
            <a:r>
              <a:rPr lang="en-US" sz="4800" spc="-96" kern="0" dirty="0">
                <a:solidFill>
                  <a:srgbClr val="16140F"/>
                </a:solidFill>
                <a:latin typeface="Arial" pitchFamily="34" charset="0"/>
                <a:ea typeface="Arial" pitchFamily="34" charset="-122"/>
                <a:cs typeface="Arial" pitchFamily="34" charset="-120"/>
              </a:rPr>
              <a:t>What this is and isn't.</a:t>
            </a:r>
            <a:endParaRPr lang="en-US" sz="4800" dirty="0"/>
          </a:p>
        </p:txBody>
      </p:sp>
      <p:sp>
        <p:nvSpPr>
          <p:cNvPr id="5" name="Shape 3"/>
          <p:cNvSpPr/>
          <p:nvPr/>
        </p:nvSpPr>
        <p:spPr>
          <a:xfrm>
            <a:off x="952500" y="2842260"/>
            <a:ext cx="15240" cy="2343150"/>
          </a:xfrm>
          <a:prstGeom prst="rect">
            <a:avLst/>
          </a:prstGeom>
          <a:solidFill>
            <a:srgbClr val="C2410C"/>
          </a:solidFill>
          <a:ln/>
        </p:spPr>
      </p:sp>
      <p:sp>
        <p:nvSpPr>
          <p:cNvPr id="6" name="Text 4"/>
          <p:cNvSpPr/>
          <p:nvPr/>
        </p:nvSpPr>
        <p:spPr>
          <a:xfrm>
            <a:off x="1272540" y="3150870"/>
            <a:ext cx="1302861" cy="289560"/>
          </a:xfrm>
          <a:prstGeom prst="rect">
            <a:avLst/>
          </a:prstGeom>
          <a:noFill/>
          <a:ln/>
        </p:spPr>
        <p:txBody>
          <a:bodyPr wrap="square" lIns="25400" tIns="25400" rIns="25400" bIns="25400" rtlCol="0" anchor="t">
            <a:normAutofit/>
          </a:bodyPr>
          <a:lstStyle/>
          <a:p>
            <a:pPr algn="l" indent="0" marL="0">
              <a:buNone/>
            </a:pPr>
            <a:r>
              <a:rPr lang="en-US" sz="1800" spc="180" kern="0" dirty="0">
                <a:solidFill>
                  <a:srgbClr val="C2410C"/>
                </a:solidFill>
                <a:latin typeface="Arial" pitchFamily="34" charset="0"/>
                <a:ea typeface="Arial" pitchFamily="34" charset="-122"/>
                <a:cs typeface="Arial" pitchFamily="34" charset="-120"/>
              </a:rPr>
              <a:t>WEIGHTS</a:t>
            </a:r>
            <a:endParaRPr lang="en-US" sz="1800" dirty="0"/>
          </a:p>
        </p:txBody>
      </p:sp>
      <p:sp>
        <p:nvSpPr>
          <p:cNvPr id="7" name="Text 5"/>
          <p:cNvSpPr/>
          <p:nvPr/>
        </p:nvSpPr>
        <p:spPr>
          <a:xfrm>
            <a:off x="1272540" y="3520440"/>
            <a:ext cx="6681121" cy="944880"/>
          </a:xfrm>
          <a:prstGeom prst="rect">
            <a:avLst/>
          </a:prstGeom>
          <a:noFill/>
          <a:ln/>
        </p:spPr>
        <p:txBody>
          <a:bodyPr wrap="square" lIns="25400" tIns="25400" rIns="25400" bIns="25400" rtlCol="0" anchor="t">
            <a:normAutofit/>
          </a:bodyPr>
          <a:lstStyle/>
          <a:p>
            <a:pPr algn="l" indent="0" marL="0">
              <a:lnSpc>
                <a:spcPct val="140000"/>
              </a:lnSpc>
              <a:buNone/>
            </a:pPr>
            <a:r>
              <a:rPr lang="en-US" sz="2550" dirty="0">
                <a:solidFill>
                  <a:srgbClr val="16140F"/>
                </a:solidFill>
                <a:latin typeface="Arial" pitchFamily="34" charset="0"/>
                <a:ea typeface="Arial" pitchFamily="34" charset="-122"/>
                <a:cs typeface="Arial" pitchFamily="34" charset="-120"/>
              </a:rPr>
              <a:t>Working assumptions, not a calibrated multi-rater output.</a:t>
            </a:r>
            <a:endParaRPr lang="en-US" sz="2550" dirty="0"/>
          </a:p>
        </p:txBody>
      </p:sp>
      <p:sp>
        <p:nvSpPr>
          <p:cNvPr id="8" name="Shape 6"/>
          <p:cNvSpPr/>
          <p:nvPr/>
        </p:nvSpPr>
        <p:spPr>
          <a:xfrm>
            <a:off x="9296400" y="2842260"/>
            <a:ext cx="15240" cy="2343150"/>
          </a:xfrm>
          <a:prstGeom prst="rect">
            <a:avLst/>
          </a:prstGeom>
          <a:solidFill>
            <a:srgbClr val="C2410C"/>
          </a:solidFill>
          <a:ln/>
        </p:spPr>
      </p:sp>
      <p:sp>
        <p:nvSpPr>
          <p:cNvPr id="9" name="Text 7"/>
          <p:cNvSpPr/>
          <p:nvPr/>
        </p:nvSpPr>
        <p:spPr>
          <a:xfrm>
            <a:off x="9616440" y="3150870"/>
            <a:ext cx="1516380" cy="289560"/>
          </a:xfrm>
          <a:prstGeom prst="rect">
            <a:avLst/>
          </a:prstGeom>
          <a:noFill/>
          <a:ln/>
        </p:spPr>
        <p:txBody>
          <a:bodyPr wrap="square" lIns="25400" tIns="25400" rIns="25400" bIns="25400" rtlCol="0" anchor="t">
            <a:normAutofit/>
          </a:bodyPr>
          <a:lstStyle/>
          <a:p>
            <a:pPr algn="l" indent="0" marL="0">
              <a:buNone/>
            </a:pPr>
            <a:r>
              <a:rPr lang="en-US" sz="1800" spc="180" kern="0" dirty="0">
                <a:solidFill>
                  <a:srgbClr val="C2410C"/>
                </a:solidFill>
                <a:latin typeface="Arial" pitchFamily="34" charset="0"/>
                <a:ea typeface="Arial" pitchFamily="34" charset="-122"/>
                <a:cs typeface="Arial" pitchFamily="34" charset="-120"/>
              </a:rPr>
              <a:t>SNAPSHOT</a:t>
            </a:r>
            <a:endParaRPr lang="en-US" sz="1800" dirty="0"/>
          </a:p>
        </p:txBody>
      </p:sp>
      <p:sp>
        <p:nvSpPr>
          <p:cNvPr id="10" name="Text 8"/>
          <p:cNvSpPr/>
          <p:nvPr/>
        </p:nvSpPr>
        <p:spPr>
          <a:xfrm>
            <a:off x="9616440" y="3520440"/>
            <a:ext cx="6681121" cy="1398270"/>
          </a:xfrm>
          <a:prstGeom prst="rect">
            <a:avLst/>
          </a:prstGeom>
          <a:noFill/>
          <a:ln/>
        </p:spPr>
        <p:txBody>
          <a:bodyPr wrap="square" lIns="25400" tIns="25400" rIns="25400" bIns="25400" rtlCol="0" anchor="t">
            <a:normAutofit/>
          </a:bodyPr>
          <a:lstStyle/>
          <a:p>
            <a:pPr algn="l" indent="0" marL="0">
              <a:lnSpc>
                <a:spcPct val="140000"/>
              </a:lnSpc>
              <a:buNone/>
            </a:pPr>
            <a:r>
              <a:rPr lang="en-US" sz="2550" dirty="0">
                <a:solidFill>
                  <a:srgbClr val="16140F"/>
                </a:solidFill>
                <a:latin typeface="Arial" pitchFamily="34" charset="0"/>
                <a:ea typeface="Arial" pitchFamily="34" charset="-122"/>
                <a:cs typeface="Arial" pitchFamily="34" charset="-120"/>
              </a:rPr>
              <a:t>2026-04-30. Mojo, Zig, Julia, Elixir set-theoretic types could move within twelve months.</a:t>
            </a:r>
            <a:endParaRPr lang="en-US" sz="2550" dirty="0"/>
          </a:p>
        </p:txBody>
      </p:sp>
      <p:sp>
        <p:nvSpPr>
          <p:cNvPr id="11" name="Shape 9"/>
          <p:cNvSpPr/>
          <p:nvPr/>
        </p:nvSpPr>
        <p:spPr>
          <a:xfrm>
            <a:off x="952500" y="5490210"/>
            <a:ext cx="15240" cy="1889760"/>
          </a:xfrm>
          <a:prstGeom prst="rect">
            <a:avLst/>
          </a:prstGeom>
          <a:solidFill>
            <a:srgbClr val="C2410C"/>
          </a:solidFill>
          <a:ln/>
        </p:spPr>
      </p:sp>
      <p:sp>
        <p:nvSpPr>
          <p:cNvPr id="12" name="Text 10"/>
          <p:cNvSpPr/>
          <p:nvPr/>
        </p:nvSpPr>
        <p:spPr>
          <a:xfrm>
            <a:off x="1272540" y="5798820"/>
            <a:ext cx="1290320" cy="289560"/>
          </a:xfrm>
          <a:prstGeom prst="rect">
            <a:avLst/>
          </a:prstGeom>
          <a:noFill/>
          <a:ln/>
        </p:spPr>
        <p:txBody>
          <a:bodyPr wrap="square" lIns="25400" tIns="25400" rIns="25400" bIns="25400" rtlCol="0" anchor="t">
            <a:normAutofit/>
          </a:bodyPr>
          <a:lstStyle/>
          <a:p>
            <a:pPr algn="l" indent="0" marL="0">
              <a:buNone/>
            </a:pPr>
            <a:r>
              <a:rPr lang="en-US" sz="1800" spc="180" kern="0" dirty="0">
                <a:solidFill>
                  <a:srgbClr val="C2410C"/>
                </a:solidFill>
                <a:latin typeface="Arial" pitchFamily="34" charset="0"/>
                <a:ea typeface="Arial" pitchFamily="34" charset="-122"/>
                <a:cs typeface="Arial" pitchFamily="34" charset="-120"/>
              </a:rPr>
              <a:t>FRAMING</a:t>
            </a:r>
            <a:endParaRPr lang="en-US" sz="1800" dirty="0"/>
          </a:p>
        </p:txBody>
      </p:sp>
      <p:sp>
        <p:nvSpPr>
          <p:cNvPr id="13" name="Text 11"/>
          <p:cNvSpPr/>
          <p:nvPr/>
        </p:nvSpPr>
        <p:spPr>
          <a:xfrm>
            <a:off x="1272540" y="6168390"/>
            <a:ext cx="6681121" cy="944880"/>
          </a:xfrm>
          <a:prstGeom prst="rect">
            <a:avLst/>
          </a:prstGeom>
          <a:noFill/>
          <a:ln/>
        </p:spPr>
        <p:txBody>
          <a:bodyPr wrap="square" lIns="25400" tIns="25400" rIns="25400" bIns="25400" rtlCol="0" anchor="t">
            <a:normAutofit/>
          </a:bodyPr>
          <a:lstStyle/>
          <a:p>
            <a:pPr algn="l" indent="0" marL="0">
              <a:lnSpc>
                <a:spcPct val="140000"/>
              </a:lnSpc>
              <a:buNone/>
            </a:pPr>
            <a:r>
              <a:rPr lang="en-US" sz="2550" dirty="0">
                <a:solidFill>
                  <a:srgbClr val="16140F"/>
                </a:solidFill>
                <a:latin typeface="Arial" pitchFamily="34" charset="0"/>
                <a:ea typeface="Arial" pitchFamily="34" charset="-122"/>
                <a:cs typeface="Arial" pitchFamily="34" charset="-120"/>
              </a:rPr>
              <a:t>Greenfield is deliberate. Maintenance-estate teams should re-weight.</a:t>
            </a:r>
            <a:endParaRPr lang="en-US" sz="2550" dirty="0"/>
          </a:p>
        </p:txBody>
      </p:sp>
      <p:sp>
        <p:nvSpPr>
          <p:cNvPr id="14" name="Shape 12"/>
          <p:cNvSpPr/>
          <p:nvPr/>
        </p:nvSpPr>
        <p:spPr>
          <a:xfrm>
            <a:off x="9296400" y="5490210"/>
            <a:ext cx="15240" cy="1889760"/>
          </a:xfrm>
          <a:prstGeom prst="rect">
            <a:avLst/>
          </a:prstGeom>
          <a:solidFill>
            <a:srgbClr val="C2410C"/>
          </a:solidFill>
          <a:ln/>
        </p:spPr>
      </p:sp>
      <p:sp>
        <p:nvSpPr>
          <p:cNvPr id="15" name="Text 13"/>
          <p:cNvSpPr/>
          <p:nvPr/>
        </p:nvSpPr>
        <p:spPr>
          <a:xfrm>
            <a:off x="9616440" y="5798820"/>
            <a:ext cx="1529080" cy="289560"/>
          </a:xfrm>
          <a:prstGeom prst="rect">
            <a:avLst/>
          </a:prstGeom>
          <a:noFill/>
          <a:ln/>
        </p:spPr>
        <p:txBody>
          <a:bodyPr wrap="square" lIns="25400" tIns="25400" rIns="25400" bIns="25400" rtlCol="0" anchor="t">
            <a:normAutofit/>
          </a:bodyPr>
          <a:lstStyle/>
          <a:p>
            <a:pPr algn="l" indent="0" marL="0">
              <a:buNone/>
            </a:pPr>
            <a:r>
              <a:rPr lang="en-US" sz="1800" spc="180" kern="0" dirty="0">
                <a:solidFill>
                  <a:srgbClr val="C2410C"/>
                </a:solidFill>
                <a:latin typeface="Arial" pitchFamily="34" charset="0"/>
                <a:ea typeface="Arial" pitchFamily="34" charset="-122"/>
                <a:cs typeface="Arial" pitchFamily="34" charset="-120"/>
              </a:rPr>
              <a:t>JUDGMENT</a:t>
            </a:r>
            <a:endParaRPr lang="en-US" sz="1800" dirty="0"/>
          </a:p>
        </p:txBody>
      </p:sp>
      <p:sp>
        <p:nvSpPr>
          <p:cNvPr id="16" name="Text 14"/>
          <p:cNvSpPr/>
          <p:nvPr/>
        </p:nvSpPr>
        <p:spPr>
          <a:xfrm>
            <a:off x="9616440" y="6168390"/>
            <a:ext cx="6681121" cy="944880"/>
          </a:xfrm>
          <a:prstGeom prst="rect">
            <a:avLst/>
          </a:prstGeom>
          <a:noFill/>
          <a:ln/>
        </p:spPr>
        <p:txBody>
          <a:bodyPr wrap="square" lIns="25400" tIns="25400" rIns="25400" bIns="25400" rtlCol="0" anchor="t">
            <a:normAutofit/>
          </a:bodyPr>
          <a:lstStyle/>
          <a:p>
            <a:pPr algn="l" indent="0" marL="0">
              <a:lnSpc>
                <a:spcPct val="140000"/>
              </a:lnSpc>
              <a:buNone/>
            </a:pPr>
            <a:r>
              <a:rPr lang="en-US" sz="2550" dirty="0">
                <a:solidFill>
                  <a:srgbClr val="16140F"/>
                </a:solidFill>
                <a:latin typeface="Arial" pitchFamily="34" charset="0"/>
                <a:ea typeface="Arial" pitchFamily="34" charset="-122"/>
                <a:cs typeface="Arial" pitchFamily="34" charset="-120"/>
              </a:rPr>
              <a:t>Single-rater · grounded in 255 atomic claims · primary-source citations · falsifiable.</a:t>
            </a:r>
            <a:endParaRPr lang="en-US" sz="25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6140F"/>
        </a:solidFill>
      </p:bgPr>
    </p:bg>
    <p:spTree>
      <p:nvGrpSpPr>
        <p:cNvPr id="1" name=""/>
        <p:cNvGrpSpPr/>
        <p:nvPr/>
      </p:nvGrpSpPr>
      <p:grpSpPr>
        <a:xfrm>
          <a:off x="0" y="0"/>
          <a:ext cx="0" cy="0"/>
          <a:chOff x="0" y="0"/>
          <a:chExt cx="0" cy="0"/>
        </a:xfrm>
      </p:grpSpPr>
      <p:sp>
        <p:nvSpPr>
          <p:cNvPr id="2" name="Text 0"/>
          <p:cNvSpPr/>
          <p:nvPr/>
        </p:nvSpPr>
        <p:spPr>
          <a:xfrm>
            <a:off x="952500" y="952500"/>
            <a:ext cx="1781651" cy="297180"/>
          </a:xfrm>
          <a:prstGeom prst="rect">
            <a:avLst/>
          </a:prstGeom>
          <a:noFill/>
          <a:ln/>
        </p:spPr>
        <p:txBody>
          <a:bodyPr wrap="square" lIns="25400" tIns="25400" rIns="25400" bIns="25400" rtlCol="0" anchor="t">
            <a:normAutofit/>
          </a:bodyPr>
          <a:lstStyle/>
          <a:p>
            <a:pPr algn="l" indent="0" marL="0">
              <a:buNone/>
            </a:pPr>
            <a:r>
              <a:rPr lang="en-US" sz="1800" spc="144" kern="0" dirty="0">
                <a:solidFill>
                  <a:srgbClr val="6B6457"/>
                </a:solidFill>
                <a:latin typeface="Arial" pitchFamily="34" charset="0"/>
                <a:ea typeface="Arial" pitchFamily="34" charset="-122"/>
                <a:cs typeface="Arial" pitchFamily="34" charset="-120"/>
              </a:rPr>
              <a:t>08 · CLOSING</a:t>
            </a:r>
            <a:endParaRPr lang="en-US" sz="1800" dirty="0"/>
          </a:p>
        </p:txBody>
      </p:sp>
      <p:sp>
        <p:nvSpPr>
          <p:cNvPr id="3" name="Text 1"/>
          <p:cNvSpPr/>
          <p:nvPr/>
        </p:nvSpPr>
        <p:spPr>
          <a:xfrm>
            <a:off x="16508571" y="952500"/>
            <a:ext cx="903129" cy="297180"/>
          </a:xfrm>
          <a:prstGeom prst="rect">
            <a:avLst/>
          </a:prstGeom>
          <a:noFill/>
          <a:ln/>
        </p:spPr>
        <p:txBody>
          <a:bodyPr wrap="square" lIns="25400" tIns="25400" rIns="25400" bIns="25400" rtlCol="0" anchor="t">
            <a:normAutofit/>
          </a:bodyPr>
          <a:lstStyle/>
          <a:p>
            <a:pPr algn="l" indent="0" marL="0">
              <a:buNone/>
            </a:pPr>
            <a:r>
              <a:rPr lang="en-US" sz="1800" spc="144" kern="0" dirty="0">
                <a:solidFill>
                  <a:srgbClr val="6B6457"/>
                </a:solidFill>
                <a:latin typeface="Arial" pitchFamily="34" charset="0"/>
                <a:ea typeface="Arial" pitchFamily="34" charset="-122"/>
                <a:cs typeface="Arial" pitchFamily="34" charset="-120"/>
              </a:rPr>
              <a:t>14/14</a:t>
            </a:r>
            <a:endParaRPr lang="en-US" sz="1800" dirty="0"/>
          </a:p>
        </p:txBody>
      </p:sp>
      <p:sp>
        <p:nvSpPr>
          <p:cNvPr id="4" name="Text 2"/>
          <p:cNvSpPr/>
          <p:nvPr/>
        </p:nvSpPr>
        <p:spPr>
          <a:xfrm>
            <a:off x="952500" y="2820353"/>
            <a:ext cx="1167289" cy="335280"/>
          </a:xfrm>
          <a:prstGeom prst="rect">
            <a:avLst/>
          </a:prstGeom>
          <a:noFill/>
          <a:ln/>
        </p:spPr>
        <p:txBody>
          <a:bodyPr wrap="square" lIns="25400" tIns="25400" rIns="25400" bIns="25400" rtlCol="0" anchor="t">
            <a:normAutofit/>
          </a:bodyPr>
          <a:lstStyle/>
          <a:p>
            <a:pPr algn="l" indent="0" marL="0">
              <a:buNone/>
            </a:pPr>
            <a:r>
              <a:rPr lang="en-US" sz="2100" spc="168" kern="0" dirty="0">
                <a:solidFill>
                  <a:srgbClr val="C2410C"/>
                </a:solidFill>
                <a:latin typeface="Arial" pitchFamily="34" charset="0"/>
                <a:ea typeface="Arial" pitchFamily="34" charset="-122"/>
                <a:cs typeface="Arial" pitchFamily="34" charset="-120"/>
              </a:rPr>
              <a:t>THESIS</a:t>
            </a:r>
            <a:endParaRPr lang="en-US" sz="2100" dirty="0"/>
          </a:p>
        </p:txBody>
      </p:sp>
      <p:sp>
        <p:nvSpPr>
          <p:cNvPr id="5" name="Text 3"/>
          <p:cNvSpPr/>
          <p:nvPr/>
        </p:nvSpPr>
        <p:spPr>
          <a:xfrm>
            <a:off x="952500" y="3429953"/>
            <a:ext cx="12047601" cy="2832735"/>
          </a:xfrm>
          <a:prstGeom prst="rect">
            <a:avLst/>
          </a:prstGeom>
          <a:noFill/>
          <a:ln/>
        </p:spPr>
        <p:txBody>
          <a:bodyPr wrap="square" lIns="25400" tIns="25400" rIns="25400" bIns="25400" rtlCol="0" anchor="t">
            <a:normAutofit/>
          </a:bodyPr>
          <a:lstStyle/>
          <a:p>
            <a:pPr algn="l" indent="0" marL="0">
              <a:lnSpc>
                <a:spcPct val="105000"/>
              </a:lnSpc>
              <a:buNone/>
            </a:pPr>
            <a:r>
              <a:rPr lang="en-US" sz="6900" spc="-138" kern="0" dirty="0">
                <a:solidFill>
                  <a:srgbClr val="F3EFE6"/>
                </a:solidFill>
                <a:latin typeface="Arial" pitchFamily="34" charset="0"/>
                <a:ea typeface="Arial" pitchFamily="34" charset="-122"/>
                <a:cs typeface="Arial" pitchFamily="34" charset="-120"/>
              </a:rPr>
              <a:t>AI raises the price of </a:t>
            </a:r>
            <a:pPr algn="l" indent="0" marL="0">
              <a:lnSpc>
                <a:spcPct val="105000"/>
              </a:lnSpc>
              <a:buNone/>
            </a:pPr>
            <a:r>
              <a:rPr lang="en-US" sz="6900" i="1" spc="-138" kern="0" dirty="0">
                <a:solidFill>
                  <a:srgbClr val="C2410C"/>
                </a:solidFill>
                <a:latin typeface="Arial" pitchFamily="34" charset="0"/>
                <a:ea typeface="Arial" pitchFamily="34" charset="-122"/>
                <a:cs typeface="Arial" pitchFamily="34" charset="-120"/>
              </a:rPr>
              <a:t>cheap verification </a:t>
            </a:r>
            <a:pPr algn="l" indent="0" marL="0">
              <a:lnSpc>
                <a:spcPct val="105000"/>
              </a:lnSpc>
              <a:buNone/>
            </a:pPr>
            <a:r>
              <a:rPr lang="en-US" sz="6900" spc="-138" kern="0" dirty="0">
                <a:solidFill>
                  <a:srgbClr val="F3EFE6"/>
                </a:solidFill>
                <a:latin typeface="Arial" pitchFamily="34" charset="0"/>
                <a:ea typeface="Arial" pitchFamily="34" charset="-122"/>
                <a:cs typeface="Arial" pitchFamily="34" charset="-120"/>
              </a:rPr>
              <a:t>, ergonomic </a:t>
            </a:r>
            <a:pPr algn="l" indent="0" marL="0">
              <a:lnSpc>
                <a:spcPct val="105000"/>
              </a:lnSpc>
              <a:buNone/>
            </a:pPr>
            <a:r>
              <a:rPr lang="en-US" sz="6900" i="1" spc="-138" kern="0" dirty="0">
                <a:solidFill>
                  <a:srgbClr val="C2410C"/>
                </a:solidFill>
                <a:latin typeface="Arial" pitchFamily="34" charset="0"/>
                <a:ea typeface="Arial" pitchFamily="34" charset="-122"/>
                <a:cs typeface="Arial" pitchFamily="34" charset="-120"/>
              </a:rPr>
              <a:t>agentic operability </a:t>
            </a:r>
            <a:pPr algn="l" indent="0" marL="0">
              <a:lnSpc>
                <a:spcPct val="105000"/>
              </a:lnSpc>
              <a:buNone/>
            </a:pPr>
            <a:r>
              <a:rPr lang="en-US" sz="6900" spc="-138" kern="0" dirty="0">
                <a:solidFill>
                  <a:srgbClr val="F3EFE6"/>
                </a:solidFill>
                <a:latin typeface="Arial" pitchFamily="34" charset="0"/>
                <a:ea typeface="Arial" pitchFamily="34" charset="-122"/>
                <a:cs typeface="Arial" pitchFamily="34" charset="-120"/>
              </a:rPr>
              <a:t>, and structural</a:t>
            </a:r>
            <a:pPr algn="l" indent="0" marL="0">
              <a:lnSpc>
                <a:spcPct val="105000"/>
              </a:lnSpc>
              <a:buNone/>
            </a:pPr>
            <a:r>
              <a:rPr lang="en-US" sz="6900" i="1" spc="-138" kern="0" dirty="0">
                <a:solidFill>
                  <a:srgbClr val="C2410C"/>
                </a:solidFill>
                <a:latin typeface="Arial" pitchFamily="34" charset="0"/>
                <a:ea typeface="Arial" pitchFamily="34" charset="-122"/>
                <a:cs typeface="Arial" pitchFamily="34" charset="-120"/>
              </a:rPr>
              <a:t>safety</a:t>
            </a:r>
            <a:pPr algn="l" indent="0" marL="0">
              <a:lnSpc>
                <a:spcPct val="105000"/>
              </a:lnSpc>
              <a:buNone/>
            </a:pPr>
            <a:r>
              <a:rPr lang="en-US" sz="6900" spc="-138" kern="0" dirty="0">
                <a:solidFill>
                  <a:srgbClr val="F3EFE6"/>
                </a:solidFill>
                <a:latin typeface="Arial" pitchFamily="34" charset="0"/>
                <a:ea typeface="Arial" pitchFamily="34" charset="-122"/>
                <a:cs typeface="Arial" pitchFamily="34" charset="-120"/>
              </a:rPr>
              <a:t>.</a:t>
            </a:r>
            <a:endParaRPr lang="en-US" sz="6900" dirty="0"/>
          </a:p>
        </p:txBody>
      </p:sp>
      <p:sp>
        <p:nvSpPr>
          <p:cNvPr id="6" name="Text 4"/>
          <p:cNvSpPr/>
          <p:nvPr/>
        </p:nvSpPr>
        <p:spPr>
          <a:xfrm>
            <a:off x="952500" y="6681788"/>
            <a:ext cx="8884615" cy="1127760"/>
          </a:xfrm>
          <a:prstGeom prst="rect">
            <a:avLst/>
          </a:prstGeom>
          <a:noFill/>
          <a:ln/>
        </p:spPr>
        <p:txBody>
          <a:bodyPr wrap="square" lIns="25400" tIns="25400" rIns="25400" bIns="25400" rtlCol="0" anchor="t">
            <a:normAutofit/>
          </a:bodyPr>
          <a:lstStyle/>
          <a:p>
            <a:pPr algn="l" indent="0" marL="0">
              <a:lnSpc>
                <a:spcPct val="130000"/>
              </a:lnSpc>
              <a:buNone/>
            </a:pPr>
            <a:r>
              <a:rPr lang="en-US" sz="3300" i="1" dirty="0">
                <a:solidFill>
                  <a:srgbClr val="F3EFE6">
                    <a:alpha val="80000"/>
                  </a:srgbClr>
                </a:solidFill>
                <a:latin typeface="Arial" pitchFamily="34" charset="0"/>
                <a:ea typeface="Arial" pitchFamily="34" charset="-122"/>
                <a:cs typeface="Arial" pitchFamily="34" charset="-120"/>
              </a:rPr>
              <a:t>The languages that pay all three taxes win the next decade — none of them by default.</a:t>
            </a:r>
            <a:endParaRPr lang="en-US" sz="3300" dirty="0"/>
          </a:p>
        </p:txBody>
      </p:sp>
      <p:sp>
        <p:nvSpPr>
          <p:cNvPr id="7" name="Text 5"/>
          <p:cNvSpPr/>
          <p:nvPr/>
        </p:nvSpPr>
        <p:spPr>
          <a:xfrm>
            <a:off x="952500" y="8877300"/>
            <a:ext cx="1943100" cy="297180"/>
          </a:xfrm>
          <a:prstGeom prst="rect">
            <a:avLst/>
          </a:prstGeom>
          <a:noFill/>
          <a:ln/>
        </p:spPr>
        <p:txBody>
          <a:bodyPr wrap="square" lIns="25400" tIns="25400" rIns="25400" bIns="25400" rtlCol="0" anchor="t">
            <a:normAutofit/>
          </a:bodyPr>
          <a:lstStyle/>
          <a:p>
            <a:pPr algn="l" indent="0" marL="0">
              <a:buNone/>
            </a:pPr>
            <a:r>
              <a:rPr lang="en-US" sz="1800" dirty="0">
                <a:solidFill>
                  <a:srgbClr val="6B6457"/>
                </a:solidFill>
                <a:latin typeface="Arial" pitchFamily="34" charset="0"/>
                <a:ea typeface="Arial" pitchFamily="34" charset="-122"/>
                <a:cs typeface="Arial" pitchFamily="34" charset="-120"/>
              </a:rPr>
              <a:t>AUTHOR</a:t>
            </a:r>
            <a:endParaRPr lang="en-US" sz="1800" dirty="0"/>
          </a:p>
        </p:txBody>
      </p:sp>
      <p:sp>
        <p:nvSpPr>
          <p:cNvPr id="8" name="Text 6"/>
          <p:cNvSpPr/>
          <p:nvPr/>
        </p:nvSpPr>
        <p:spPr>
          <a:xfrm>
            <a:off x="952500" y="9212580"/>
            <a:ext cx="1943100" cy="350520"/>
          </a:xfrm>
          <a:prstGeom prst="rect">
            <a:avLst/>
          </a:prstGeom>
          <a:noFill/>
          <a:ln/>
        </p:spPr>
        <p:txBody>
          <a:bodyPr wrap="square" lIns="25400" tIns="25400" rIns="25400" bIns="25400" rtlCol="0" anchor="t">
            <a:normAutofit/>
          </a:bodyPr>
          <a:lstStyle/>
          <a:p>
            <a:pPr algn="l" indent="0" marL="0">
              <a:buNone/>
            </a:pPr>
            <a:r>
              <a:rPr lang="en-US" sz="2100" dirty="0">
                <a:solidFill>
                  <a:srgbClr val="F3EFE6"/>
                </a:solidFill>
                <a:latin typeface="Arial" pitchFamily="34" charset="0"/>
                <a:ea typeface="Arial" pitchFamily="34" charset="-122"/>
                <a:cs typeface="Arial" pitchFamily="34" charset="-120"/>
              </a:rPr>
              <a:t>Rutger Hemrika</a:t>
            </a:r>
            <a:endParaRPr lang="en-US" sz="2100" dirty="0"/>
          </a:p>
        </p:txBody>
      </p:sp>
      <p:sp>
        <p:nvSpPr>
          <p:cNvPr id="9" name="Text 7"/>
          <p:cNvSpPr/>
          <p:nvPr/>
        </p:nvSpPr>
        <p:spPr>
          <a:xfrm>
            <a:off x="13718113" y="8877300"/>
            <a:ext cx="3617387" cy="297180"/>
          </a:xfrm>
          <a:prstGeom prst="rect">
            <a:avLst/>
          </a:prstGeom>
          <a:noFill/>
          <a:ln/>
        </p:spPr>
        <p:txBody>
          <a:bodyPr wrap="square" lIns="25400" tIns="25400" rIns="25400" bIns="25400" rtlCol="0" anchor="t">
            <a:normAutofit/>
          </a:bodyPr>
          <a:lstStyle/>
          <a:p>
            <a:pPr algn="r" indent="0" marL="0">
              <a:buNone/>
            </a:pPr>
            <a:r>
              <a:rPr lang="en-US" sz="1800" dirty="0">
                <a:solidFill>
                  <a:srgbClr val="6B6457"/>
                </a:solidFill>
                <a:latin typeface="Arial" pitchFamily="34" charset="0"/>
                <a:ea typeface="Arial" pitchFamily="34" charset="-122"/>
                <a:cs typeface="Arial" pitchFamily="34" charset="-120"/>
              </a:rPr>
              <a:t>SNAPSHOT</a:t>
            </a:r>
            <a:endParaRPr lang="en-US" sz="1800" dirty="0"/>
          </a:p>
        </p:txBody>
      </p:sp>
      <p:sp>
        <p:nvSpPr>
          <p:cNvPr id="10" name="Text 8"/>
          <p:cNvSpPr/>
          <p:nvPr/>
        </p:nvSpPr>
        <p:spPr>
          <a:xfrm>
            <a:off x="13718113" y="9212580"/>
            <a:ext cx="3617387" cy="350520"/>
          </a:xfrm>
          <a:prstGeom prst="rect">
            <a:avLst/>
          </a:prstGeom>
          <a:noFill/>
          <a:ln/>
        </p:spPr>
        <p:txBody>
          <a:bodyPr wrap="square" lIns="25400" tIns="25400" rIns="25400" bIns="25400" rtlCol="0" anchor="t">
            <a:normAutofit/>
          </a:bodyPr>
          <a:lstStyle/>
          <a:p>
            <a:pPr algn="r" indent="0" marL="0">
              <a:buNone/>
            </a:pPr>
            <a:r>
              <a:rPr lang="en-US" sz="2100" dirty="0">
                <a:solidFill>
                  <a:srgbClr val="F3EFE6"/>
                </a:solidFill>
                <a:latin typeface="Arial" pitchFamily="34" charset="0"/>
                <a:ea typeface="Arial" pitchFamily="34" charset="-122"/>
                <a:cs typeface="Arial" pitchFamily="34" charset="-120"/>
              </a:rPr>
              <a:t>2026-04-30 · Framework v0.1</a:t>
            </a:r>
            <a:endParaRPr lang="en-US" sz="2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Shape 0"/>
          <p:cNvSpPr/>
          <p:nvPr/>
        </p:nvSpPr>
        <p:spPr>
          <a:xfrm>
            <a:off x="0" y="0"/>
            <a:ext cx="18288000" cy="4389120"/>
          </a:xfrm>
          <a:prstGeom prst="roundRect">
            <a:avLst>
              <a:gd name="adj" fmla="val 3038"/>
            </a:avLst>
          </a:prstGeom>
          <a:solidFill>
            <a:srgbClr val="FAF9F7">
              <a:alpha val="78000"/>
            </a:srgbClr>
          </a:solidFill>
          <a:ln w="7620">
            <a:solidFill>
              <a:srgbClr val="FFFFFF">
                <a:alpha val="60000"/>
              </a:srgbClr>
            </a:solidFill>
            <a:prstDash val="solid"/>
          </a:ln>
          <a:effectLst>
            <a:outerShdw sx="100000" sy="100000" kx="0" ky="0" algn="bl" rotWithShape="0" blurRad="381000" dist="114300" dir="5400000">
              <a:srgbClr val="000000">
                <a:alpha val="18000"/>
              </a:srgbClr>
            </a:outerShdw>
          </a:effectLst>
        </p:spPr>
      </p:sp>
      <p:sp>
        <p:nvSpPr>
          <p:cNvPr id="3" name="Text 1"/>
          <p:cNvSpPr/>
          <p:nvPr/>
        </p:nvSpPr>
        <p:spPr>
          <a:xfrm>
            <a:off x="140970" y="127635"/>
            <a:ext cx="455771" cy="198120"/>
          </a:xfrm>
          <a:prstGeom prst="rect">
            <a:avLst/>
          </a:prstGeom>
          <a:noFill/>
          <a:ln/>
        </p:spPr>
        <p:txBody>
          <a:bodyPr wrap="square" lIns="25400" tIns="25400" rIns="25400" bIns="25400" rtlCol="0" anchor="t">
            <a:normAutofit/>
          </a:bodyPr>
          <a:lstStyle/>
          <a:p>
            <a:pPr algn="l" indent="0" marL="0">
              <a:lnSpc>
                <a:spcPct val="140000"/>
              </a:lnSpc>
              <a:buNone/>
            </a:pPr>
            <a:r>
              <a:rPr lang="en-US" sz="900" b="1" spc="9" kern="0" dirty="0">
                <a:solidFill>
                  <a:srgbClr val="29261B"/>
                </a:solidFill>
                <a:latin typeface="ui-sans-serif" pitchFamily="34" charset="0"/>
                <a:ea typeface="ui-sans-serif" pitchFamily="34" charset="-122"/>
                <a:cs typeface="ui-sans-serif" pitchFamily="34" charset="-120"/>
              </a:rPr>
              <a:t>Tweaks</a:t>
            </a:r>
            <a:endParaRPr lang="en-US" sz="900" dirty="0"/>
          </a:p>
        </p:txBody>
      </p:sp>
      <p:sp>
        <p:nvSpPr>
          <p:cNvPr id="4" name="Text 2"/>
          <p:cNvSpPr/>
          <p:nvPr/>
        </p:nvSpPr>
        <p:spPr>
          <a:xfrm>
            <a:off x="17994630" y="112395"/>
            <a:ext cx="209550" cy="228600"/>
          </a:xfrm>
          <a:prstGeom prst="rect">
            <a:avLst/>
          </a:prstGeom>
          <a:noFill/>
          <a:ln/>
        </p:spPr>
        <p:txBody>
          <a:bodyPr wrap="square" lIns="25400" tIns="25400" rIns="25400" bIns="25400" rtlCol="0" anchor="t">
            <a:normAutofit/>
          </a:bodyPr>
          <a:lstStyle/>
          <a:p>
            <a:pPr algn="ctr" indent="0" marL="0">
              <a:lnSpc>
                <a:spcPct val="100000"/>
              </a:lnSpc>
              <a:buNone/>
            </a:pPr>
            <a:r>
              <a:rPr lang="en-US" sz="975" dirty="0">
                <a:solidFill>
                  <a:srgbClr val="29261B">
                    <a:alpha val="55000"/>
                  </a:srgbClr>
                </a:solidFill>
                <a:latin typeface="MS Shell Dlg \32" pitchFamily="34" charset="0"/>
                <a:ea typeface="MS Shell Dlg \32" pitchFamily="34" charset="-122"/>
                <a:cs typeface="MS Shell Dlg \32" pitchFamily="34" charset="-120"/>
              </a:rPr>
              <a:t>✕</a:t>
            </a:r>
            <a:endParaRPr lang="en-US" sz="975" dirty="0"/>
          </a:p>
        </p:txBody>
      </p:sp>
      <p:sp>
        <p:nvSpPr>
          <p:cNvPr id="5" name="Text 3"/>
          <p:cNvSpPr/>
          <p:nvPr/>
        </p:nvSpPr>
        <p:spPr>
          <a:xfrm>
            <a:off x="140970" y="426720"/>
            <a:ext cx="18546242" cy="171450"/>
          </a:xfrm>
          <a:prstGeom prst="rect">
            <a:avLst/>
          </a:prstGeom>
          <a:noFill/>
          <a:ln/>
        </p:spPr>
        <p:txBody>
          <a:bodyPr wrap="square" lIns="25400" tIns="25400" rIns="25400" bIns="25400" rtlCol="0" anchor="t">
            <a:normAutofit/>
          </a:bodyPr>
          <a:lstStyle/>
          <a:p>
            <a:pPr algn="l" indent="0" marL="0">
              <a:lnSpc>
                <a:spcPct val="140000"/>
              </a:lnSpc>
              <a:buNone/>
            </a:pPr>
            <a:r>
              <a:rPr lang="en-US" sz="750" b="1" spc="45" kern="0" dirty="0">
                <a:solidFill>
                  <a:srgbClr val="29261B">
                    <a:alpha val="45000"/>
                  </a:srgbClr>
                </a:solidFill>
                <a:latin typeface="ui-sans-serif" pitchFamily="34" charset="0"/>
                <a:ea typeface="ui-sans-serif" pitchFamily="34" charset="-122"/>
                <a:cs typeface="ui-sans-serif" pitchFamily="34" charset="-120"/>
              </a:rPr>
              <a:t>PALETTE</a:t>
            </a:r>
            <a:endParaRPr lang="en-US" sz="750" dirty="0"/>
          </a:p>
        </p:txBody>
      </p:sp>
      <p:sp>
        <p:nvSpPr>
          <p:cNvPr id="6" name="Text 4"/>
          <p:cNvSpPr/>
          <p:nvPr/>
        </p:nvSpPr>
        <p:spPr>
          <a:xfrm>
            <a:off x="140970" y="655320"/>
            <a:ext cx="360521" cy="191452"/>
          </a:xfrm>
          <a:prstGeom prst="rect">
            <a:avLst/>
          </a:prstGeom>
          <a:noFill/>
          <a:ln/>
        </p:spPr>
        <p:txBody>
          <a:bodyPr wrap="square" lIns="25400" tIns="25400" rIns="25400" bIns="25400" rtlCol="0" anchor="t">
            <a:normAutofit/>
          </a:bodyPr>
          <a:lstStyle/>
          <a:p>
            <a:pPr algn="l" indent="0" marL="0">
              <a:lnSpc>
                <a:spcPct val="140000"/>
              </a:lnSpc>
              <a:buNone/>
            </a:pPr>
            <a:r>
              <a:rPr lang="en-US" sz="863" dirty="0">
                <a:solidFill>
                  <a:srgbClr val="29261B">
                    <a:alpha val="72000"/>
                  </a:srgbClr>
                </a:solidFill>
                <a:latin typeface="ui-sans-serif" pitchFamily="34" charset="0"/>
                <a:ea typeface="ui-sans-serif" pitchFamily="34" charset="-122"/>
                <a:cs typeface="ui-sans-serif" pitchFamily="34" charset="-120"/>
              </a:rPr>
              <a:t>Mode</a:t>
            </a:r>
            <a:endParaRPr lang="en-US" sz="863" dirty="0"/>
          </a:p>
        </p:txBody>
      </p:sp>
      <p:sp>
        <p:nvSpPr>
          <p:cNvPr id="7" name="Shape 5"/>
          <p:cNvSpPr/>
          <p:nvPr/>
        </p:nvSpPr>
        <p:spPr>
          <a:xfrm>
            <a:off x="140970" y="856297"/>
            <a:ext cx="18006060" cy="247650"/>
          </a:xfrm>
          <a:prstGeom prst="roundRect">
            <a:avLst>
              <a:gd name="adj" fmla="val 30769"/>
            </a:avLst>
          </a:prstGeom>
          <a:solidFill>
            <a:srgbClr val="000000">
              <a:alpha val="6000"/>
            </a:srgbClr>
          </a:solidFill>
          <a:ln/>
        </p:spPr>
      </p:sp>
      <p:sp>
        <p:nvSpPr>
          <p:cNvPr id="8" name="Shape 6"/>
          <p:cNvSpPr/>
          <p:nvPr/>
        </p:nvSpPr>
        <p:spPr>
          <a:xfrm>
            <a:off x="160020" y="875347"/>
            <a:ext cx="5989320" cy="209550"/>
          </a:xfrm>
          <a:prstGeom prst="roundRect">
            <a:avLst>
              <a:gd name="adj" fmla="val 27273"/>
            </a:avLst>
          </a:prstGeom>
          <a:solidFill>
            <a:srgbClr val="FFFFFF">
              <a:alpha val="90000"/>
            </a:srgbClr>
          </a:solidFill>
          <a:ln/>
          <a:effectLst>
            <a:outerShdw sx="100000" sy="100000" kx="0" ky="0" algn="bl" rotWithShape="0" blurRad="19050" dist="9525" dir="5400000">
              <a:srgbClr val="000000">
                <a:alpha val="12000"/>
              </a:srgbClr>
            </a:outerShdw>
          </a:effectLst>
        </p:spPr>
      </p:sp>
      <p:sp>
        <p:nvSpPr>
          <p:cNvPr id="9" name="Text 7"/>
          <p:cNvSpPr/>
          <p:nvPr/>
        </p:nvSpPr>
        <p:spPr>
          <a:xfrm>
            <a:off x="127330" y="913447"/>
            <a:ext cx="6054699" cy="171450"/>
          </a:xfrm>
          <a:prstGeom prst="rect">
            <a:avLst/>
          </a:prstGeom>
          <a:noFill/>
          <a:ln/>
        </p:spPr>
        <p:txBody>
          <a:bodyPr wrap="square" lIns="25400" tIns="25400" rIns="25400" bIns="25400" rtlCol="0" anchor="t">
            <a:normAutofit/>
          </a:bodyPr>
          <a:lstStyle/>
          <a:p>
            <a:pPr algn="ctr" indent="0" marL="0">
              <a:lnSpc>
                <a:spcPct val="120000"/>
              </a:lnSpc>
              <a:buNone/>
            </a:pPr>
            <a:r>
              <a:rPr lang="en-US" sz="863" dirty="0">
                <a:solidFill>
                  <a:srgbClr val="29261B"/>
                </a:solidFill>
                <a:latin typeface="ui-sans-serif" pitchFamily="34" charset="0"/>
                <a:ea typeface="ui-sans-serif" pitchFamily="34" charset="-122"/>
                <a:cs typeface="ui-sans-serif" pitchFamily="34" charset="-120"/>
              </a:rPr>
              <a:t>paper</a:t>
            </a:r>
            <a:endParaRPr lang="en-US" sz="863" dirty="0"/>
          </a:p>
        </p:txBody>
      </p:sp>
      <p:sp>
        <p:nvSpPr>
          <p:cNvPr id="10" name="Text 8"/>
          <p:cNvSpPr/>
          <p:nvPr/>
        </p:nvSpPr>
        <p:spPr>
          <a:xfrm>
            <a:off x="6116650" y="913447"/>
            <a:ext cx="6054699" cy="171450"/>
          </a:xfrm>
          <a:prstGeom prst="rect">
            <a:avLst/>
          </a:prstGeom>
          <a:noFill/>
          <a:ln/>
        </p:spPr>
        <p:txBody>
          <a:bodyPr wrap="square" lIns="25400" tIns="25400" rIns="25400" bIns="25400" rtlCol="0" anchor="t">
            <a:normAutofit/>
          </a:bodyPr>
          <a:lstStyle/>
          <a:p>
            <a:pPr algn="ctr" indent="0" marL="0">
              <a:lnSpc>
                <a:spcPct val="120000"/>
              </a:lnSpc>
              <a:buNone/>
            </a:pPr>
            <a:r>
              <a:rPr lang="en-US" sz="863" dirty="0">
                <a:solidFill>
                  <a:srgbClr val="29261B"/>
                </a:solidFill>
                <a:latin typeface="ui-sans-serif" pitchFamily="34" charset="0"/>
                <a:ea typeface="ui-sans-serif" pitchFamily="34" charset="-122"/>
                <a:cs typeface="ui-sans-serif" pitchFamily="34" charset="-120"/>
              </a:rPr>
              <a:t>ink</a:t>
            </a:r>
            <a:endParaRPr lang="en-US" sz="863" dirty="0"/>
          </a:p>
        </p:txBody>
      </p:sp>
      <p:sp>
        <p:nvSpPr>
          <p:cNvPr id="11" name="Text 9"/>
          <p:cNvSpPr/>
          <p:nvPr/>
        </p:nvSpPr>
        <p:spPr>
          <a:xfrm>
            <a:off x="12105970" y="913447"/>
            <a:ext cx="6054699" cy="171450"/>
          </a:xfrm>
          <a:prstGeom prst="rect">
            <a:avLst/>
          </a:prstGeom>
          <a:noFill/>
          <a:ln/>
        </p:spPr>
        <p:txBody>
          <a:bodyPr wrap="square" lIns="25400" tIns="25400" rIns="25400" bIns="25400" rtlCol="0" anchor="t">
            <a:normAutofit/>
          </a:bodyPr>
          <a:lstStyle/>
          <a:p>
            <a:pPr algn="ctr" indent="0" marL="0">
              <a:lnSpc>
                <a:spcPct val="120000"/>
              </a:lnSpc>
              <a:buNone/>
            </a:pPr>
            <a:r>
              <a:rPr lang="en-US" sz="863" dirty="0">
                <a:solidFill>
                  <a:srgbClr val="29261B"/>
                </a:solidFill>
                <a:latin typeface="ui-sans-serif" pitchFamily="34" charset="0"/>
                <a:ea typeface="ui-sans-serif" pitchFamily="34" charset="-122"/>
                <a:cs typeface="ui-sans-serif" pitchFamily="34" charset="-120"/>
              </a:rPr>
              <a:t>terminal</a:t>
            </a:r>
            <a:endParaRPr lang="en-US" sz="863" dirty="0"/>
          </a:p>
        </p:txBody>
      </p:sp>
      <p:sp>
        <p:nvSpPr>
          <p:cNvPr id="12" name="Text 10"/>
          <p:cNvSpPr/>
          <p:nvPr/>
        </p:nvSpPr>
        <p:spPr>
          <a:xfrm>
            <a:off x="140970" y="1294447"/>
            <a:ext cx="18546242" cy="171450"/>
          </a:xfrm>
          <a:prstGeom prst="rect">
            <a:avLst/>
          </a:prstGeom>
          <a:noFill/>
          <a:ln/>
        </p:spPr>
        <p:txBody>
          <a:bodyPr wrap="square" lIns="25400" tIns="25400" rIns="25400" bIns="25400" rtlCol="0" anchor="t">
            <a:normAutofit/>
          </a:bodyPr>
          <a:lstStyle/>
          <a:p>
            <a:pPr algn="l" indent="0" marL="0">
              <a:lnSpc>
                <a:spcPct val="140000"/>
              </a:lnSpc>
              <a:buNone/>
            </a:pPr>
            <a:r>
              <a:rPr lang="en-US" sz="750" b="1" spc="45" kern="0" dirty="0">
                <a:solidFill>
                  <a:srgbClr val="29261B">
                    <a:alpha val="45000"/>
                  </a:srgbClr>
                </a:solidFill>
                <a:latin typeface="ui-sans-serif" pitchFamily="34" charset="0"/>
                <a:ea typeface="ui-sans-serif" pitchFamily="34" charset="-122"/>
                <a:cs typeface="ui-sans-serif" pitchFamily="34" charset="-120"/>
              </a:rPr>
              <a:t>MATRIX SLIDE</a:t>
            </a:r>
            <a:endParaRPr lang="en-US" sz="750" dirty="0"/>
          </a:p>
        </p:txBody>
      </p:sp>
      <p:sp>
        <p:nvSpPr>
          <p:cNvPr id="13" name="Text 11"/>
          <p:cNvSpPr/>
          <p:nvPr/>
        </p:nvSpPr>
        <p:spPr>
          <a:xfrm>
            <a:off x="140970" y="1523047"/>
            <a:ext cx="417671" cy="191453"/>
          </a:xfrm>
          <a:prstGeom prst="rect">
            <a:avLst/>
          </a:prstGeom>
          <a:noFill/>
          <a:ln/>
        </p:spPr>
        <p:txBody>
          <a:bodyPr wrap="square" lIns="25400" tIns="25400" rIns="25400" bIns="25400" rtlCol="0" anchor="t">
            <a:normAutofit/>
          </a:bodyPr>
          <a:lstStyle/>
          <a:p>
            <a:pPr algn="l" indent="0" marL="0">
              <a:lnSpc>
                <a:spcPct val="140000"/>
              </a:lnSpc>
              <a:buNone/>
            </a:pPr>
            <a:r>
              <a:rPr lang="en-US" sz="863" dirty="0">
                <a:solidFill>
                  <a:srgbClr val="29261B">
                    <a:alpha val="72000"/>
                  </a:srgbClr>
                </a:solidFill>
                <a:latin typeface="ui-sans-serif" pitchFamily="34" charset="0"/>
                <a:ea typeface="ui-sans-serif" pitchFamily="34" charset="-122"/>
                <a:cs typeface="ui-sans-serif" pitchFamily="34" charset="-120"/>
              </a:rPr>
              <a:t>Render</a:t>
            </a:r>
            <a:endParaRPr lang="en-US" sz="863" dirty="0"/>
          </a:p>
        </p:txBody>
      </p:sp>
      <p:sp>
        <p:nvSpPr>
          <p:cNvPr id="14" name="Shape 12"/>
          <p:cNvSpPr/>
          <p:nvPr/>
        </p:nvSpPr>
        <p:spPr>
          <a:xfrm>
            <a:off x="140970" y="1724025"/>
            <a:ext cx="18006060" cy="247650"/>
          </a:xfrm>
          <a:prstGeom prst="roundRect">
            <a:avLst>
              <a:gd name="adj" fmla="val 30769"/>
            </a:avLst>
          </a:prstGeom>
          <a:solidFill>
            <a:srgbClr val="000000">
              <a:alpha val="6000"/>
            </a:srgbClr>
          </a:solidFill>
          <a:ln/>
        </p:spPr>
      </p:sp>
      <p:sp>
        <p:nvSpPr>
          <p:cNvPr id="15" name="Shape 13"/>
          <p:cNvSpPr/>
          <p:nvPr/>
        </p:nvSpPr>
        <p:spPr>
          <a:xfrm>
            <a:off x="160020" y="1743075"/>
            <a:ext cx="5989320" cy="209550"/>
          </a:xfrm>
          <a:prstGeom prst="roundRect">
            <a:avLst>
              <a:gd name="adj" fmla="val 27273"/>
            </a:avLst>
          </a:prstGeom>
          <a:solidFill>
            <a:srgbClr val="FFFFFF">
              <a:alpha val="90000"/>
            </a:srgbClr>
          </a:solidFill>
          <a:ln/>
          <a:effectLst>
            <a:outerShdw sx="100000" sy="100000" kx="0" ky="0" algn="bl" rotWithShape="0" blurRad="19050" dist="9525" dir="5400000">
              <a:srgbClr val="000000">
                <a:alpha val="12000"/>
              </a:srgbClr>
            </a:outerShdw>
          </a:effectLst>
        </p:spPr>
      </p:sp>
      <p:sp>
        <p:nvSpPr>
          <p:cNvPr id="16" name="Text 14"/>
          <p:cNvSpPr/>
          <p:nvPr/>
        </p:nvSpPr>
        <p:spPr>
          <a:xfrm>
            <a:off x="127330" y="1781175"/>
            <a:ext cx="6054699" cy="171450"/>
          </a:xfrm>
          <a:prstGeom prst="rect">
            <a:avLst/>
          </a:prstGeom>
          <a:noFill/>
          <a:ln/>
        </p:spPr>
        <p:txBody>
          <a:bodyPr wrap="square" lIns="25400" tIns="25400" rIns="25400" bIns="25400" rtlCol="0" anchor="t">
            <a:normAutofit/>
          </a:bodyPr>
          <a:lstStyle/>
          <a:p>
            <a:pPr algn="ctr" indent="0" marL="0">
              <a:lnSpc>
                <a:spcPct val="120000"/>
              </a:lnSpc>
              <a:buNone/>
            </a:pPr>
            <a:r>
              <a:rPr lang="en-US" sz="863" dirty="0">
                <a:solidFill>
                  <a:srgbClr val="29261B"/>
                </a:solidFill>
                <a:latin typeface="ui-sans-serif" pitchFamily="34" charset="0"/>
                <a:ea typeface="ui-sans-serif" pitchFamily="34" charset="-122"/>
                <a:cs typeface="ui-sans-serif" pitchFamily="34" charset="-120"/>
              </a:rPr>
              <a:t>table</a:t>
            </a:r>
            <a:endParaRPr lang="en-US" sz="863" dirty="0"/>
          </a:p>
        </p:txBody>
      </p:sp>
      <p:sp>
        <p:nvSpPr>
          <p:cNvPr id="17" name="Text 15"/>
          <p:cNvSpPr/>
          <p:nvPr/>
        </p:nvSpPr>
        <p:spPr>
          <a:xfrm>
            <a:off x="6116650" y="1781175"/>
            <a:ext cx="6054699" cy="171450"/>
          </a:xfrm>
          <a:prstGeom prst="rect">
            <a:avLst/>
          </a:prstGeom>
          <a:noFill/>
          <a:ln/>
        </p:spPr>
        <p:txBody>
          <a:bodyPr wrap="square" lIns="25400" tIns="25400" rIns="25400" bIns="25400" rtlCol="0" anchor="t">
            <a:normAutofit/>
          </a:bodyPr>
          <a:lstStyle/>
          <a:p>
            <a:pPr algn="ctr" indent="0" marL="0">
              <a:lnSpc>
                <a:spcPct val="120000"/>
              </a:lnSpc>
              <a:buNone/>
            </a:pPr>
            <a:r>
              <a:rPr lang="en-US" sz="863" dirty="0">
                <a:solidFill>
                  <a:srgbClr val="29261B"/>
                </a:solidFill>
                <a:latin typeface="ui-sans-serif" pitchFamily="34" charset="0"/>
                <a:ea typeface="ui-sans-serif" pitchFamily="34" charset="-122"/>
                <a:cs typeface="ui-sans-serif" pitchFamily="34" charset="-120"/>
              </a:rPr>
              <a:t>heatmap</a:t>
            </a:r>
            <a:endParaRPr lang="en-US" sz="863" dirty="0"/>
          </a:p>
        </p:txBody>
      </p:sp>
      <p:sp>
        <p:nvSpPr>
          <p:cNvPr id="18" name="Text 16"/>
          <p:cNvSpPr/>
          <p:nvPr/>
        </p:nvSpPr>
        <p:spPr>
          <a:xfrm>
            <a:off x="12105970" y="1781175"/>
            <a:ext cx="6054699" cy="171450"/>
          </a:xfrm>
          <a:prstGeom prst="rect">
            <a:avLst/>
          </a:prstGeom>
          <a:noFill/>
          <a:ln/>
        </p:spPr>
        <p:txBody>
          <a:bodyPr wrap="square" lIns="25400" tIns="25400" rIns="25400" bIns="25400" rtlCol="0" anchor="t">
            <a:normAutofit/>
          </a:bodyPr>
          <a:lstStyle/>
          <a:p>
            <a:pPr algn="ctr" indent="0" marL="0">
              <a:lnSpc>
                <a:spcPct val="120000"/>
              </a:lnSpc>
              <a:buNone/>
            </a:pPr>
            <a:r>
              <a:rPr lang="en-US" sz="863" dirty="0">
                <a:solidFill>
                  <a:srgbClr val="29261B"/>
                </a:solidFill>
                <a:latin typeface="ui-sans-serif" pitchFamily="34" charset="0"/>
                <a:ea typeface="ui-sans-serif" pitchFamily="34" charset="-122"/>
                <a:cs typeface="ui-sans-serif" pitchFamily="34" charset="-120"/>
              </a:rPr>
              <a:t>bars</a:t>
            </a:r>
            <a:endParaRPr lang="en-US" sz="863"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2026-05-01T03:30:04Z</dcterms:created>
  <dcterms:modified xsi:type="dcterms:W3CDTF">2026-05-01T03:30:04Z</dcterms:modified>
</cp:coreProperties>
</file>